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828800"/>
          </a:xfrm>
          <a:prstGeom prst="rect">
            <a:avLst/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5124176"/>
          </a:xfrm>
          <a:prstGeom prst="rect">
            <a:avLst/>
          </a:prstGeom>
          <a:solidFill>
            <a:srgbClr val="E6A33D"/>
          </a:solidFill>
          <a:ln w="12700">
            <a:solidFill>
              <a:srgbClr val="E6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20624"/>
            <a:ext cx="329184" cy="0"/>
          </a:xfrm>
          <a:prstGeom prst="line">
            <a:avLst/>
          </a:prstGeom>
          <a:noFill/>
          <a:ln w="25400">
            <a:solidFill>
              <a:srgbClr val="9BC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SRTA3353 MACHINE LEARNING FOR IOT | PROJECT 2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9611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Learning-Based Smart Irrigation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80467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soil dryness before plant stress occurs using Raspberry Pi 400, sensors, Streamlit, and notifications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63624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400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901952" y="1481328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563624"/>
            <a:ext cx="5486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761488" y="14813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563624"/>
            <a:ext cx="1051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+ MCP3008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114800" y="148132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563624"/>
            <a:ext cx="7772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Pump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5193792" y="148132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563624"/>
            <a:ext cx="7315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236208" y="148132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7372B"/>
          </a:solidFill>
          <a:ln w="8255">
            <a:solidFill>
              <a:srgbClr val="173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563624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BC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Telegram/Favoriot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411480" y="2057400"/>
            <a:ext cx="48006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057400"/>
            <a:ext cx="73152" cy="1737360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221992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12648" y="2441448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watering to predictive irrigation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2743200"/>
            <a:ext cx="43708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automatic watering only reacts when soil is already dry. The proposed system predicts whether soil will become dry soon using current environment and moisture trend.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21792" y="3310128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ML output: Dry Soon / Not Dry Soon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3246120" y="309981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status threshold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46120" y="3310128"/>
            <a:ext cx="507492" cy="237744"/>
          </a:xfrm>
          <a:prstGeom prst="rect">
            <a:avLst/>
          </a:prstGeom>
          <a:solidFill>
            <a:srgbClr val="C75454"/>
          </a:solidFill>
          <a:ln w="12700">
            <a:solidFill>
              <a:srgbClr val="C754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53612" y="3310128"/>
            <a:ext cx="676656" cy="237744"/>
          </a:xfrm>
          <a:prstGeom prst="rect">
            <a:avLst/>
          </a:prstGeom>
          <a:solidFill>
            <a:srgbClr val="9BC8A6"/>
          </a:solidFill>
          <a:ln w="12700">
            <a:solidFill>
              <a:srgbClr val="9BC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0268" y="3310128"/>
            <a:ext cx="507492" cy="237744"/>
          </a:xfrm>
          <a:prstGeom prst="rect">
            <a:avLst/>
          </a:prstGeom>
          <a:solidFill>
            <a:srgbClr val="256A7B"/>
          </a:solidFill>
          <a:ln w="12700">
            <a:solidFill>
              <a:srgbClr val="256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374136"/>
            <a:ext cx="473659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&lt; 30%</a:t>
            </a:r>
            <a:endParaRPr lang="en-US" sz="570" dirty="0"/>
          </a:p>
        </p:txBody>
      </p:sp>
      <p:sp>
        <p:nvSpPr>
          <p:cNvPr id="31" name="Text 29"/>
          <p:cNvSpPr/>
          <p:nvPr/>
        </p:nvSpPr>
        <p:spPr>
          <a:xfrm>
            <a:off x="3956609" y="3374136"/>
            <a:ext cx="338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4497934" y="3374136"/>
            <a:ext cx="372161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&gt; 70%</a:t>
            </a:r>
            <a:endParaRPr lang="en-US" sz="570" dirty="0"/>
          </a:p>
        </p:txBody>
      </p:sp>
      <p:sp>
        <p:nvSpPr>
          <p:cNvPr id="33" name="Shape 31"/>
          <p:cNvSpPr/>
          <p:nvPr/>
        </p:nvSpPr>
        <p:spPr>
          <a:xfrm>
            <a:off x="5440680" y="2057400"/>
            <a:ext cx="4800600" cy="1737360"/>
          </a:xfrm>
          <a:prstGeom prst="roundRect">
            <a:avLst>
              <a:gd name="adj" fmla="val 3158"/>
            </a:avLst>
          </a:prstGeom>
          <a:solidFill>
            <a:srgbClr val="F5FB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2057400"/>
            <a:ext cx="73152" cy="1737360"/>
          </a:xfrm>
          <a:prstGeom prst="rect">
            <a:avLst/>
          </a:prstGeom>
          <a:solidFill>
            <a:srgbClr val="256A7B"/>
          </a:solidFill>
          <a:ln w="12700">
            <a:solidFill>
              <a:srgbClr val="256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2221992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5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641848" y="2441448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hybrid control keeps the demo reliable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0" y="2697480"/>
            <a:ext cx="1371600" cy="23774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7040880" y="2697480"/>
            <a:ext cx="1508760" cy="23774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2743200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590" dirty="0"/>
          </a:p>
        </p:txBody>
      </p:sp>
      <p:sp>
        <p:nvSpPr>
          <p:cNvPr id="41" name="Shape 39"/>
          <p:cNvSpPr/>
          <p:nvPr/>
        </p:nvSpPr>
        <p:spPr>
          <a:xfrm>
            <a:off x="8549640" y="2697480"/>
            <a:ext cx="1417320" cy="23774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2743200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590" dirty="0"/>
          </a:p>
        </p:txBody>
      </p:sp>
      <p:sp>
        <p:nvSpPr>
          <p:cNvPr id="43" name="Shape 41"/>
          <p:cNvSpPr/>
          <p:nvPr/>
        </p:nvSpPr>
        <p:spPr>
          <a:xfrm>
            <a:off x="5669280" y="2935224"/>
            <a:ext cx="137160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2980944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endParaRPr lang="en-US" sz="590" dirty="0"/>
          </a:p>
        </p:txBody>
      </p:sp>
      <p:sp>
        <p:nvSpPr>
          <p:cNvPr id="45" name="Shape 43"/>
          <p:cNvSpPr/>
          <p:nvPr/>
        </p:nvSpPr>
        <p:spPr>
          <a:xfrm>
            <a:off x="7040880" y="2935224"/>
            <a:ext cx="150876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980944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ON</a:t>
            </a:r>
            <a:endParaRPr lang="en-US" sz="590" dirty="0"/>
          </a:p>
        </p:txBody>
      </p:sp>
      <p:sp>
        <p:nvSpPr>
          <p:cNvPr id="47" name="Shape 45"/>
          <p:cNvSpPr/>
          <p:nvPr/>
        </p:nvSpPr>
        <p:spPr>
          <a:xfrm>
            <a:off x="8549640" y="2935224"/>
            <a:ext cx="141732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298094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ON</a:t>
            </a:r>
            <a:endParaRPr lang="en-US" sz="590" dirty="0"/>
          </a:p>
        </p:txBody>
      </p:sp>
      <p:sp>
        <p:nvSpPr>
          <p:cNvPr id="49" name="Shape 47"/>
          <p:cNvSpPr/>
          <p:nvPr/>
        </p:nvSpPr>
        <p:spPr>
          <a:xfrm>
            <a:off x="5669280" y="3172968"/>
            <a:ext cx="1371600" cy="23774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218688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</a:t>
            </a:r>
            <a:endParaRPr lang="en-US" sz="590" dirty="0"/>
          </a:p>
        </p:txBody>
      </p:sp>
      <p:sp>
        <p:nvSpPr>
          <p:cNvPr id="51" name="Shape 49"/>
          <p:cNvSpPr/>
          <p:nvPr/>
        </p:nvSpPr>
        <p:spPr>
          <a:xfrm>
            <a:off x="7040880" y="3172968"/>
            <a:ext cx="1508760" cy="23774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3218688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OFF</a:t>
            </a:r>
            <a:endParaRPr lang="en-US" sz="590" dirty="0"/>
          </a:p>
        </p:txBody>
      </p:sp>
      <p:sp>
        <p:nvSpPr>
          <p:cNvPr id="53" name="Shape 51"/>
          <p:cNvSpPr/>
          <p:nvPr/>
        </p:nvSpPr>
        <p:spPr>
          <a:xfrm>
            <a:off x="8549640" y="3172968"/>
            <a:ext cx="1417320" cy="23774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OFF</a:t>
            </a:r>
            <a:endParaRPr lang="en-US" sz="590" dirty="0"/>
          </a:p>
        </p:txBody>
      </p:sp>
      <p:sp>
        <p:nvSpPr>
          <p:cNvPr id="55" name="Shape 53"/>
          <p:cNvSpPr/>
          <p:nvPr/>
        </p:nvSpPr>
        <p:spPr>
          <a:xfrm>
            <a:off x="5669280" y="3410712"/>
            <a:ext cx="137160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345643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+ Dry Soon</a:t>
            </a:r>
            <a:endParaRPr lang="en-US" sz="590" dirty="0"/>
          </a:p>
        </p:txBody>
      </p:sp>
      <p:sp>
        <p:nvSpPr>
          <p:cNvPr id="57" name="Shape 55"/>
          <p:cNvSpPr/>
          <p:nvPr/>
        </p:nvSpPr>
        <p:spPr>
          <a:xfrm>
            <a:off x="7040880" y="3410712"/>
            <a:ext cx="150876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3456432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only</a:t>
            </a:r>
            <a:endParaRPr lang="en-US" sz="590" dirty="0"/>
          </a:p>
        </p:txBody>
      </p:sp>
      <p:sp>
        <p:nvSpPr>
          <p:cNvPr id="59" name="Shape 57"/>
          <p:cNvSpPr/>
          <p:nvPr/>
        </p:nvSpPr>
        <p:spPr>
          <a:xfrm>
            <a:off x="8549640" y="3410712"/>
            <a:ext cx="1417320" cy="23774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3456432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ON early</a:t>
            </a:r>
            <a:endParaRPr lang="en-US" sz="590" dirty="0"/>
          </a:p>
        </p:txBody>
      </p:sp>
      <p:sp>
        <p:nvSpPr>
          <p:cNvPr id="61" name="Text 59"/>
          <p:cNvSpPr/>
          <p:nvPr/>
        </p:nvSpPr>
        <p:spPr>
          <a:xfrm>
            <a:off x="5669280" y="3675888"/>
            <a:ext cx="3977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25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setting: ML_CONTROL_MODE=recommend</a:t>
            </a:r>
            <a:endParaRPr lang="en-US" sz="560" dirty="0"/>
          </a:p>
        </p:txBody>
      </p:sp>
      <p:sp>
        <p:nvSpPr>
          <p:cNvPr id="62" name="Shape 60"/>
          <p:cNvSpPr/>
          <p:nvPr/>
        </p:nvSpPr>
        <p:spPr>
          <a:xfrm>
            <a:off x="411480" y="4069080"/>
            <a:ext cx="9829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4069080"/>
            <a:ext cx="73152" cy="2148840"/>
          </a:xfrm>
          <a:prstGeom prst="rect">
            <a:avLst/>
          </a:prstGeom>
          <a:solidFill>
            <a:srgbClr val="2D4F73"/>
          </a:solidFill>
          <a:ln w="12700">
            <a:solidFill>
              <a:srgbClr val="2D4F7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" y="4233672"/>
            <a:ext cx="94457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12648" y="4453128"/>
            <a:ext cx="9445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Sensing, processing, action, and visualization are integrated in one loop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5800" y="4828032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5FB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4828032"/>
            <a:ext cx="54864" cy="804672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0" y="4946904"/>
            <a:ext cx="11887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822960" y="5193792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temp/humidity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sensor AO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2176272" y="5230368"/>
            <a:ext cx="502920" cy="0"/>
          </a:xfrm>
          <a:prstGeom prst="line">
            <a:avLst/>
          </a:prstGeom>
          <a:noFill/>
          <a:ln w="15240">
            <a:solidFill>
              <a:srgbClr val="256A7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743200" y="4828032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5F8FB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0" y="4828032"/>
            <a:ext cx="54864" cy="804672"/>
          </a:xfrm>
          <a:prstGeom prst="rect">
            <a:avLst/>
          </a:prstGeom>
          <a:solidFill>
            <a:srgbClr val="256A7B"/>
          </a:solidFill>
          <a:ln w="12700">
            <a:solidFill>
              <a:srgbClr val="256A7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80360" y="4946904"/>
            <a:ext cx="11887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2880360" y="5193792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MCP3008 converts analog soil signal to digital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4224528" y="5230368"/>
            <a:ext cx="502920" cy="0"/>
          </a:xfrm>
          <a:prstGeom prst="line">
            <a:avLst/>
          </a:prstGeom>
          <a:noFill/>
          <a:ln w="15240">
            <a:solidFill>
              <a:srgbClr val="256A7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4800600" y="4773168"/>
            <a:ext cx="1600200" cy="932688"/>
          </a:xfrm>
          <a:prstGeom prst="roundRect">
            <a:avLst>
              <a:gd name="adj" fmla="val 5882"/>
            </a:avLst>
          </a:prstGeom>
          <a:solidFill>
            <a:srgbClr val="F5FB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00600" y="4773168"/>
            <a:ext cx="54864" cy="932688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489204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880" dirty="0"/>
          </a:p>
        </p:txBody>
      </p:sp>
      <p:sp>
        <p:nvSpPr>
          <p:cNvPr id="79" name="Text 77"/>
          <p:cNvSpPr/>
          <p:nvPr/>
        </p:nvSpPr>
        <p:spPr>
          <a:xfrm>
            <a:off x="4937760" y="5138928"/>
            <a:ext cx="13716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full_monitor.py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+ predict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6473952" y="5230368"/>
            <a:ext cx="502920" cy="0"/>
          </a:xfrm>
          <a:prstGeom prst="line">
            <a:avLst/>
          </a:prstGeom>
          <a:noFill/>
          <a:ln w="15240">
            <a:solidFill>
              <a:srgbClr val="256A7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040880" y="4828032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8F0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40880" y="4828032"/>
            <a:ext cx="54864" cy="804672"/>
          </a:xfrm>
          <a:prstGeom prst="rect">
            <a:avLst/>
          </a:prstGeom>
          <a:solidFill>
            <a:srgbClr val="E6A33D"/>
          </a:solidFill>
          <a:ln w="12700">
            <a:solidFill>
              <a:srgbClr val="E6A3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946904"/>
            <a:ext cx="11887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880" dirty="0"/>
          </a:p>
        </p:txBody>
      </p:sp>
      <p:sp>
        <p:nvSpPr>
          <p:cNvPr id="84" name="Text 82"/>
          <p:cNvSpPr/>
          <p:nvPr/>
        </p:nvSpPr>
        <p:spPr>
          <a:xfrm>
            <a:off x="7178040" y="5193792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pump, OLED,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alerts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8522208" y="5230368"/>
            <a:ext cx="502920" cy="0"/>
          </a:xfrm>
          <a:prstGeom prst="line">
            <a:avLst/>
          </a:prstGeom>
          <a:noFill/>
          <a:ln w="15240">
            <a:solidFill>
              <a:srgbClr val="256A7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098280" y="4828032"/>
            <a:ext cx="914400" cy="804672"/>
          </a:xfrm>
          <a:prstGeom prst="roundRect">
            <a:avLst>
              <a:gd name="adj" fmla="val 6818"/>
            </a:avLst>
          </a:prstGeom>
          <a:solidFill>
            <a:srgbClr val="F5F8FB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98280" y="4828032"/>
            <a:ext cx="54864" cy="804672"/>
          </a:xfrm>
          <a:prstGeom prst="rect">
            <a:avLst/>
          </a:prstGeom>
          <a:solidFill>
            <a:srgbClr val="2D4F73"/>
          </a:solidFill>
          <a:ln w="12700">
            <a:solidFill>
              <a:srgbClr val="2D4F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35440" y="4946904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80" dirty="0"/>
          </a:p>
        </p:txBody>
      </p:sp>
      <p:sp>
        <p:nvSpPr>
          <p:cNvPr id="89" name="Text 87"/>
          <p:cNvSpPr/>
          <p:nvPr/>
        </p:nvSpPr>
        <p:spPr>
          <a:xfrm>
            <a:off x="9235440" y="5193792"/>
            <a:ext cx="685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plant_data.csv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Favoriot</a:t>
            </a:r>
            <a:endParaRPr lang="en-US" sz="680" dirty="0"/>
          </a:p>
        </p:txBody>
      </p:sp>
      <p:sp>
        <p:nvSpPr>
          <p:cNvPr id="90" name="Text 88"/>
          <p:cNvSpPr/>
          <p:nvPr/>
        </p:nvSpPr>
        <p:spPr>
          <a:xfrm>
            <a:off x="685800" y="5833872"/>
            <a:ext cx="8823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reads plant_data.csv while full_monitor.py writes new readings. Auto-refresh updates the dashboard display only.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411480" y="6473952"/>
            <a:ext cx="4800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" y="6473952"/>
            <a:ext cx="73152" cy="2194560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2648" y="6638544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IMPLEMENTATION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612648" y="6858000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sensors and actuator are covered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58368" y="727862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6384" y="7223760"/>
            <a:ext cx="4123944" cy="1975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400 runs the monitoring script.</a:t>
            </a:r>
            <a:endParaRPr lang="en-US" sz="820" dirty="0"/>
          </a:p>
        </p:txBody>
      </p:sp>
      <p:sp>
        <p:nvSpPr>
          <p:cNvPr id="97" name="Shape 95"/>
          <p:cNvSpPr/>
          <p:nvPr/>
        </p:nvSpPr>
        <p:spPr>
          <a:xfrm>
            <a:off x="658368" y="7498080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6384" y="7443216"/>
            <a:ext cx="4123944" cy="1975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provides temperature and humidity.</a:t>
            </a:r>
            <a:endParaRPr lang="en-US" sz="820" dirty="0"/>
          </a:p>
        </p:txBody>
      </p:sp>
      <p:sp>
        <p:nvSpPr>
          <p:cNvPr id="99" name="Shape 97"/>
          <p:cNvSpPr/>
          <p:nvPr/>
        </p:nvSpPr>
        <p:spPr>
          <a:xfrm>
            <a:off x="658368" y="7717536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6384" y="7662672"/>
            <a:ext cx="4123944" cy="1975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AO is read through MCP3008 channel 0.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658368" y="7936992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6384" y="7882128"/>
            <a:ext cx="4123944" cy="1975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on GPIO18 controls the DC water pump.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658368" y="8156448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6384" y="8101584"/>
            <a:ext cx="4123944" cy="1975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SSD1306 shows live local status.</a:t>
            </a:r>
            <a:endParaRPr lang="en-US" sz="820" dirty="0"/>
          </a:p>
        </p:txBody>
      </p:sp>
      <p:sp>
        <p:nvSpPr>
          <p:cNvPr id="105" name="Text 103"/>
          <p:cNvSpPr/>
          <p:nvPr/>
        </p:nvSpPr>
        <p:spPr>
          <a:xfrm>
            <a:off x="658368" y="8321040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hints: enable SPI for MCP3008, I2C for OLED, verify DHT pin D4/D17.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5440680" y="6473952"/>
            <a:ext cx="4800600" cy="2194560"/>
          </a:xfrm>
          <a:prstGeom prst="roundRect">
            <a:avLst>
              <a:gd name="adj" fmla="val 2500"/>
            </a:avLst>
          </a:prstGeom>
          <a:solidFill>
            <a:srgbClr val="F5F8FB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40680" y="6473952"/>
            <a:ext cx="73152" cy="2194560"/>
          </a:xfrm>
          <a:prstGeom prst="rect">
            <a:avLst/>
          </a:prstGeom>
          <a:solidFill>
            <a:srgbClr val="256A7B"/>
          </a:solidFill>
          <a:ln w="12700">
            <a:solidFill>
              <a:srgbClr val="256A7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41848" y="6638544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5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&amp; ML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5641848" y="6858000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predicts dryness in the next 10 minutes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5650992" y="7187184"/>
            <a:ext cx="1234440" cy="228600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96712" y="7232904"/>
            <a:ext cx="1143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580" dirty="0"/>
          </a:p>
        </p:txBody>
      </p:sp>
      <p:sp>
        <p:nvSpPr>
          <p:cNvPr id="112" name="Shape 110"/>
          <p:cNvSpPr/>
          <p:nvPr/>
        </p:nvSpPr>
        <p:spPr>
          <a:xfrm>
            <a:off x="6885432" y="7187184"/>
            <a:ext cx="1508760" cy="228600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31152" y="72329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580" dirty="0"/>
          </a:p>
        </p:txBody>
      </p:sp>
      <p:sp>
        <p:nvSpPr>
          <p:cNvPr id="114" name="Shape 112"/>
          <p:cNvSpPr/>
          <p:nvPr/>
        </p:nvSpPr>
        <p:spPr>
          <a:xfrm>
            <a:off x="8394192" y="7187184"/>
            <a:ext cx="1417320" cy="228600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439912" y="7232904"/>
            <a:ext cx="13258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580" dirty="0"/>
          </a:p>
        </p:txBody>
      </p:sp>
      <p:sp>
        <p:nvSpPr>
          <p:cNvPr id="116" name="Shape 114"/>
          <p:cNvSpPr/>
          <p:nvPr/>
        </p:nvSpPr>
        <p:spPr>
          <a:xfrm>
            <a:off x="5650992" y="7415784"/>
            <a:ext cx="123444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696712" y="7461504"/>
            <a:ext cx="1143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raw</a:t>
            </a:r>
            <a:endParaRPr lang="en-US" sz="580" dirty="0"/>
          </a:p>
        </p:txBody>
      </p:sp>
      <p:sp>
        <p:nvSpPr>
          <p:cNvPr id="118" name="Shape 116"/>
          <p:cNvSpPr/>
          <p:nvPr/>
        </p:nvSpPr>
        <p:spPr>
          <a:xfrm>
            <a:off x="6885432" y="7415784"/>
            <a:ext cx="150876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31152" y="74615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580" dirty="0"/>
          </a:p>
        </p:txBody>
      </p:sp>
      <p:sp>
        <p:nvSpPr>
          <p:cNvPr id="120" name="Shape 118"/>
          <p:cNvSpPr/>
          <p:nvPr/>
        </p:nvSpPr>
        <p:spPr>
          <a:xfrm>
            <a:off x="8394192" y="7415784"/>
            <a:ext cx="141732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439912" y="7461504"/>
            <a:ext cx="13258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soil_value</a:t>
            </a:r>
            <a:endParaRPr lang="en-US" sz="580" dirty="0"/>
          </a:p>
        </p:txBody>
      </p:sp>
      <p:sp>
        <p:nvSpPr>
          <p:cNvPr id="122" name="Shape 120"/>
          <p:cNvSpPr/>
          <p:nvPr/>
        </p:nvSpPr>
        <p:spPr>
          <a:xfrm>
            <a:off x="5650992" y="7644384"/>
            <a:ext cx="123444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696712" y="7690104"/>
            <a:ext cx="1143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%</a:t>
            </a:r>
            <a:endParaRPr lang="en-US" sz="580" dirty="0"/>
          </a:p>
        </p:txBody>
      </p:sp>
      <p:sp>
        <p:nvSpPr>
          <p:cNvPr id="124" name="Shape 122"/>
          <p:cNvSpPr/>
          <p:nvPr/>
        </p:nvSpPr>
        <p:spPr>
          <a:xfrm>
            <a:off x="6885432" y="7644384"/>
            <a:ext cx="150876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31152" y="76901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8394192" y="7644384"/>
            <a:ext cx="141732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439912" y="7690104"/>
            <a:ext cx="13258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soil_status</a:t>
            </a:r>
            <a:endParaRPr lang="en-US" sz="580" dirty="0"/>
          </a:p>
        </p:txBody>
      </p:sp>
      <p:sp>
        <p:nvSpPr>
          <p:cNvPr id="128" name="Shape 126"/>
          <p:cNvSpPr/>
          <p:nvPr/>
        </p:nvSpPr>
        <p:spPr>
          <a:xfrm>
            <a:off x="5650992" y="7872984"/>
            <a:ext cx="123444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696712" y="7918704"/>
            <a:ext cx="1143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Current/previous</a:t>
            </a:r>
            <a:endParaRPr lang="en-US" sz="580" dirty="0"/>
          </a:p>
        </p:txBody>
      </p:sp>
      <p:sp>
        <p:nvSpPr>
          <p:cNvPr id="130" name="Shape 128"/>
          <p:cNvSpPr/>
          <p:nvPr/>
        </p:nvSpPr>
        <p:spPr>
          <a:xfrm>
            <a:off x="6885432" y="7872984"/>
            <a:ext cx="150876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931152" y="79187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</a:t>
            </a:r>
            <a:endParaRPr lang="en-US" sz="580" dirty="0"/>
          </a:p>
        </p:txBody>
      </p:sp>
      <p:sp>
        <p:nvSpPr>
          <p:cNvPr id="132" name="Shape 130"/>
          <p:cNvSpPr/>
          <p:nvPr/>
        </p:nvSpPr>
        <p:spPr>
          <a:xfrm>
            <a:off x="8394192" y="7872984"/>
            <a:ext cx="1417320" cy="228600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39912" y="7918704"/>
            <a:ext cx="13258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change_rate</a:t>
            </a:r>
            <a:endParaRPr lang="en-US" sz="580" dirty="0"/>
          </a:p>
        </p:txBody>
      </p:sp>
      <p:sp>
        <p:nvSpPr>
          <p:cNvPr id="134" name="Shape 132"/>
          <p:cNvSpPr/>
          <p:nvPr/>
        </p:nvSpPr>
        <p:spPr>
          <a:xfrm>
            <a:off x="5650992" y="8101584"/>
            <a:ext cx="123444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696712" y="8147304"/>
            <a:ext cx="1143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missing</a:t>
            </a:r>
            <a:endParaRPr lang="en-US" sz="580" dirty="0"/>
          </a:p>
        </p:txBody>
      </p:sp>
      <p:sp>
        <p:nvSpPr>
          <p:cNvPr id="136" name="Shape 134"/>
          <p:cNvSpPr/>
          <p:nvPr/>
        </p:nvSpPr>
        <p:spPr>
          <a:xfrm>
            <a:off x="6885432" y="8101584"/>
            <a:ext cx="150876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931152" y="81473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average</a:t>
            </a:r>
            <a:endParaRPr lang="en-US" sz="580" dirty="0"/>
          </a:p>
        </p:txBody>
      </p:sp>
      <p:sp>
        <p:nvSpPr>
          <p:cNvPr id="138" name="Shape 136"/>
          <p:cNvSpPr/>
          <p:nvPr/>
        </p:nvSpPr>
        <p:spPr>
          <a:xfrm>
            <a:off x="8394192" y="8101584"/>
            <a:ext cx="1417320" cy="228600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439912" y="8147304"/>
            <a:ext cx="13258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580" dirty="0"/>
          </a:p>
        </p:txBody>
      </p:sp>
      <p:sp>
        <p:nvSpPr>
          <p:cNvPr id="140" name="Text 138"/>
          <p:cNvSpPr/>
          <p:nvPr/>
        </p:nvSpPr>
        <p:spPr>
          <a:xfrm>
            <a:off x="5650992" y="8366760"/>
            <a:ext cx="4160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25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features: soil_value, temperature, humidity, previous_soil_value, moisture_change_rate, pump_status.</a:t>
            </a:r>
            <a:endParaRPr lang="en-US" sz="690" dirty="0"/>
          </a:p>
        </p:txBody>
      </p:sp>
      <p:sp>
        <p:nvSpPr>
          <p:cNvPr id="141" name="Shape 139"/>
          <p:cNvSpPr/>
          <p:nvPr/>
        </p:nvSpPr>
        <p:spPr>
          <a:xfrm>
            <a:off x="411480" y="8942832"/>
            <a:ext cx="4800600" cy="2084832"/>
          </a:xfrm>
          <a:prstGeom prst="roundRect">
            <a:avLst>
              <a:gd name="adj" fmla="val 2632"/>
            </a:avLst>
          </a:prstGeom>
          <a:solidFill>
            <a:srgbClr val="F5FB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11480" y="8942832"/>
            <a:ext cx="73152" cy="2084832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12648" y="9107424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NOTIFICATIONS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612648" y="9326880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5 work: monitoring, alerts, and cloud path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658368" y="970178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86384" y="9646920"/>
            <a:ext cx="403250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is the main monitoring interface.</a:t>
            </a:r>
            <a:endParaRPr lang="en-US" sz="820" dirty="0"/>
          </a:p>
        </p:txBody>
      </p:sp>
      <p:sp>
        <p:nvSpPr>
          <p:cNvPr id="147" name="Shape 145"/>
          <p:cNvSpPr/>
          <p:nvPr/>
        </p:nvSpPr>
        <p:spPr>
          <a:xfrm>
            <a:off x="658368" y="997610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86384" y="9921240"/>
            <a:ext cx="403250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charts: soil moisture, temperature, humidity, moisture trend.</a:t>
            </a:r>
            <a:endParaRPr lang="en-US" sz="820" dirty="0"/>
          </a:p>
        </p:txBody>
      </p:sp>
      <p:sp>
        <p:nvSpPr>
          <p:cNvPr id="149" name="Shape 147"/>
          <p:cNvSpPr/>
          <p:nvPr/>
        </p:nvSpPr>
        <p:spPr>
          <a:xfrm>
            <a:off x="658368" y="1025042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86384" y="10195560"/>
            <a:ext cx="403250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banners for DRY, WET, Dry Soon, DHT Missing, and stale data.</a:t>
            </a:r>
            <a:endParaRPr lang="en-US" sz="820" dirty="0"/>
          </a:p>
        </p:txBody>
      </p:sp>
      <p:sp>
        <p:nvSpPr>
          <p:cNvPr id="151" name="Shape 149"/>
          <p:cNvSpPr/>
          <p:nvPr/>
        </p:nvSpPr>
        <p:spPr>
          <a:xfrm>
            <a:off x="658368" y="1052474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86384" y="10469880"/>
            <a:ext cx="403250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sends alerts once per warning type per cooldown period.</a:t>
            </a:r>
            <a:endParaRPr lang="en-US" sz="820" dirty="0"/>
          </a:p>
        </p:txBody>
      </p:sp>
      <p:sp>
        <p:nvSpPr>
          <p:cNvPr id="153" name="Shape 151"/>
          <p:cNvSpPr/>
          <p:nvPr/>
        </p:nvSpPr>
        <p:spPr>
          <a:xfrm>
            <a:off x="658368" y="10799064"/>
            <a:ext cx="54864" cy="54864"/>
          </a:xfrm>
          <a:prstGeom prst="ellipse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86384" y="10744200"/>
            <a:ext cx="403250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Favoriot REST payload remains optional cloud visualization.</a:t>
            </a:r>
            <a:endParaRPr lang="en-US" sz="820" dirty="0"/>
          </a:p>
        </p:txBody>
      </p:sp>
      <p:sp>
        <p:nvSpPr>
          <p:cNvPr id="155" name="Shape 153"/>
          <p:cNvSpPr/>
          <p:nvPr/>
        </p:nvSpPr>
        <p:spPr>
          <a:xfrm>
            <a:off x="5440680" y="8942832"/>
            <a:ext cx="480060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40680" y="8942832"/>
            <a:ext cx="73152" cy="2084832"/>
          </a:xfrm>
          <a:prstGeom prst="rect">
            <a:avLst/>
          </a:prstGeom>
          <a:solidFill>
            <a:srgbClr val="E6A33D"/>
          </a:solidFill>
          <a:ln w="12700">
            <a:solidFill>
              <a:srgbClr val="E6A33D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641848" y="9107424"/>
            <a:ext cx="44165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6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SCENARIOS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5641848" y="9326880"/>
            <a:ext cx="4416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normal, abnormal, and ML-predicted states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5650992" y="9646920"/>
            <a:ext cx="1325880" cy="219456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696712" y="9692640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520" dirty="0"/>
          </a:p>
        </p:txBody>
      </p:sp>
      <p:sp>
        <p:nvSpPr>
          <p:cNvPr id="161" name="Shape 159"/>
          <p:cNvSpPr/>
          <p:nvPr/>
        </p:nvSpPr>
        <p:spPr>
          <a:xfrm>
            <a:off x="6976872" y="9646920"/>
            <a:ext cx="1783080" cy="219456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022592" y="969264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520" dirty="0"/>
          </a:p>
        </p:txBody>
      </p:sp>
      <p:sp>
        <p:nvSpPr>
          <p:cNvPr id="163" name="Shape 161"/>
          <p:cNvSpPr/>
          <p:nvPr/>
        </p:nvSpPr>
        <p:spPr>
          <a:xfrm>
            <a:off x="8759952" y="9646920"/>
            <a:ext cx="1097280" cy="219456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805672" y="9692640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520" dirty="0"/>
          </a:p>
        </p:txBody>
      </p:sp>
      <p:sp>
        <p:nvSpPr>
          <p:cNvPr id="165" name="Shape 163"/>
          <p:cNvSpPr/>
          <p:nvPr/>
        </p:nvSpPr>
        <p:spPr>
          <a:xfrm>
            <a:off x="5650992" y="9866376"/>
            <a:ext cx="13258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696712" y="9912096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520" dirty="0"/>
          </a:p>
        </p:txBody>
      </p:sp>
      <p:sp>
        <p:nvSpPr>
          <p:cNvPr id="167" name="Shape 165"/>
          <p:cNvSpPr/>
          <p:nvPr/>
        </p:nvSpPr>
        <p:spPr>
          <a:xfrm>
            <a:off x="6976872" y="9866376"/>
            <a:ext cx="17830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022592" y="9912096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medium-moist soil</a:t>
            </a:r>
            <a:endParaRPr lang="en-US" sz="520" dirty="0"/>
          </a:p>
        </p:txBody>
      </p:sp>
      <p:sp>
        <p:nvSpPr>
          <p:cNvPr id="169" name="Shape 167"/>
          <p:cNvSpPr/>
          <p:nvPr/>
        </p:nvSpPr>
        <p:spPr>
          <a:xfrm>
            <a:off x="8759952" y="9866376"/>
            <a:ext cx="10972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8805672" y="9912096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OFF</a:t>
            </a:r>
            <a:endParaRPr lang="en-US" sz="520" dirty="0"/>
          </a:p>
        </p:txBody>
      </p:sp>
      <p:sp>
        <p:nvSpPr>
          <p:cNvPr id="171" name="Shape 169"/>
          <p:cNvSpPr/>
          <p:nvPr/>
        </p:nvSpPr>
        <p:spPr>
          <a:xfrm>
            <a:off x="5650992" y="10085832"/>
            <a:ext cx="13258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696712" y="10131552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endParaRPr lang="en-US" sz="520" dirty="0"/>
          </a:p>
        </p:txBody>
      </p:sp>
      <p:sp>
        <p:nvSpPr>
          <p:cNvPr id="173" name="Shape 171"/>
          <p:cNvSpPr/>
          <p:nvPr/>
        </p:nvSpPr>
        <p:spPr>
          <a:xfrm>
            <a:off x="6976872" y="10085832"/>
            <a:ext cx="17830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022592" y="10131552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condition</a:t>
            </a:r>
            <a:endParaRPr lang="en-US" sz="520" dirty="0"/>
          </a:p>
        </p:txBody>
      </p:sp>
      <p:sp>
        <p:nvSpPr>
          <p:cNvPr id="175" name="Shape 173"/>
          <p:cNvSpPr/>
          <p:nvPr/>
        </p:nvSpPr>
        <p:spPr>
          <a:xfrm>
            <a:off x="8759952" y="10085832"/>
            <a:ext cx="10972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805672" y="10131552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ON</a:t>
            </a:r>
            <a:endParaRPr lang="en-US" sz="520" dirty="0"/>
          </a:p>
        </p:txBody>
      </p:sp>
      <p:sp>
        <p:nvSpPr>
          <p:cNvPr id="177" name="Shape 175"/>
          <p:cNvSpPr/>
          <p:nvPr/>
        </p:nvSpPr>
        <p:spPr>
          <a:xfrm>
            <a:off x="5650992" y="10305288"/>
            <a:ext cx="13258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696712" y="10351008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Soon</a:t>
            </a:r>
            <a:endParaRPr lang="en-US" sz="520" dirty="0"/>
          </a:p>
        </p:txBody>
      </p:sp>
      <p:sp>
        <p:nvSpPr>
          <p:cNvPr id="179" name="Shape 177"/>
          <p:cNvSpPr/>
          <p:nvPr/>
        </p:nvSpPr>
        <p:spPr>
          <a:xfrm>
            <a:off x="6976872" y="10305288"/>
            <a:ext cx="17830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022592" y="10351008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warm/drying trend</a:t>
            </a:r>
            <a:endParaRPr lang="en-US" sz="520" dirty="0"/>
          </a:p>
        </p:txBody>
      </p:sp>
      <p:sp>
        <p:nvSpPr>
          <p:cNvPr id="181" name="Shape 179"/>
          <p:cNvSpPr/>
          <p:nvPr/>
        </p:nvSpPr>
        <p:spPr>
          <a:xfrm>
            <a:off x="8759952" y="10305288"/>
            <a:ext cx="10972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805672" y="10351008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520" dirty="0"/>
          </a:p>
        </p:txBody>
      </p:sp>
      <p:sp>
        <p:nvSpPr>
          <p:cNvPr id="183" name="Shape 181"/>
          <p:cNvSpPr/>
          <p:nvPr/>
        </p:nvSpPr>
        <p:spPr>
          <a:xfrm>
            <a:off x="5650992" y="10524744"/>
            <a:ext cx="13258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696712" y="10570464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</a:t>
            </a:r>
            <a:endParaRPr lang="en-US" sz="520" dirty="0"/>
          </a:p>
        </p:txBody>
      </p:sp>
      <p:sp>
        <p:nvSpPr>
          <p:cNvPr id="185" name="Shape 183"/>
          <p:cNvSpPr/>
          <p:nvPr/>
        </p:nvSpPr>
        <p:spPr>
          <a:xfrm>
            <a:off x="6976872" y="10524744"/>
            <a:ext cx="17830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022592" y="10570464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wet soil</a:t>
            </a:r>
            <a:endParaRPr lang="en-US" sz="520" dirty="0"/>
          </a:p>
        </p:txBody>
      </p:sp>
      <p:sp>
        <p:nvSpPr>
          <p:cNvPr id="187" name="Shape 185"/>
          <p:cNvSpPr/>
          <p:nvPr/>
        </p:nvSpPr>
        <p:spPr>
          <a:xfrm>
            <a:off x="8759952" y="10524744"/>
            <a:ext cx="1097280" cy="219456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805672" y="10570464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OFF</a:t>
            </a:r>
            <a:endParaRPr lang="en-US" sz="520" dirty="0"/>
          </a:p>
        </p:txBody>
      </p:sp>
      <p:sp>
        <p:nvSpPr>
          <p:cNvPr id="189" name="Shape 187"/>
          <p:cNvSpPr/>
          <p:nvPr/>
        </p:nvSpPr>
        <p:spPr>
          <a:xfrm>
            <a:off x="5650992" y="10744200"/>
            <a:ext cx="13258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696712" y="10789920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fault</a:t>
            </a:r>
            <a:endParaRPr lang="en-US" sz="520" dirty="0"/>
          </a:p>
        </p:txBody>
      </p:sp>
      <p:sp>
        <p:nvSpPr>
          <p:cNvPr id="191" name="Shape 189"/>
          <p:cNvSpPr/>
          <p:nvPr/>
        </p:nvSpPr>
        <p:spPr>
          <a:xfrm>
            <a:off x="6976872" y="10744200"/>
            <a:ext cx="17830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022592" y="1078992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DHT data</a:t>
            </a:r>
            <a:endParaRPr lang="en-US" sz="520" dirty="0"/>
          </a:p>
        </p:txBody>
      </p:sp>
      <p:sp>
        <p:nvSpPr>
          <p:cNvPr id="193" name="Shape 191"/>
          <p:cNvSpPr/>
          <p:nvPr/>
        </p:nvSpPr>
        <p:spPr>
          <a:xfrm>
            <a:off x="8759952" y="10744200"/>
            <a:ext cx="1097280" cy="219456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8805672" y="10789920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520" dirty="0"/>
          </a:p>
        </p:txBody>
      </p:sp>
      <p:sp>
        <p:nvSpPr>
          <p:cNvPr id="195" name="Shape 193"/>
          <p:cNvSpPr/>
          <p:nvPr/>
        </p:nvSpPr>
        <p:spPr>
          <a:xfrm>
            <a:off x="411480" y="11301984"/>
            <a:ext cx="98298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11480" y="11301984"/>
            <a:ext cx="73152" cy="2606040"/>
          </a:xfrm>
          <a:prstGeom prst="rect">
            <a:avLst/>
          </a:prstGeom>
          <a:solidFill>
            <a:srgbClr val="2D4F73"/>
          </a:solidFill>
          <a:ln w="12700">
            <a:solidFill>
              <a:srgbClr val="2D4F73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12648" y="11466576"/>
            <a:ext cx="944575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EVIDENCE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612648" y="11686032"/>
            <a:ext cx="9445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poster, demo, and report can point to each scoring area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658368" y="11960352"/>
            <a:ext cx="2011680" cy="28346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04088" y="12006072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590" dirty="0"/>
          </a:p>
        </p:txBody>
      </p:sp>
      <p:sp>
        <p:nvSpPr>
          <p:cNvPr id="201" name="Shape 199"/>
          <p:cNvSpPr/>
          <p:nvPr/>
        </p:nvSpPr>
        <p:spPr>
          <a:xfrm>
            <a:off x="2670048" y="11960352"/>
            <a:ext cx="3063240" cy="28346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715768" y="12006072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590" dirty="0"/>
          </a:p>
        </p:txBody>
      </p:sp>
      <p:sp>
        <p:nvSpPr>
          <p:cNvPr id="203" name="Shape 201"/>
          <p:cNvSpPr/>
          <p:nvPr/>
        </p:nvSpPr>
        <p:spPr>
          <a:xfrm>
            <a:off x="5733288" y="11960352"/>
            <a:ext cx="3611880" cy="283464"/>
          </a:xfrm>
          <a:prstGeom prst="rect">
            <a:avLst/>
          </a:prstGeom>
          <a:solidFill>
            <a:srgbClr val="10251D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5779008" y="12006072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focus</a:t>
            </a:r>
            <a:endParaRPr lang="en-US" sz="590" dirty="0"/>
          </a:p>
        </p:txBody>
      </p:sp>
      <p:sp>
        <p:nvSpPr>
          <p:cNvPr id="205" name="Shape 203"/>
          <p:cNvSpPr/>
          <p:nvPr/>
        </p:nvSpPr>
        <p:spPr>
          <a:xfrm>
            <a:off x="658368" y="12243816"/>
            <a:ext cx="20116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04088" y="12289536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relevance</a:t>
            </a:r>
            <a:endParaRPr lang="en-US" sz="590" dirty="0"/>
          </a:p>
        </p:txBody>
      </p:sp>
      <p:sp>
        <p:nvSpPr>
          <p:cNvPr id="207" name="Shape 205"/>
          <p:cNvSpPr/>
          <p:nvPr/>
        </p:nvSpPr>
        <p:spPr>
          <a:xfrm>
            <a:off x="2670048" y="12243816"/>
            <a:ext cx="306324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715768" y="12289536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smart agriculture watering</a:t>
            </a:r>
            <a:endParaRPr lang="en-US" sz="590" dirty="0"/>
          </a:p>
        </p:txBody>
      </p:sp>
      <p:sp>
        <p:nvSpPr>
          <p:cNvPr id="209" name="Shape 207"/>
          <p:cNvSpPr/>
          <p:nvPr/>
        </p:nvSpPr>
        <p:spPr>
          <a:xfrm>
            <a:off x="5733288" y="12243816"/>
            <a:ext cx="36118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779008" y="12289536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90" dirty="0"/>
          </a:p>
        </p:txBody>
      </p:sp>
      <p:sp>
        <p:nvSpPr>
          <p:cNvPr id="211" name="Shape 209"/>
          <p:cNvSpPr/>
          <p:nvPr/>
        </p:nvSpPr>
        <p:spPr>
          <a:xfrm>
            <a:off x="658368" y="12527280"/>
            <a:ext cx="201168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04088" y="12573000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590" dirty="0"/>
          </a:p>
        </p:txBody>
      </p:sp>
      <p:sp>
        <p:nvSpPr>
          <p:cNvPr id="213" name="Shape 211"/>
          <p:cNvSpPr/>
          <p:nvPr/>
        </p:nvSpPr>
        <p:spPr>
          <a:xfrm>
            <a:off x="2670048" y="12527280"/>
            <a:ext cx="306324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715768" y="12573000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400, DHT11, soil, MCP3008, OLED, relay, pump</a:t>
            </a:r>
            <a:endParaRPr lang="en-US" sz="590" dirty="0"/>
          </a:p>
        </p:txBody>
      </p:sp>
      <p:sp>
        <p:nvSpPr>
          <p:cNvPr id="215" name="Shape 213"/>
          <p:cNvSpPr/>
          <p:nvPr/>
        </p:nvSpPr>
        <p:spPr>
          <a:xfrm>
            <a:off x="5733288" y="12527280"/>
            <a:ext cx="361188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779008" y="12573000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90" dirty="0"/>
          </a:p>
        </p:txBody>
      </p:sp>
      <p:sp>
        <p:nvSpPr>
          <p:cNvPr id="217" name="Shape 215"/>
          <p:cNvSpPr/>
          <p:nvPr/>
        </p:nvSpPr>
        <p:spPr>
          <a:xfrm>
            <a:off x="658368" y="12810744"/>
            <a:ext cx="20116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04088" y="12856464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communication</a:t>
            </a:r>
            <a:endParaRPr lang="en-US" sz="590" dirty="0"/>
          </a:p>
        </p:txBody>
      </p:sp>
      <p:sp>
        <p:nvSpPr>
          <p:cNvPr id="219" name="Shape 217"/>
          <p:cNvSpPr/>
          <p:nvPr/>
        </p:nvSpPr>
        <p:spPr>
          <a:xfrm>
            <a:off x="2670048" y="12810744"/>
            <a:ext cx="306324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2715768" y="12856464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Streamlit, CSV, Telegram, Favoriot REST payload</a:t>
            </a:r>
            <a:endParaRPr lang="en-US" sz="590" dirty="0"/>
          </a:p>
        </p:txBody>
      </p:sp>
      <p:sp>
        <p:nvSpPr>
          <p:cNvPr id="221" name="Shape 219"/>
          <p:cNvSpPr/>
          <p:nvPr/>
        </p:nvSpPr>
        <p:spPr>
          <a:xfrm>
            <a:off x="5733288" y="12810744"/>
            <a:ext cx="36118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779008" y="12856464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90" dirty="0"/>
          </a:p>
        </p:txBody>
      </p:sp>
      <p:sp>
        <p:nvSpPr>
          <p:cNvPr id="223" name="Shape 221"/>
          <p:cNvSpPr/>
          <p:nvPr/>
        </p:nvSpPr>
        <p:spPr>
          <a:xfrm>
            <a:off x="658368" y="13094208"/>
            <a:ext cx="201168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704088" y="13139928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590" dirty="0"/>
          </a:p>
        </p:txBody>
      </p:sp>
      <p:sp>
        <p:nvSpPr>
          <p:cNvPr id="225" name="Shape 223"/>
          <p:cNvSpPr/>
          <p:nvPr/>
        </p:nvSpPr>
        <p:spPr>
          <a:xfrm>
            <a:off x="2670048" y="13094208"/>
            <a:ext cx="306324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2715768" y="13139928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baseline + Decision Tree ML</a:t>
            </a:r>
            <a:endParaRPr lang="en-US" sz="590" dirty="0"/>
          </a:p>
        </p:txBody>
      </p:sp>
      <p:sp>
        <p:nvSpPr>
          <p:cNvPr id="227" name="Shape 225"/>
          <p:cNvSpPr/>
          <p:nvPr/>
        </p:nvSpPr>
        <p:spPr>
          <a:xfrm>
            <a:off x="5733288" y="13094208"/>
            <a:ext cx="3611880" cy="283464"/>
          </a:xfrm>
          <a:prstGeom prst="rect">
            <a:avLst/>
          </a:prstGeom>
          <a:solidFill>
            <a:srgbClr val="FBFA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779008" y="13139928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90" dirty="0"/>
          </a:p>
        </p:txBody>
      </p:sp>
      <p:sp>
        <p:nvSpPr>
          <p:cNvPr id="229" name="Shape 227"/>
          <p:cNvSpPr/>
          <p:nvPr/>
        </p:nvSpPr>
        <p:spPr>
          <a:xfrm>
            <a:off x="658368" y="13377672"/>
            <a:ext cx="20116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704088" y="13423392"/>
            <a:ext cx="1920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Demo/documentation</a:t>
            </a:r>
            <a:endParaRPr lang="en-US" sz="590" dirty="0"/>
          </a:p>
        </p:txBody>
      </p:sp>
      <p:sp>
        <p:nvSpPr>
          <p:cNvPr id="231" name="Shape 229"/>
          <p:cNvSpPr/>
          <p:nvPr/>
        </p:nvSpPr>
        <p:spPr>
          <a:xfrm>
            <a:off x="2670048" y="13377672"/>
            <a:ext cx="306324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2715768" y="13423392"/>
            <a:ext cx="2971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Student Guide, tests, demo scenarios</a:t>
            </a:r>
            <a:endParaRPr lang="en-US" sz="590" dirty="0"/>
          </a:p>
        </p:txBody>
      </p:sp>
      <p:sp>
        <p:nvSpPr>
          <p:cNvPr id="233" name="Shape 231"/>
          <p:cNvSpPr/>
          <p:nvPr/>
        </p:nvSpPr>
        <p:spPr>
          <a:xfrm>
            <a:off x="5733288" y="13377672"/>
            <a:ext cx="3611880" cy="283464"/>
          </a:xfrm>
          <a:prstGeom prst="rect">
            <a:avLst/>
          </a:prstGeom>
          <a:solidFill>
            <a:srgbClr val="FFFFFF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779008" y="13423392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90" dirty="0"/>
          </a:p>
        </p:txBody>
      </p:sp>
      <p:sp>
        <p:nvSpPr>
          <p:cNvPr id="235" name="Shape 233"/>
          <p:cNvSpPr/>
          <p:nvPr/>
        </p:nvSpPr>
        <p:spPr>
          <a:xfrm>
            <a:off x="658368" y="13697712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5FBF6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58368" y="13697712"/>
            <a:ext cx="54864" cy="530352"/>
          </a:xfrm>
          <a:prstGeom prst="rect">
            <a:avLst/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95528" y="13816584"/>
            <a:ext cx="4160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4</a:t>
            </a:r>
            <a:endParaRPr lang="en-US" sz="880" dirty="0"/>
          </a:p>
        </p:txBody>
      </p:sp>
      <p:sp>
        <p:nvSpPr>
          <p:cNvPr id="238" name="Text 236"/>
          <p:cNvSpPr/>
          <p:nvPr/>
        </p:nvSpPr>
        <p:spPr>
          <a:xfrm>
            <a:off x="795528" y="14063472"/>
            <a:ext cx="4160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processing, missing-data handling, feature extraction, baseline vs ML comparison.</a:t>
            </a:r>
            <a:endParaRPr lang="en-US" sz="680" dirty="0"/>
          </a:p>
        </p:txBody>
      </p:sp>
      <p:sp>
        <p:nvSpPr>
          <p:cNvPr id="239" name="Shape 237"/>
          <p:cNvSpPr/>
          <p:nvPr/>
        </p:nvSpPr>
        <p:spPr>
          <a:xfrm>
            <a:off x="5349240" y="13697712"/>
            <a:ext cx="4343400" cy="530352"/>
          </a:xfrm>
          <a:prstGeom prst="roundRect">
            <a:avLst>
              <a:gd name="adj" fmla="val 10345"/>
            </a:avLst>
          </a:prstGeom>
          <a:solidFill>
            <a:srgbClr val="F5F8FB"/>
          </a:solidFill>
          <a:ln w="8255">
            <a:solidFill>
              <a:srgbClr val="D8D2C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349240" y="13697712"/>
            <a:ext cx="54864" cy="530352"/>
          </a:xfrm>
          <a:prstGeom prst="rect">
            <a:avLst/>
          </a:prstGeom>
          <a:solidFill>
            <a:srgbClr val="256A7B"/>
          </a:solidFill>
          <a:ln w="12700">
            <a:solidFill>
              <a:srgbClr val="256A7B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486400" y="13816584"/>
            <a:ext cx="4114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4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5</a:t>
            </a:r>
            <a:endParaRPr lang="en-US" sz="880" dirty="0"/>
          </a:p>
        </p:txBody>
      </p:sp>
      <p:sp>
        <p:nvSpPr>
          <p:cNvPr id="242" name="Text 240"/>
          <p:cNvSpPr/>
          <p:nvPr/>
        </p:nvSpPr>
        <p:spPr>
          <a:xfrm>
            <a:off x="5486400" y="140634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dashboard, charts, Telegram alerts, monitoring/debug, Favoriot connectivity.</a:t>
            </a:r>
            <a:endParaRPr lang="en-US" sz="680" dirty="0"/>
          </a:p>
        </p:txBody>
      </p:sp>
      <p:sp>
        <p:nvSpPr>
          <p:cNvPr id="243" name="Shape 241"/>
          <p:cNvSpPr/>
          <p:nvPr/>
        </p:nvSpPr>
        <p:spPr>
          <a:xfrm>
            <a:off x="411480" y="14465808"/>
            <a:ext cx="98298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411480" y="14584680"/>
            <a:ext cx="67665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files: full_monitor.py, streamlit_app.py, plant_monitor/, plant_data.csv, models/dryness_model.joblib</a:t>
            </a:r>
            <a:endParaRPr lang="en-US" sz="620" dirty="0"/>
          </a:p>
        </p:txBody>
      </p:sp>
      <p:sp>
        <p:nvSpPr>
          <p:cNvPr id="245" name="Text 243"/>
          <p:cNvSpPr/>
          <p:nvPr/>
        </p:nvSpPr>
        <p:spPr>
          <a:xfrm>
            <a:off x="7543800" y="14584680"/>
            <a:ext cx="26974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5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Smart Irrigation System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SRTA3353 Machine Learning for IoT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Smart Irrigation System Poster</dc:title>
  <dc:subject>Smart irrigation poster</dc:subject>
  <dc:creator>SRTA3353 IoT Group</dc:creator>
  <cp:lastModifiedBy>SRTA3353 IoT Group</cp:lastModifiedBy>
  <cp:revision>1</cp:revision>
  <dcterms:created xsi:type="dcterms:W3CDTF">2026-06-15T03:48:30Z</dcterms:created>
  <dcterms:modified xsi:type="dcterms:W3CDTF">2026-06-15T03:48:30Z</dcterms:modified>
</cp:coreProperties>
</file>