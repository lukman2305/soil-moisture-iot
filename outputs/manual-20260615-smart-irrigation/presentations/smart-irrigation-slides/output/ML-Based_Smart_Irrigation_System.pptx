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51D"/>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E6A33D"/>
          </a:solidFill>
          <a:ln w="12700">
            <a:solidFill>
              <a:srgbClr val="E6A33D"/>
            </a:solidFill>
            <a:prstDash val="solid"/>
          </a:ln>
        </p:spPr>
      </p:sp>
      <p:sp>
        <p:nvSpPr>
          <p:cNvPr id="3" name="Shape 1"/>
          <p:cNvSpPr/>
          <p:nvPr/>
        </p:nvSpPr>
        <p:spPr>
          <a:xfrm>
            <a:off x="566928" y="585216"/>
            <a:ext cx="329184" cy="0"/>
          </a:xfrm>
          <a:prstGeom prst="line">
            <a:avLst/>
          </a:prstGeom>
          <a:noFill/>
          <a:ln w="25400">
            <a:solidFill>
              <a:srgbClr val="9BC8A6"/>
            </a:solidFill>
            <a:prstDash val="solid"/>
          </a:ln>
        </p:spPr>
      </p:sp>
      <p:sp>
        <p:nvSpPr>
          <p:cNvPr id="4" name="Text 2"/>
          <p:cNvSpPr/>
          <p:nvPr/>
        </p:nvSpPr>
        <p:spPr>
          <a:xfrm>
            <a:off x="987552" y="457200"/>
            <a:ext cx="3840480" cy="219456"/>
          </a:xfrm>
          <a:prstGeom prst="rect">
            <a:avLst/>
          </a:prstGeom>
          <a:noFill/>
          <a:ln/>
        </p:spPr>
        <p:txBody>
          <a:bodyPr wrap="square" lIns="508" tIns="508" rIns="508" bIns="508" rtlCol="0" anchor="t">
            <a:normAutofit/>
          </a:bodyPr>
          <a:lstStyle/>
          <a:p>
            <a:pPr indent="0" marL="0">
              <a:buNone/>
            </a:pPr>
            <a:r>
              <a:rPr lang="en-US" sz="750" b="1" dirty="0">
                <a:solidFill>
                  <a:srgbClr val="9BC8A6"/>
                </a:solidFill>
                <a:latin typeface="Arial" pitchFamily="34" charset="0"/>
                <a:ea typeface="Arial" pitchFamily="34" charset="-122"/>
                <a:cs typeface="Arial" pitchFamily="34" charset="-120"/>
              </a:rPr>
              <a:t>SRTA3353 MACHINE LEARNING FOR IOT</a:t>
            </a:r>
            <a:endParaRPr lang="en-US" sz="750" dirty="0"/>
          </a:p>
        </p:txBody>
      </p:sp>
      <p:sp>
        <p:nvSpPr>
          <p:cNvPr id="5" name="Text 3"/>
          <p:cNvSpPr/>
          <p:nvPr/>
        </p:nvSpPr>
        <p:spPr>
          <a:xfrm>
            <a:off x="566928" y="1115568"/>
            <a:ext cx="8961120" cy="713232"/>
          </a:xfrm>
          <a:prstGeom prst="rect">
            <a:avLst/>
          </a:prstGeom>
          <a:noFill/>
          <a:ln/>
        </p:spPr>
        <p:txBody>
          <a:bodyPr wrap="square" lIns="508" tIns="508" rIns="508" bIns="508" rtlCol="0" anchor="t">
            <a:normAutofit/>
          </a:bodyPr>
          <a:lstStyle/>
          <a:p>
            <a:pPr indent="0" marL="0">
              <a:buNone/>
            </a:pPr>
            <a:r>
              <a:rPr lang="en-US" sz="2800" b="1" dirty="0">
                <a:solidFill>
                  <a:srgbClr val="FFFFFF"/>
                </a:solidFill>
                <a:latin typeface="Georgia" pitchFamily="34" charset="0"/>
                <a:ea typeface="Georgia" pitchFamily="34" charset="-122"/>
                <a:cs typeface="Georgia" pitchFamily="34" charset="-120"/>
              </a:rPr>
              <a:t>Machine Learning-Based Smart Irrigation System</a:t>
            </a:r>
            <a:endParaRPr lang="en-US" sz="2800" dirty="0"/>
          </a:p>
        </p:txBody>
      </p:sp>
      <p:sp>
        <p:nvSpPr>
          <p:cNvPr id="6" name="Text 4"/>
          <p:cNvSpPr/>
          <p:nvPr/>
        </p:nvSpPr>
        <p:spPr>
          <a:xfrm>
            <a:off x="566928" y="1938528"/>
            <a:ext cx="6858000" cy="320040"/>
          </a:xfrm>
          <a:prstGeom prst="rect">
            <a:avLst/>
          </a:prstGeom>
          <a:noFill/>
          <a:ln/>
        </p:spPr>
        <p:txBody>
          <a:bodyPr wrap="square" lIns="508" tIns="508" rIns="508" bIns="508" rtlCol="0" anchor="t">
            <a:normAutofit/>
          </a:bodyPr>
          <a:lstStyle/>
          <a:p>
            <a:pPr indent="0" marL="0">
              <a:buNone/>
            </a:pPr>
            <a:r>
              <a:rPr lang="en-US" sz="1500" dirty="0">
                <a:solidFill>
                  <a:srgbClr val="DCE9DD"/>
                </a:solidFill>
                <a:latin typeface="Arial" pitchFamily="34" charset="0"/>
                <a:ea typeface="Arial" pitchFamily="34" charset="-122"/>
                <a:cs typeface="Arial" pitchFamily="34" charset="-120"/>
              </a:rPr>
              <a:t>Predicting soil dryness before plant stress occurs</a:t>
            </a:r>
            <a:endParaRPr lang="en-US" sz="1500" dirty="0"/>
          </a:p>
        </p:txBody>
      </p:sp>
      <p:sp>
        <p:nvSpPr>
          <p:cNvPr id="7" name="Text 5"/>
          <p:cNvSpPr/>
          <p:nvPr/>
        </p:nvSpPr>
        <p:spPr>
          <a:xfrm>
            <a:off x="566928" y="2514600"/>
            <a:ext cx="9509760" cy="228600"/>
          </a:xfrm>
          <a:prstGeom prst="rect">
            <a:avLst/>
          </a:prstGeom>
          <a:noFill/>
          <a:ln/>
        </p:spPr>
        <p:txBody>
          <a:bodyPr wrap="square" lIns="508" tIns="508" rIns="508" bIns="508" rtlCol="0" anchor="t">
            <a:normAutofit/>
          </a:bodyPr>
          <a:lstStyle/>
          <a:p>
            <a:pPr indent="0" marL="0">
              <a:buNone/>
            </a:pPr>
            <a:r>
              <a:rPr lang="en-US" sz="1020" dirty="0">
                <a:solidFill>
                  <a:srgbClr val="BCD3C4"/>
                </a:solidFill>
                <a:latin typeface="Arial" pitchFamily="34" charset="0"/>
                <a:ea typeface="Arial" pitchFamily="34" charset="-122"/>
                <a:cs typeface="Arial" pitchFamily="34" charset="-120"/>
              </a:rPr>
              <a:t>Raspberry Pi 400 + DHT11 + soil sensor/MCP3008 + relay pump + OLED + Streamlit + Telegram/Favoriot</a:t>
            </a:r>
            <a:endParaRPr lang="en-US" sz="1020" dirty="0"/>
          </a:p>
        </p:txBody>
      </p:sp>
      <p:sp>
        <p:nvSpPr>
          <p:cNvPr id="8" name="Shape 6"/>
          <p:cNvSpPr/>
          <p:nvPr/>
        </p:nvSpPr>
        <p:spPr>
          <a:xfrm>
            <a:off x="566928" y="3675888"/>
            <a:ext cx="2011680" cy="960120"/>
          </a:xfrm>
          <a:prstGeom prst="roundRect">
            <a:avLst>
              <a:gd name="adj" fmla="val 7619"/>
            </a:avLst>
          </a:prstGeom>
          <a:solidFill>
            <a:srgbClr val="17372B"/>
          </a:solidFill>
          <a:ln w="8890">
            <a:solidFill>
              <a:srgbClr val="D8D2C4"/>
            </a:solidFill>
            <a:prstDash val="solid"/>
          </a:ln>
        </p:spPr>
      </p:sp>
      <p:sp>
        <p:nvSpPr>
          <p:cNvPr id="9" name="Text 7"/>
          <p:cNvSpPr/>
          <p:nvPr/>
        </p:nvSpPr>
        <p:spPr>
          <a:xfrm>
            <a:off x="713232" y="3813048"/>
            <a:ext cx="1719072" cy="256032"/>
          </a:xfrm>
          <a:prstGeom prst="rect">
            <a:avLst/>
          </a:prstGeom>
          <a:noFill/>
          <a:ln/>
        </p:spPr>
        <p:txBody>
          <a:bodyPr wrap="square" lIns="508" tIns="508" rIns="508" bIns="508" rtlCol="0" anchor="t">
            <a:normAutofit/>
          </a:bodyPr>
          <a:lstStyle/>
          <a:p>
            <a:pPr indent="0" marL="0">
              <a:buNone/>
            </a:pPr>
            <a:r>
              <a:rPr lang="en-US" sz="1800" b="1" dirty="0">
                <a:solidFill>
                  <a:srgbClr val="9BC8A6"/>
                </a:solidFill>
                <a:latin typeface="Arial" pitchFamily="34" charset="0"/>
                <a:ea typeface="Arial" pitchFamily="34" charset="-122"/>
                <a:cs typeface="Arial" pitchFamily="34" charset="-120"/>
              </a:rPr>
              <a:t>3</a:t>
            </a:r>
            <a:endParaRPr lang="en-US" sz="1800" dirty="0"/>
          </a:p>
        </p:txBody>
      </p:sp>
      <p:sp>
        <p:nvSpPr>
          <p:cNvPr id="10" name="Text 8"/>
          <p:cNvSpPr/>
          <p:nvPr/>
        </p:nvSpPr>
        <p:spPr>
          <a:xfrm>
            <a:off x="713232" y="4133088"/>
            <a:ext cx="1719072" cy="182880"/>
          </a:xfrm>
          <a:prstGeom prst="rect">
            <a:avLst/>
          </a:prstGeom>
          <a:noFill/>
          <a:ln/>
        </p:spPr>
        <p:txBody>
          <a:bodyPr wrap="square" lIns="508" tIns="508" rIns="508" bIns="508" rtlCol="0" anchor="t">
            <a:normAutofit/>
          </a:bodyPr>
          <a:lstStyle/>
          <a:p>
            <a:pPr indent="0" marL="0">
              <a:buNone/>
            </a:pPr>
            <a:r>
              <a:rPr lang="en-US" sz="950" b="1" dirty="0">
                <a:solidFill>
                  <a:srgbClr val="FFFFFF"/>
                </a:solidFill>
                <a:latin typeface="Arial" pitchFamily="34" charset="0"/>
                <a:ea typeface="Arial" pitchFamily="34" charset="-122"/>
                <a:cs typeface="Arial" pitchFamily="34" charset="-120"/>
              </a:rPr>
              <a:t>input sensor values</a:t>
            </a:r>
            <a:endParaRPr lang="en-US" sz="950" dirty="0"/>
          </a:p>
        </p:txBody>
      </p:sp>
      <p:sp>
        <p:nvSpPr>
          <p:cNvPr id="11" name="Text 9"/>
          <p:cNvSpPr/>
          <p:nvPr/>
        </p:nvSpPr>
        <p:spPr>
          <a:xfrm>
            <a:off x="713232" y="4361688"/>
            <a:ext cx="1719072" cy="201168"/>
          </a:xfrm>
          <a:prstGeom prst="rect">
            <a:avLst/>
          </a:prstGeom>
          <a:noFill/>
          <a:ln/>
        </p:spPr>
        <p:txBody>
          <a:bodyPr wrap="square" lIns="508" tIns="508" rIns="508" bIns="508" rtlCol="0" anchor="t">
            <a:normAutofit/>
          </a:bodyPr>
          <a:lstStyle/>
          <a:p>
            <a:pPr indent="0" marL="0">
              <a:buNone/>
            </a:pPr>
            <a:r>
              <a:rPr lang="en-US" sz="780" dirty="0">
                <a:solidFill>
                  <a:srgbClr val="BCD3C4"/>
                </a:solidFill>
                <a:latin typeface="Arial" pitchFamily="34" charset="0"/>
                <a:ea typeface="Arial" pitchFamily="34" charset="-122"/>
                <a:cs typeface="Arial" pitchFamily="34" charset="-120"/>
              </a:rPr>
              <a:t>soil moisture, temperature, humidity</a:t>
            </a:r>
            <a:endParaRPr lang="en-US" sz="780" dirty="0"/>
          </a:p>
        </p:txBody>
      </p:sp>
      <p:sp>
        <p:nvSpPr>
          <p:cNvPr id="12" name="Shape 10"/>
          <p:cNvSpPr/>
          <p:nvPr/>
        </p:nvSpPr>
        <p:spPr>
          <a:xfrm>
            <a:off x="2926080" y="3675888"/>
            <a:ext cx="2011680" cy="960120"/>
          </a:xfrm>
          <a:prstGeom prst="roundRect">
            <a:avLst>
              <a:gd name="adj" fmla="val 7619"/>
            </a:avLst>
          </a:prstGeom>
          <a:solidFill>
            <a:srgbClr val="17372B"/>
          </a:solidFill>
          <a:ln w="8890">
            <a:solidFill>
              <a:srgbClr val="D8D2C4"/>
            </a:solidFill>
            <a:prstDash val="solid"/>
          </a:ln>
        </p:spPr>
      </p:sp>
      <p:sp>
        <p:nvSpPr>
          <p:cNvPr id="13" name="Text 11"/>
          <p:cNvSpPr/>
          <p:nvPr/>
        </p:nvSpPr>
        <p:spPr>
          <a:xfrm>
            <a:off x="3072384" y="3813048"/>
            <a:ext cx="1719072" cy="256032"/>
          </a:xfrm>
          <a:prstGeom prst="rect">
            <a:avLst/>
          </a:prstGeom>
          <a:noFill/>
          <a:ln/>
        </p:spPr>
        <p:txBody>
          <a:bodyPr wrap="square" lIns="508" tIns="508" rIns="508" bIns="508" rtlCol="0" anchor="t">
            <a:normAutofit/>
          </a:bodyPr>
          <a:lstStyle/>
          <a:p>
            <a:pPr indent="0" marL="0">
              <a:buNone/>
            </a:pPr>
            <a:r>
              <a:rPr lang="en-US" sz="1800" b="1" dirty="0">
                <a:solidFill>
                  <a:srgbClr val="9BC8A6"/>
                </a:solidFill>
                <a:latin typeface="Arial" pitchFamily="34" charset="0"/>
                <a:ea typeface="Arial" pitchFamily="34" charset="-122"/>
                <a:cs typeface="Arial" pitchFamily="34" charset="-120"/>
              </a:rPr>
              <a:t>10 min</a:t>
            </a:r>
            <a:endParaRPr lang="en-US" sz="1800" dirty="0"/>
          </a:p>
        </p:txBody>
      </p:sp>
      <p:sp>
        <p:nvSpPr>
          <p:cNvPr id="14" name="Text 12"/>
          <p:cNvSpPr/>
          <p:nvPr/>
        </p:nvSpPr>
        <p:spPr>
          <a:xfrm>
            <a:off x="3072384" y="4133088"/>
            <a:ext cx="1719072" cy="182880"/>
          </a:xfrm>
          <a:prstGeom prst="rect">
            <a:avLst/>
          </a:prstGeom>
          <a:noFill/>
          <a:ln/>
        </p:spPr>
        <p:txBody>
          <a:bodyPr wrap="square" lIns="508" tIns="508" rIns="508" bIns="508" rtlCol="0" anchor="t">
            <a:normAutofit/>
          </a:bodyPr>
          <a:lstStyle/>
          <a:p>
            <a:pPr indent="0" marL="0">
              <a:buNone/>
            </a:pPr>
            <a:r>
              <a:rPr lang="en-US" sz="950" b="1" dirty="0">
                <a:solidFill>
                  <a:srgbClr val="FFFFFF"/>
                </a:solidFill>
                <a:latin typeface="Arial" pitchFamily="34" charset="0"/>
                <a:ea typeface="Arial" pitchFamily="34" charset="-122"/>
                <a:cs typeface="Arial" pitchFamily="34" charset="-120"/>
              </a:rPr>
              <a:t>prediction target</a:t>
            </a:r>
            <a:endParaRPr lang="en-US" sz="950" dirty="0"/>
          </a:p>
        </p:txBody>
      </p:sp>
      <p:sp>
        <p:nvSpPr>
          <p:cNvPr id="15" name="Text 13"/>
          <p:cNvSpPr/>
          <p:nvPr/>
        </p:nvSpPr>
        <p:spPr>
          <a:xfrm>
            <a:off x="3072384" y="4361688"/>
            <a:ext cx="1719072" cy="201168"/>
          </a:xfrm>
          <a:prstGeom prst="rect">
            <a:avLst/>
          </a:prstGeom>
          <a:noFill/>
          <a:ln/>
        </p:spPr>
        <p:txBody>
          <a:bodyPr wrap="square" lIns="508" tIns="508" rIns="508" bIns="508" rtlCol="0" anchor="t">
            <a:normAutofit/>
          </a:bodyPr>
          <a:lstStyle/>
          <a:p>
            <a:pPr indent="0" marL="0">
              <a:buNone/>
            </a:pPr>
            <a:r>
              <a:rPr lang="en-US" sz="780" dirty="0">
                <a:solidFill>
                  <a:srgbClr val="BCD3C4"/>
                </a:solidFill>
                <a:latin typeface="Arial" pitchFamily="34" charset="0"/>
                <a:ea typeface="Arial" pitchFamily="34" charset="-122"/>
                <a:cs typeface="Arial" pitchFamily="34" charset="-120"/>
              </a:rPr>
              <a:t>demo can use 10 seconds</a:t>
            </a:r>
            <a:endParaRPr lang="en-US" sz="780" dirty="0"/>
          </a:p>
        </p:txBody>
      </p:sp>
      <p:sp>
        <p:nvSpPr>
          <p:cNvPr id="16" name="Shape 14"/>
          <p:cNvSpPr/>
          <p:nvPr/>
        </p:nvSpPr>
        <p:spPr>
          <a:xfrm>
            <a:off x="5285232" y="3675888"/>
            <a:ext cx="2011680" cy="960120"/>
          </a:xfrm>
          <a:prstGeom prst="roundRect">
            <a:avLst>
              <a:gd name="adj" fmla="val 7619"/>
            </a:avLst>
          </a:prstGeom>
          <a:solidFill>
            <a:srgbClr val="17372B"/>
          </a:solidFill>
          <a:ln w="8890">
            <a:solidFill>
              <a:srgbClr val="D8D2C4"/>
            </a:solidFill>
            <a:prstDash val="solid"/>
          </a:ln>
        </p:spPr>
      </p:sp>
      <p:sp>
        <p:nvSpPr>
          <p:cNvPr id="17" name="Text 15"/>
          <p:cNvSpPr/>
          <p:nvPr/>
        </p:nvSpPr>
        <p:spPr>
          <a:xfrm>
            <a:off x="5431536" y="3813048"/>
            <a:ext cx="1719072" cy="256032"/>
          </a:xfrm>
          <a:prstGeom prst="rect">
            <a:avLst/>
          </a:prstGeom>
          <a:noFill/>
          <a:ln/>
        </p:spPr>
        <p:txBody>
          <a:bodyPr wrap="square" lIns="508" tIns="508" rIns="508" bIns="508" rtlCol="0" anchor="t">
            <a:normAutofit/>
          </a:bodyPr>
          <a:lstStyle/>
          <a:p>
            <a:pPr indent="0" marL="0">
              <a:buNone/>
            </a:pPr>
            <a:r>
              <a:rPr lang="en-US" sz="1800" b="1" dirty="0">
                <a:solidFill>
                  <a:srgbClr val="9BC8A6"/>
                </a:solidFill>
                <a:latin typeface="Arial" pitchFamily="34" charset="0"/>
                <a:ea typeface="Arial" pitchFamily="34" charset="-122"/>
                <a:cs typeface="Arial" pitchFamily="34" charset="-120"/>
              </a:rPr>
              <a:t>Hybrid</a:t>
            </a:r>
            <a:endParaRPr lang="en-US" sz="1800" dirty="0"/>
          </a:p>
        </p:txBody>
      </p:sp>
      <p:sp>
        <p:nvSpPr>
          <p:cNvPr id="18" name="Text 16"/>
          <p:cNvSpPr/>
          <p:nvPr/>
        </p:nvSpPr>
        <p:spPr>
          <a:xfrm>
            <a:off x="5431536" y="4133088"/>
            <a:ext cx="1719072" cy="182880"/>
          </a:xfrm>
          <a:prstGeom prst="rect">
            <a:avLst/>
          </a:prstGeom>
          <a:noFill/>
          <a:ln/>
        </p:spPr>
        <p:txBody>
          <a:bodyPr wrap="square" lIns="508" tIns="508" rIns="508" bIns="508" rtlCol="0" anchor="t">
            <a:normAutofit/>
          </a:bodyPr>
          <a:lstStyle/>
          <a:p>
            <a:pPr indent="0" marL="0">
              <a:buNone/>
            </a:pPr>
            <a:r>
              <a:rPr lang="en-US" sz="950" b="1" dirty="0">
                <a:solidFill>
                  <a:srgbClr val="FFFFFF"/>
                </a:solidFill>
                <a:latin typeface="Arial" pitchFamily="34" charset="0"/>
                <a:ea typeface="Arial" pitchFamily="34" charset="-122"/>
                <a:cs typeface="Arial" pitchFamily="34" charset="-120"/>
              </a:rPr>
              <a:t>decision logic</a:t>
            </a:r>
            <a:endParaRPr lang="en-US" sz="950" dirty="0"/>
          </a:p>
        </p:txBody>
      </p:sp>
      <p:sp>
        <p:nvSpPr>
          <p:cNvPr id="19" name="Text 17"/>
          <p:cNvSpPr/>
          <p:nvPr/>
        </p:nvSpPr>
        <p:spPr>
          <a:xfrm>
            <a:off x="5431536" y="4361688"/>
            <a:ext cx="1719072" cy="201168"/>
          </a:xfrm>
          <a:prstGeom prst="rect">
            <a:avLst/>
          </a:prstGeom>
          <a:noFill/>
          <a:ln/>
        </p:spPr>
        <p:txBody>
          <a:bodyPr wrap="square" lIns="508" tIns="508" rIns="508" bIns="508" rtlCol="0" anchor="t">
            <a:normAutofit/>
          </a:bodyPr>
          <a:lstStyle/>
          <a:p>
            <a:pPr indent="0" marL="0">
              <a:buNone/>
            </a:pPr>
            <a:r>
              <a:rPr lang="en-US" sz="780" dirty="0">
                <a:solidFill>
                  <a:srgbClr val="BCD3C4"/>
                </a:solidFill>
                <a:latin typeface="Arial" pitchFamily="34" charset="0"/>
                <a:ea typeface="Arial" pitchFamily="34" charset="-122"/>
                <a:cs typeface="Arial" pitchFamily="34" charset="-120"/>
              </a:rPr>
              <a:t>threshold baseline plus ML</a:t>
            </a:r>
            <a:endParaRPr lang="en-US" sz="780" dirty="0"/>
          </a:p>
        </p:txBody>
      </p:sp>
      <p:sp>
        <p:nvSpPr>
          <p:cNvPr id="20" name="Shape 18"/>
          <p:cNvSpPr/>
          <p:nvPr/>
        </p:nvSpPr>
        <p:spPr>
          <a:xfrm>
            <a:off x="7644384" y="3675888"/>
            <a:ext cx="2240280" cy="960120"/>
          </a:xfrm>
          <a:prstGeom prst="roundRect">
            <a:avLst>
              <a:gd name="adj" fmla="val 7619"/>
            </a:avLst>
          </a:prstGeom>
          <a:solidFill>
            <a:srgbClr val="17372B"/>
          </a:solidFill>
          <a:ln w="8890">
            <a:solidFill>
              <a:srgbClr val="D8D2C4"/>
            </a:solidFill>
            <a:prstDash val="solid"/>
          </a:ln>
        </p:spPr>
      </p:sp>
      <p:sp>
        <p:nvSpPr>
          <p:cNvPr id="21" name="Text 19"/>
          <p:cNvSpPr/>
          <p:nvPr/>
        </p:nvSpPr>
        <p:spPr>
          <a:xfrm>
            <a:off x="7790688" y="3813048"/>
            <a:ext cx="1947672" cy="256032"/>
          </a:xfrm>
          <a:prstGeom prst="rect">
            <a:avLst/>
          </a:prstGeom>
          <a:noFill/>
          <a:ln/>
        </p:spPr>
        <p:txBody>
          <a:bodyPr wrap="square" lIns="508" tIns="508" rIns="508" bIns="508" rtlCol="0" anchor="t">
            <a:normAutofit/>
          </a:bodyPr>
          <a:lstStyle/>
          <a:p>
            <a:pPr indent="0" marL="0">
              <a:buNone/>
            </a:pPr>
            <a:r>
              <a:rPr lang="en-US" sz="1800" b="1" dirty="0">
                <a:solidFill>
                  <a:srgbClr val="9BC8A6"/>
                </a:solidFill>
                <a:latin typeface="Arial" pitchFamily="34" charset="0"/>
                <a:ea typeface="Arial" pitchFamily="34" charset="-122"/>
                <a:cs typeface="Arial" pitchFamily="34" charset="-120"/>
              </a:rPr>
              <a:t>Live</a:t>
            </a:r>
            <a:endParaRPr lang="en-US" sz="1800" dirty="0"/>
          </a:p>
        </p:txBody>
      </p:sp>
      <p:sp>
        <p:nvSpPr>
          <p:cNvPr id="22" name="Text 20"/>
          <p:cNvSpPr/>
          <p:nvPr/>
        </p:nvSpPr>
        <p:spPr>
          <a:xfrm>
            <a:off x="7790688" y="4133088"/>
            <a:ext cx="1947672" cy="182880"/>
          </a:xfrm>
          <a:prstGeom prst="rect">
            <a:avLst/>
          </a:prstGeom>
          <a:noFill/>
          <a:ln/>
        </p:spPr>
        <p:txBody>
          <a:bodyPr wrap="square" lIns="508" tIns="508" rIns="508" bIns="508" rtlCol="0" anchor="t">
            <a:normAutofit/>
          </a:bodyPr>
          <a:lstStyle/>
          <a:p>
            <a:pPr indent="0" marL="0">
              <a:buNone/>
            </a:pPr>
            <a:r>
              <a:rPr lang="en-US" sz="950" b="1" dirty="0">
                <a:solidFill>
                  <a:srgbClr val="FFFFFF"/>
                </a:solidFill>
                <a:latin typeface="Arial" pitchFamily="34" charset="0"/>
                <a:ea typeface="Arial" pitchFamily="34" charset="-122"/>
                <a:cs typeface="Arial" pitchFamily="34" charset="-120"/>
              </a:rPr>
              <a:t>monitoring layer</a:t>
            </a:r>
            <a:endParaRPr lang="en-US" sz="950" dirty="0"/>
          </a:p>
        </p:txBody>
      </p:sp>
      <p:sp>
        <p:nvSpPr>
          <p:cNvPr id="23" name="Text 21"/>
          <p:cNvSpPr/>
          <p:nvPr/>
        </p:nvSpPr>
        <p:spPr>
          <a:xfrm>
            <a:off x="7790688" y="4361688"/>
            <a:ext cx="1947672" cy="201168"/>
          </a:xfrm>
          <a:prstGeom prst="rect">
            <a:avLst/>
          </a:prstGeom>
          <a:noFill/>
          <a:ln/>
        </p:spPr>
        <p:txBody>
          <a:bodyPr wrap="square" lIns="508" tIns="508" rIns="508" bIns="508" rtlCol="0" anchor="t">
            <a:normAutofit/>
          </a:bodyPr>
          <a:lstStyle/>
          <a:p>
            <a:pPr indent="0" marL="0">
              <a:buNone/>
            </a:pPr>
            <a:r>
              <a:rPr lang="en-US" sz="780" dirty="0">
                <a:solidFill>
                  <a:srgbClr val="BCD3C4"/>
                </a:solidFill>
                <a:latin typeface="Arial" pitchFamily="34" charset="0"/>
                <a:ea typeface="Arial" pitchFamily="34" charset="-122"/>
                <a:cs typeface="Arial" pitchFamily="34" charset="-120"/>
              </a:rPr>
              <a:t>OLED, Streamlit, Telegram, Favoriot</a:t>
            </a:r>
            <a:endParaRPr lang="en-US" sz="780" dirty="0"/>
          </a:p>
        </p:txBody>
      </p:sp>
      <p:sp>
        <p:nvSpPr>
          <p:cNvPr id="24" name="Text 22"/>
          <p:cNvSpPr/>
          <p:nvPr/>
        </p:nvSpPr>
        <p:spPr>
          <a:xfrm>
            <a:off x="566928" y="6236208"/>
            <a:ext cx="5852160" cy="164592"/>
          </a:xfrm>
          <a:prstGeom prst="rect">
            <a:avLst/>
          </a:prstGeom>
          <a:noFill/>
          <a:ln/>
        </p:spPr>
        <p:txBody>
          <a:bodyPr wrap="square" lIns="508" tIns="508" rIns="508" bIns="508" rtlCol="0" anchor="t">
            <a:normAutofit/>
          </a:bodyPr>
          <a:lstStyle/>
          <a:p>
            <a:pPr indent="0" marL="0">
              <a:buNone/>
            </a:pPr>
            <a:r>
              <a:rPr lang="en-US" sz="780" dirty="0">
                <a:solidFill>
                  <a:srgbClr val="A7C7B3"/>
                </a:solidFill>
                <a:latin typeface="Arial" pitchFamily="34" charset="0"/>
                <a:ea typeface="Arial" pitchFamily="34" charset="-122"/>
                <a:cs typeface="Arial" pitchFamily="34" charset="-120"/>
              </a:rPr>
              <a:t>Prepared for Project 2: Hardware-Based IoT System Implementation</a:t>
            </a:r>
            <a:endParaRPr lang="en-US" sz="780" dirty="0"/>
          </a:p>
        </p:txBody>
      </p:sp>
      <p:sp>
        <p:nvSpPr>
          <p:cNvPr id="25" name="Text 23"/>
          <p:cNvSpPr/>
          <p:nvPr/>
        </p:nvSpPr>
        <p:spPr>
          <a:xfrm>
            <a:off x="11064240" y="6236208"/>
            <a:ext cx="457200" cy="164592"/>
          </a:xfrm>
          <a:prstGeom prst="rect">
            <a:avLst/>
          </a:prstGeom>
          <a:noFill/>
          <a:ln/>
        </p:spPr>
        <p:txBody>
          <a:bodyPr wrap="square" lIns="508" tIns="508" rIns="508" bIns="508" rtlCol="0" anchor="t">
            <a:normAutofit/>
          </a:bodyPr>
          <a:lstStyle/>
          <a:p>
            <a:pPr indent="0" marL="0">
              <a:buNone/>
            </a:pPr>
            <a:r>
              <a:rPr lang="en-US" sz="700" b="1" dirty="0">
                <a:solidFill>
                  <a:srgbClr val="A7C7B3"/>
                </a:solidFill>
                <a:latin typeface="Arial" pitchFamily="34" charset="0"/>
                <a:ea typeface="Arial" pitchFamily="34" charset="-122"/>
                <a:cs typeface="Arial" pitchFamily="34" charset="-120"/>
              </a:rPr>
              <a:t>01</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E"/>
        </a:solidFill>
      </p:bgPr>
    </p:bg>
    <p:spTree>
      <p:nvGrpSpPr>
        <p:cNvPr id="1" name=""/>
        <p:cNvGrpSpPr/>
        <p:nvPr/>
      </p:nvGrpSpPr>
      <p:grpSpPr>
        <a:xfrm>
          <a:off x="0" y="0"/>
          <a:ext cx="0" cy="0"/>
          <a:chOff x="0" y="0"/>
          <a:chExt cx="0" cy="0"/>
        </a:xfrm>
      </p:grpSpPr>
      <p:sp>
        <p:nvSpPr>
          <p:cNvPr id="2" name="Shape 0"/>
          <p:cNvSpPr/>
          <p:nvPr/>
        </p:nvSpPr>
        <p:spPr>
          <a:xfrm>
            <a:off x="502920" y="530352"/>
            <a:ext cx="320040" cy="0"/>
          </a:xfrm>
          <a:prstGeom prst="line">
            <a:avLst/>
          </a:prstGeom>
          <a:noFill/>
          <a:ln w="25400">
            <a:solidFill>
              <a:srgbClr val="1F6B4D"/>
            </a:solidFill>
            <a:prstDash val="solid"/>
          </a:ln>
        </p:spPr>
      </p:sp>
      <p:sp>
        <p:nvSpPr>
          <p:cNvPr id="3" name="Text 1"/>
          <p:cNvSpPr/>
          <p:nvPr/>
        </p:nvSpPr>
        <p:spPr>
          <a:xfrm>
            <a:off x="932688" y="420624"/>
            <a:ext cx="3840480" cy="228600"/>
          </a:xfrm>
          <a:prstGeom prst="rect">
            <a:avLst/>
          </a:prstGeom>
          <a:noFill/>
          <a:ln/>
        </p:spPr>
        <p:txBody>
          <a:bodyPr wrap="square" lIns="508" tIns="508" rIns="508" bIns="508" rtlCol="0" anchor="t">
            <a:normAutofit/>
          </a:bodyPr>
          <a:lstStyle/>
          <a:p>
            <a:pPr indent="0" marL="0">
              <a:buNone/>
            </a:pPr>
            <a:r>
              <a:rPr lang="en-US" sz="760" b="1" dirty="0">
                <a:solidFill>
                  <a:srgbClr val="1F6B4D"/>
                </a:solidFill>
                <a:latin typeface="Arial" pitchFamily="34" charset="0"/>
                <a:ea typeface="Arial" pitchFamily="34" charset="-122"/>
                <a:cs typeface="Arial" pitchFamily="34" charset="-120"/>
              </a:rPr>
              <a:t>PROBLEM FIT</a:t>
            </a:r>
            <a:endParaRPr lang="en-US" sz="760" dirty="0"/>
          </a:p>
        </p:txBody>
      </p:sp>
      <p:sp>
        <p:nvSpPr>
          <p:cNvPr id="4" name="Text 2"/>
          <p:cNvSpPr/>
          <p:nvPr/>
        </p:nvSpPr>
        <p:spPr>
          <a:xfrm>
            <a:off x="502920" y="758952"/>
            <a:ext cx="9692640" cy="658368"/>
          </a:xfrm>
          <a:prstGeom prst="rect">
            <a:avLst/>
          </a:prstGeom>
          <a:noFill/>
          <a:ln/>
        </p:spPr>
        <p:txBody>
          <a:bodyPr wrap="square" lIns="508" tIns="508" rIns="508" bIns="508" rtlCol="0" anchor="t">
            <a:normAutofit/>
          </a:bodyPr>
          <a:lstStyle/>
          <a:p>
            <a:pPr indent="0" marL="0">
              <a:buNone/>
            </a:pPr>
            <a:r>
              <a:rPr lang="en-US" sz="2200" b="1" dirty="0">
                <a:solidFill>
                  <a:srgbClr val="14211C"/>
                </a:solidFill>
                <a:latin typeface="Georgia" pitchFamily="34" charset="0"/>
                <a:ea typeface="Georgia" pitchFamily="34" charset="-122"/>
                <a:cs typeface="Georgia" pitchFamily="34" charset="-120"/>
              </a:rPr>
              <a:t>The system shifts irrigation from reactive watering to predictive warning.</a:t>
            </a:r>
            <a:endParaRPr lang="en-US" sz="2200" dirty="0"/>
          </a:p>
        </p:txBody>
      </p:sp>
      <p:sp>
        <p:nvSpPr>
          <p:cNvPr id="5" name="Shape 3"/>
          <p:cNvSpPr/>
          <p:nvPr/>
        </p:nvSpPr>
        <p:spPr>
          <a:xfrm>
            <a:off x="502920" y="6428232"/>
            <a:ext cx="10835640" cy="0"/>
          </a:xfrm>
          <a:prstGeom prst="line">
            <a:avLst/>
          </a:prstGeom>
          <a:noFill/>
          <a:ln w="6350">
            <a:solidFill>
              <a:srgbClr val="D8D2C4"/>
            </a:solidFill>
            <a:prstDash val="solid"/>
          </a:ln>
        </p:spPr>
      </p:sp>
      <p:sp>
        <p:nvSpPr>
          <p:cNvPr id="6" name="Text 4"/>
          <p:cNvSpPr/>
          <p:nvPr/>
        </p:nvSpPr>
        <p:spPr>
          <a:xfrm>
            <a:off x="502920" y="6510528"/>
            <a:ext cx="7680960" cy="164592"/>
          </a:xfrm>
          <a:prstGeom prst="rect">
            <a:avLst/>
          </a:prstGeom>
          <a:noFill/>
          <a:ln/>
        </p:spPr>
        <p:txBody>
          <a:bodyPr wrap="square" lIns="508" tIns="508" rIns="508" bIns="508" rtlCol="0" anchor="t">
            <a:normAutofit/>
          </a:bodyPr>
          <a:lstStyle/>
          <a:p>
            <a:pPr indent="0" marL="0">
              <a:buNone/>
            </a:pPr>
            <a:r>
              <a:rPr lang="en-US" sz="680" dirty="0">
                <a:solidFill>
                  <a:srgbClr val="5E6B63"/>
                </a:solidFill>
                <a:latin typeface="Arial" pitchFamily="34" charset="0"/>
                <a:ea typeface="Arial" pitchFamily="34" charset="-122"/>
                <a:cs typeface="Arial" pitchFamily="34" charset="-120"/>
              </a:rPr>
              <a:t>Source: project README, Student Guide, and SRTA3353 Project 2 criteria</a:t>
            </a:r>
            <a:endParaRPr lang="en-US" sz="680" dirty="0"/>
          </a:p>
        </p:txBody>
      </p:sp>
      <p:sp>
        <p:nvSpPr>
          <p:cNvPr id="7" name="Text 5"/>
          <p:cNvSpPr/>
          <p:nvPr/>
        </p:nvSpPr>
        <p:spPr>
          <a:xfrm>
            <a:off x="11064240" y="6510528"/>
            <a:ext cx="457200" cy="164592"/>
          </a:xfrm>
          <a:prstGeom prst="rect">
            <a:avLst/>
          </a:prstGeom>
          <a:noFill/>
          <a:ln/>
        </p:spPr>
        <p:txBody>
          <a:bodyPr wrap="square" lIns="508" tIns="508" rIns="508" bIns="508" rtlCol="0" anchor="t">
            <a:normAutofit/>
          </a:bodyPr>
          <a:lstStyle/>
          <a:p>
            <a:pPr indent="0" marL="0">
              <a:buNone/>
            </a:pPr>
            <a:r>
              <a:rPr lang="en-US" sz="680" b="1" dirty="0">
                <a:solidFill>
                  <a:srgbClr val="5E6B63"/>
                </a:solidFill>
                <a:latin typeface="Arial" pitchFamily="34" charset="0"/>
                <a:ea typeface="Arial" pitchFamily="34" charset="-122"/>
                <a:cs typeface="Arial" pitchFamily="34" charset="-120"/>
              </a:rPr>
              <a:t>02</a:t>
            </a:r>
            <a:endParaRPr lang="en-US" sz="680" dirty="0"/>
          </a:p>
        </p:txBody>
      </p:sp>
      <p:sp>
        <p:nvSpPr>
          <p:cNvPr id="8" name="Text 6"/>
          <p:cNvSpPr/>
          <p:nvPr/>
        </p:nvSpPr>
        <p:spPr>
          <a:xfrm>
            <a:off x="502920" y="1627632"/>
            <a:ext cx="4754880" cy="566928"/>
          </a:xfrm>
          <a:prstGeom prst="rect">
            <a:avLst/>
          </a:prstGeom>
          <a:noFill/>
          <a:ln/>
        </p:spPr>
        <p:txBody>
          <a:bodyPr wrap="square" lIns="508" tIns="508" rIns="508" bIns="508" rtlCol="0" anchor="t">
            <a:normAutofit/>
          </a:bodyPr>
          <a:lstStyle/>
          <a:p>
            <a:pPr indent="0" marL="0">
              <a:buNone/>
            </a:pPr>
            <a:r>
              <a:rPr lang="en-US" sz="1100" dirty="0">
                <a:solidFill>
                  <a:srgbClr val="5E6B63"/>
                </a:solidFill>
                <a:latin typeface="Arial" pitchFamily="34" charset="0"/>
                <a:ea typeface="Arial" pitchFamily="34" charset="-122"/>
                <a:cs typeface="Arial" pitchFamily="34" charset="-120"/>
              </a:rPr>
              <a:t>Traditional small-plant watering reacts only after soil is already dry. In hot or low-humidity conditions, that delay can stress the plant before the pump starts.</a:t>
            </a:r>
            <a:endParaRPr lang="en-US" sz="1100" dirty="0"/>
          </a:p>
        </p:txBody>
      </p:sp>
      <p:sp>
        <p:nvSpPr>
          <p:cNvPr id="9" name="Shape 7"/>
          <p:cNvSpPr/>
          <p:nvPr/>
        </p:nvSpPr>
        <p:spPr>
          <a:xfrm>
            <a:off x="685800" y="2907792"/>
            <a:ext cx="2331720" cy="1115568"/>
          </a:xfrm>
          <a:prstGeom prst="roundRect">
            <a:avLst>
              <a:gd name="adj" fmla="val 6557"/>
            </a:avLst>
          </a:prstGeom>
          <a:solidFill>
            <a:srgbClr val="FFF8F0"/>
          </a:solidFill>
          <a:ln w="8890">
            <a:solidFill>
              <a:srgbClr val="D8D2C4"/>
            </a:solidFill>
            <a:prstDash val="solid"/>
          </a:ln>
        </p:spPr>
      </p:sp>
      <p:sp>
        <p:nvSpPr>
          <p:cNvPr id="10" name="Shape 8"/>
          <p:cNvSpPr/>
          <p:nvPr/>
        </p:nvSpPr>
        <p:spPr>
          <a:xfrm>
            <a:off x="685800" y="2907792"/>
            <a:ext cx="64008" cy="1115568"/>
          </a:xfrm>
          <a:prstGeom prst="rect">
            <a:avLst/>
          </a:prstGeom>
          <a:solidFill>
            <a:srgbClr val="E6A33D"/>
          </a:solidFill>
          <a:ln w="12700">
            <a:solidFill>
              <a:srgbClr val="E6A33D"/>
            </a:solidFill>
            <a:prstDash val="solid"/>
          </a:ln>
        </p:spPr>
      </p:sp>
      <p:sp>
        <p:nvSpPr>
          <p:cNvPr id="11" name="Text 9"/>
          <p:cNvSpPr/>
          <p:nvPr/>
        </p:nvSpPr>
        <p:spPr>
          <a:xfrm>
            <a:off x="832104" y="3035808"/>
            <a:ext cx="2075688" cy="201168"/>
          </a:xfrm>
          <a:prstGeom prst="rect">
            <a:avLst/>
          </a:prstGeom>
          <a:noFill/>
          <a:ln/>
        </p:spPr>
        <p:txBody>
          <a:bodyPr wrap="square" lIns="508" tIns="508" rIns="508" bIns="508" rtlCol="0" anchor="t">
            <a:normAutofit/>
          </a:bodyPr>
          <a:lstStyle/>
          <a:p>
            <a:pPr indent="0" marL="0">
              <a:buNone/>
            </a:pPr>
            <a:r>
              <a:rPr lang="en-US" sz="950" b="1" dirty="0">
                <a:solidFill>
                  <a:srgbClr val="14211C"/>
                </a:solidFill>
                <a:latin typeface="Arial" pitchFamily="34" charset="0"/>
                <a:ea typeface="Arial" pitchFamily="34" charset="-122"/>
                <a:cs typeface="Arial" pitchFamily="34" charset="-120"/>
              </a:rPr>
              <a:t>Baseline system</a:t>
            </a:r>
            <a:endParaRPr lang="en-US" sz="950" dirty="0"/>
          </a:p>
        </p:txBody>
      </p:sp>
      <p:sp>
        <p:nvSpPr>
          <p:cNvPr id="12" name="Text 10"/>
          <p:cNvSpPr/>
          <p:nvPr/>
        </p:nvSpPr>
        <p:spPr>
          <a:xfrm>
            <a:off x="832104" y="3300984"/>
            <a:ext cx="2075688" cy="658368"/>
          </a:xfrm>
          <a:prstGeom prst="rect">
            <a:avLst/>
          </a:prstGeom>
          <a:noFill/>
          <a:ln/>
        </p:spPr>
        <p:txBody>
          <a:bodyPr wrap="square" lIns="508" tIns="508" rIns="508" bIns="508" rtlCol="0" anchor="t">
            <a:normAutofit/>
          </a:bodyPr>
          <a:lstStyle/>
          <a:p>
            <a:pPr indent="0" marL="0">
              <a:buNone/>
            </a:pPr>
            <a:r>
              <a:rPr lang="en-US" sz="750" dirty="0">
                <a:solidFill>
                  <a:srgbClr val="5E6B63"/>
                </a:solidFill>
                <a:latin typeface="Arial" pitchFamily="34" charset="0"/>
                <a:ea typeface="Arial" pitchFamily="34" charset="-122"/>
                <a:cs typeface="Arial" pitchFamily="34" charset="-120"/>
              </a:rPr>
              <a:t>Soil is dry now -&gt; pump ON. Simple and reliable, but late.</a:t>
            </a:r>
            <a:endParaRPr lang="en-US" sz="750" dirty="0"/>
          </a:p>
        </p:txBody>
      </p:sp>
      <p:sp>
        <p:nvSpPr>
          <p:cNvPr id="13" name="Shape 11"/>
          <p:cNvSpPr/>
          <p:nvPr/>
        </p:nvSpPr>
        <p:spPr>
          <a:xfrm>
            <a:off x="3154680" y="3447288"/>
            <a:ext cx="685800" cy="0"/>
          </a:xfrm>
          <a:prstGeom prst="line">
            <a:avLst/>
          </a:prstGeom>
          <a:noFill/>
          <a:ln w="15240">
            <a:solidFill>
              <a:srgbClr val="E6A33D"/>
            </a:solidFill>
            <a:prstDash val="solid"/>
            <a:tailEnd type="triangle"/>
          </a:ln>
        </p:spPr>
      </p:sp>
      <p:sp>
        <p:nvSpPr>
          <p:cNvPr id="14" name="Shape 12"/>
          <p:cNvSpPr/>
          <p:nvPr/>
        </p:nvSpPr>
        <p:spPr>
          <a:xfrm>
            <a:off x="3977640" y="2907792"/>
            <a:ext cx="2926080" cy="1115568"/>
          </a:xfrm>
          <a:prstGeom prst="roundRect">
            <a:avLst>
              <a:gd name="adj" fmla="val 6557"/>
            </a:avLst>
          </a:prstGeom>
          <a:solidFill>
            <a:srgbClr val="F5FBF6"/>
          </a:solidFill>
          <a:ln w="8890">
            <a:solidFill>
              <a:srgbClr val="D8D2C4"/>
            </a:solidFill>
            <a:prstDash val="solid"/>
          </a:ln>
        </p:spPr>
      </p:sp>
      <p:sp>
        <p:nvSpPr>
          <p:cNvPr id="15" name="Shape 13"/>
          <p:cNvSpPr/>
          <p:nvPr/>
        </p:nvSpPr>
        <p:spPr>
          <a:xfrm>
            <a:off x="3977640" y="2907792"/>
            <a:ext cx="64008" cy="1115568"/>
          </a:xfrm>
          <a:prstGeom prst="rect">
            <a:avLst/>
          </a:prstGeom>
          <a:solidFill>
            <a:srgbClr val="1F6B4D"/>
          </a:solidFill>
          <a:ln w="12700">
            <a:solidFill>
              <a:srgbClr val="1F6B4D"/>
            </a:solidFill>
            <a:prstDash val="solid"/>
          </a:ln>
        </p:spPr>
      </p:sp>
      <p:sp>
        <p:nvSpPr>
          <p:cNvPr id="16" name="Text 14"/>
          <p:cNvSpPr/>
          <p:nvPr/>
        </p:nvSpPr>
        <p:spPr>
          <a:xfrm>
            <a:off x="4123944" y="3035808"/>
            <a:ext cx="2670048" cy="201168"/>
          </a:xfrm>
          <a:prstGeom prst="rect">
            <a:avLst/>
          </a:prstGeom>
          <a:noFill/>
          <a:ln/>
        </p:spPr>
        <p:txBody>
          <a:bodyPr wrap="square" lIns="508" tIns="508" rIns="508" bIns="508" rtlCol="0" anchor="t">
            <a:normAutofit/>
          </a:bodyPr>
          <a:lstStyle/>
          <a:p>
            <a:pPr indent="0" marL="0">
              <a:buNone/>
            </a:pPr>
            <a:r>
              <a:rPr lang="en-US" sz="950" b="1" dirty="0">
                <a:solidFill>
                  <a:srgbClr val="14211C"/>
                </a:solidFill>
                <a:latin typeface="Arial" pitchFamily="34" charset="0"/>
                <a:ea typeface="Arial" pitchFamily="34" charset="-122"/>
                <a:cs typeface="Arial" pitchFamily="34" charset="-120"/>
              </a:rPr>
              <a:t>Project system</a:t>
            </a:r>
            <a:endParaRPr lang="en-US" sz="950" dirty="0"/>
          </a:p>
        </p:txBody>
      </p:sp>
      <p:sp>
        <p:nvSpPr>
          <p:cNvPr id="17" name="Text 15"/>
          <p:cNvSpPr/>
          <p:nvPr/>
        </p:nvSpPr>
        <p:spPr>
          <a:xfrm>
            <a:off x="4123944" y="3300984"/>
            <a:ext cx="2670048" cy="658368"/>
          </a:xfrm>
          <a:prstGeom prst="rect">
            <a:avLst/>
          </a:prstGeom>
          <a:noFill/>
          <a:ln/>
        </p:spPr>
        <p:txBody>
          <a:bodyPr wrap="square" lIns="508" tIns="508" rIns="508" bIns="508" rtlCol="0" anchor="t">
            <a:normAutofit/>
          </a:bodyPr>
          <a:lstStyle/>
          <a:p>
            <a:pPr indent="0" marL="0">
              <a:buNone/>
            </a:pPr>
            <a:r>
              <a:rPr lang="en-US" sz="750" dirty="0">
                <a:solidFill>
                  <a:srgbClr val="5E6B63"/>
                </a:solidFill>
                <a:latin typeface="Arial" pitchFamily="34" charset="0"/>
                <a:ea typeface="Arial" pitchFamily="34" charset="-122"/>
                <a:cs typeface="Arial" pitchFamily="34" charset="-120"/>
              </a:rPr>
              <a:t>Soil is still optimal, but trend and environment show Dry Soon.</a:t>
            </a:r>
            <a:endParaRPr lang="en-US" sz="750" dirty="0"/>
          </a:p>
        </p:txBody>
      </p:sp>
      <p:sp>
        <p:nvSpPr>
          <p:cNvPr id="18" name="Shape 16"/>
          <p:cNvSpPr/>
          <p:nvPr/>
        </p:nvSpPr>
        <p:spPr>
          <a:xfrm>
            <a:off x="7040880" y="3447288"/>
            <a:ext cx="685800" cy="0"/>
          </a:xfrm>
          <a:prstGeom prst="line">
            <a:avLst/>
          </a:prstGeom>
          <a:noFill/>
          <a:ln w="15240">
            <a:solidFill>
              <a:srgbClr val="1F6B4D"/>
            </a:solidFill>
            <a:prstDash val="solid"/>
            <a:tailEnd type="triangle"/>
          </a:ln>
        </p:spPr>
      </p:sp>
      <p:sp>
        <p:nvSpPr>
          <p:cNvPr id="19" name="Shape 17"/>
          <p:cNvSpPr/>
          <p:nvPr/>
        </p:nvSpPr>
        <p:spPr>
          <a:xfrm>
            <a:off x="7882128" y="2907792"/>
            <a:ext cx="2651760" cy="1115568"/>
          </a:xfrm>
          <a:prstGeom prst="roundRect">
            <a:avLst>
              <a:gd name="adj" fmla="val 6557"/>
            </a:avLst>
          </a:prstGeom>
          <a:solidFill>
            <a:srgbClr val="F4F7FB"/>
          </a:solidFill>
          <a:ln w="8890">
            <a:solidFill>
              <a:srgbClr val="D8D2C4"/>
            </a:solidFill>
            <a:prstDash val="solid"/>
          </a:ln>
        </p:spPr>
      </p:sp>
      <p:sp>
        <p:nvSpPr>
          <p:cNvPr id="20" name="Shape 18"/>
          <p:cNvSpPr/>
          <p:nvPr/>
        </p:nvSpPr>
        <p:spPr>
          <a:xfrm>
            <a:off x="7882128" y="2907792"/>
            <a:ext cx="64008" cy="1115568"/>
          </a:xfrm>
          <a:prstGeom prst="rect">
            <a:avLst/>
          </a:prstGeom>
          <a:solidFill>
            <a:srgbClr val="256A7B"/>
          </a:solidFill>
          <a:ln w="12700">
            <a:solidFill>
              <a:srgbClr val="256A7B"/>
            </a:solidFill>
            <a:prstDash val="solid"/>
          </a:ln>
        </p:spPr>
      </p:sp>
      <p:sp>
        <p:nvSpPr>
          <p:cNvPr id="21" name="Text 19"/>
          <p:cNvSpPr/>
          <p:nvPr/>
        </p:nvSpPr>
        <p:spPr>
          <a:xfrm>
            <a:off x="8028432" y="3035808"/>
            <a:ext cx="2395728" cy="201168"/>
          </a:xfrm>
          <a:prstGeom prst="rect">
            <a:avLst/>
          </a:prstGeom>
          <a:noFill/>
          <a:ln/>
        </p:spPr>
        <p:txBody>
          <a:bodyPr wrap="square" lIns="508" tIns="508" rIns="508" bIns="508" rtlCol="0" anchor="t">
            <a:normAutofit/>
          </a:bodyPr>
          <a:lstStyle/>
          <a:p>
            <a:pPr indent="0" marL="0">
              <a:buNone/>
            </a:pPr>
            <a:r>
              <a:rPr lang="en-US" sz="950" b="1" dirty="0">
                <a:solidFill>
                  <a:srgbClr val="14211C"/>
                </a:solidFill>
                <a:latin typeface="Arial" pitchFamily="34" charset="0"/>
                <a:ea typeface="Arial" pitchFamily="34" charset="-122"/>
                <a:cs typeface="Arial" pitchFamily="34" charset="-120"/>
              </a:rPr>
              <a:t>Outcome</a:t>
            </a:r>
            <a:endParaRPr lang="en-US" sz="950" dirty="0"/>
          </a:p>
        </p:txBody>
      </p:sp>
      <p:sp>
        <p:nvSpPr>
          <p:cNvPr id="22" name="Text 20"/>
          <p:cNvSpPr/>
          <p:nvPr/>
        </p:nvSpPr>
        <p:spPr>
          <a:xfrm>
            <a:off x="8028432" y="3300984"/>
            <a:ext cx="2395728" cy="658368"/>
          </a:xfrm>
          <a:prstGeom prst="rect">
            <a:avLst/>
          </a:prstGeom>
          <a:noFill/>
          <a:ln/>
        </p:spPr>
        <p:txBody>
          <a:bodyPr wrap="square" lIns="508" tIns="508" rIns="508" bIns="508" rtlCol="0" anchor="t">
            <a:normAutofit/>
          </a:bodyPr>
          <a:lstStyle/>
          <a:p>
            <a:pPr indent="0" marL="0">
              <a:buNone/>
            </a:pPr>
            <a:r>
              <a:rPr lang="en-US" sz="750" dirty="0">
                <a:solidFill>
                  <a:srgbClr val="5E6B63"/>
                </a:solidFill>
                <a:latin typeface="Arial" pitchFamily="34" charset="0"/>
                <a:ea typeface="Arial" pitchFamily="34" charset="-122"/>
                <a:cs typeface="Arial" pitchFamily="34" charset="-120"/>
              </a:rPr>
              <a:t>Warn early, log evidence, and optionally control pump before stress.</a:t>
            </a:r>
            <a:endParaRPr lang="en-US" sz="750" dirty="0"/>
          </a:p>
        </p:txBody>
      </p:sp>
      <p:sp>
        <p:nvSpPr>
          <p:cNvPr id="23" name="Shape 21"/>
          <p:cNvSpPr/>
          <p:nvPr/>
        </p:nvSpPr>
        <p:spPr>
          <a:xfrm>
            <a:off x="502920" y="4718304"/>
            <a:ext cx="4846320" cy="749808"/>
          </a:xfrm>
          <a:prstGeom prst="roundRect">
            <a:avLst>
              <a:gd name="adj" fmla="val 9756"/>
            </a:avLst>
          </a:prstGeom>
          <a:solidFill>
            <a:srgbClr val="FFFFFF"/>
          </a:solidFill>
          <a:ln w="8890">
            <a:solidFill>
              <a:srgbClr val="D8D2C4"/>
            </a:solidFill>
            <a:prstDash val="solid"/>
          </a:ln>
        </p:spPr>
      </p:sp>
      <p:sp>
        <p:nvSpPr>
          <p:cNvPr id="24" name="Text 22"/>
          <p:cNvSpPr/>
          <p:nvPr/>
        </p:nvSpPr>
        <p:spPr>
          <a:xfrm>
            <a:off x="713232" y="4910328"/>
            <a:ext cx="1371600" cy="182880"/>
          </a:xfrm>
          <a:prstGeom prst="rect">
            <a:avLst/>
          </a:prstGeom>
          <a:noFill/>
          <a:ln/>
        </p:spPr>
        <p:txBody>
          <a:bodyPr wrap="square" lIns="508" tIns="508" rIns="508" bIns="508" rtlCol="0" anchor="t">
            <a:normAutofit/>
          </a:bodyPr>
          <a:lstStyle/>
          <a:p>
            <a:pPr indent="0" marL="0">
              <a:buNone/>
            </a:pPr>
            <a:r>
              <a:rPr lang="en-US" sz="900" b="1" dirty="0">
                <a:solidFill>
                  <a:srgbClr val="1F6B4D"/>
                </a:solidFill>
                <a:latin typeface="Arial" pitchFamily="34" charset="0"/>
                <a:ea typeface="Arial" pitchFamily="34" charset="-122"/>
                <a:cs typeface="Arial" pitchFamily="34" charset="-120"/>
              </a:rPr>
              <a:t>Target users</a:t>
            </a:r>
            <a:endParaRPr lang="en-US" sz="900" dirty="0"/>
          </a:p>
        </p:txBody>
      </p:sp>
      <p:sp>
        <p:nvSpPr>
          <p:cNvPr id="25" name="Text 23"/>
          <p:cNvSpPr/>
          <p:nvPr/>
        </p:nvSpPr>
        <p:spPr>
          <a:xfrm>
            <a:off x="713232" y="5148072"/>
            <a:ext cx="4114800" cy="201168"/>
          </a:xfrm>
          <a:prstGeom prst="rect">
            <a:avLst/>
          </a:prstGeom>
          <a:noFill/>
          <a:ln/>
        </p:spPr>
        <p:txBody>
          <a:bodyPr wrap="square" lIns="508" tIns="508" rIns="508" bIns="508" rtlCol="0" anchor="t">
            <a:normAutofit/>
          </a:bodyPr>
          <a:lstStyle/>
          <a:p>
            <a:pPr indent="0" marL="0">
              <a:buNone/>
            </a:pPr>
            <a:r>
              <a:rPr lang="en-US" sz="800" dirty="0">
                <a:solidFill>
                  <a:srgbClr val="5E6B63"/>
                </a:solidFill>
                <a:latin typeface="Arial" pitchFamily="34" charset="0"/>
                <a:ea typeface="Arial" pitchFamily="34" charset="-122"/>
                <a:cs typeface="Arial" pitchFamily="34" charset="-120"/>
              </a:rPr>
              <a:t>Small plant owners, student labs, and greenhouse-style demos that need low-cost monitoring.</a:t>
            </a:r>
            <a:endParaRPr lang="en-US" sz="800" dirty="0"/>
          </a:p>
        </p:txBody>
      </p:sp>
      <p:sp>
        <p:nvSpPr>
          <p:cNvPr id="26" name="Shape 24"/>
          <p:cNvSpPr/>
          <p:nvPr/>
        </p:nvSpPr>
        <p:spPr>
          <a:xfrm>
            <a:off x="5715000" y="4718304"/>
            <a:ext cx="4846320" cy="749808"/>
          </a:xfrm>
          <a:prstGeom prst="roundRect">
            <a:avLst>
              <a:gd name="adj" fmla="val 9756"/>
            </a:avLst>
          </a:prstGeom>
          <a:solidFill>
            <a:srgbClr val="FFFFFF"/>
          </a:solidFill>
          <a:ln w="8890">
            <a:solidFill>
              <a:srgbClr val="D8D2C4"/>
            </a:solidFill>
            <a:prstDash val="solid"/>
          </a:ln>
        </p:spPr>
      </p:sp>
      <p:sp>
        <p:nvSpPr>
          <p:cNvPr id="27" name="Text 25"/>
          <p:cNvSpPr/>
          <p:nvPr/>
        </p:nvSpPr>
        <p:spPr>
          <a:xfrm>
            <a:off x="5925312" y="4910328"/>
            <a:ext cx="1554480" cy="182880"/>
          </a:xfrm>
          <a:prstGeom prst="rect">
            <a:avLst/>
          </a:prstGeom>
          <a:noFill/>
          <a:ln/>
        </p:spPr>
        <p:txBody>
          <a:bodyPr wrap="square" lIns="508" tIns="508" rIns="508" bIns="508" rtlCol="0" anchor="t">
            <a:normAutofit/>
          </a:bodyPr>
          <a:lstStyle/>
          <a:p>
            <a:pPr indent="0" marL="0">
              <a:buNone/>
            </a:pPr>
            <a:r>
              <a:rPr lang="en-US" sz="900" b="1" dirty="0">
                <a:solidFill>
                  <a:srgbClr val="256A7B"/>
                </a:solidFill>
                <a:latin typeface="Arial" pitchFamily="34" charset="0"/>
                <a:ea typeface="Arial" pitchFamily="34" charset="-122"/>
                <a:cs typeface="Arial" pitchFamily="34" charset="-120"/>
              </a:rPr>
              <a:t>Application domain</a:t>
            </a:r>
            <a:endParaRPr lang="en-US" sz="900" dirty="0"/>
          </a:p>
        </p:txBody>
      </p:sp>
      <p:sp>
        <p:nvSpPr>
          <p:cNvPr id="28" name="Text 26"/>
          <p:cNvSpPr/>
          <p:nvPr/>
        </p:nvSpPr>
        <p:spPr>
          <a:xfrm>
            <a:off x="5925312" y="5148072"/>
            <a:ext cx="4114800" cy="201168"/>
          </a:xfrm>
          <a:prstGeom prst="rect">
            <a:avLst/>
          </a:prstGeom>
          <a:noFill/>
          <a:ln/>
        </p:spPr>
        <p:txBody>
          <a:bodyPr wrap="square" lIns="508" tIns="508" rIns="508" bIns="508" rtlCol="0" anchor="t">
            <a:normAutofit/>
          </a:bodyPr>
          <a:lstStyle/>
          <a:p>
            <a:pPr indent="0" marL="0">
              <a:buNone/>
            </a:pPr>
            <a:r>
              <a:rPr lang="en-US" sz="800" dirty="0">
                <a:solidFill>
                  <a:srgbClr val="5E6B63"/>
                </a:solidFill>
                <a:latin typeface="Arial" pitchFamily="34" charset="0"/>
                <a:ea typeface="Arial" pitchFamily="34" charset="-122"/>
                <a:cs typeface="Arial" pitchFamily="34" charset="-120"/>
              </a:rPr>
              <a:t>Smart agriculture: soil moisture, temperature, humidity, irrigation automation, crop monitoring.</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E"/>
        </a:solidFill>
      </p:bgPr>
    </p:bg>
    <p:spTree>
      <p:nvGrpSpPr>
        <p:cNvPr id="1" name=""/>
        <p:cNvGrpSpPr/>
        <p:nvPr/>
      </p:nvGrpSpPr>
      <p:grpSpPr>
        <a:xfrm>
          <a:off x="0" y="0"/>
          <a:ext cx="0" cy="0"/>
          <a:chOff x="0" y="0"/>
          <a:chExt cx="0" cy="0"/>
        </a:xfrm>
      </p:grpSpPr>
      <p:sp>
        <p:nvSpPr>
          <p:cNvPr id="2" name="Shape 0"/>
          <p:cNvSpPr/>
          <p:nvPr/>
        </p:nvSpPr>
        <p:spPr>
          <a:xfrm>
            <a:off x="502920" y="530352"/>
            <a:ext cx="320040" cy="0"/>
          </a:xfrm>
          <a:prstGeom prst="line">
            <a:avLst/>
          </a:prstGeom>
          <a:noFill/>
          <a:ln w="25400">
            <a:solidFill>
              <a:srgbClr val="1F6B4D"/>
            </a:solidFill>
            <a:prstDash val="solid"/>
          </a:ln>
        </p:spPr>
      </p:sp>
      <p:sp>
        <p:nvSpPr>
          <p:cNvPr id="3" name="Text 1"/>
          <p:cNvSpPr/>
          <p:nvPr/>
        </p:nvSpPr>
        <p:spPr>
          <a:xfrm>
            <a:off x="932688" y="420624"/>
            <a:ext cx="3840480" cy="228600"/>
          </a:xfrm>
          <a:prstGeom prst="rect">
            <a:avLst/>
          </a:prstGeom>
          <a:noFill/>
          <a:ln/>
        </p:spPr>
        <p:txBody>
          <a:bodyPr wrap="square" lIns="508" tIns="508" rIns="508" bIns="508" rtlCol="0" anchor="t">
            <a:normAutofit/>
          </a:bodyPr>
          <a:lstStyle/>
          <a:p>
            <a:pPr indent="0" marL="0">
              <a:buNone/>
            </a:pPr>
            <a:r>
              <a:rPr lang="en-US" sz="760" b="1" dirty="0">
                <a:solidFill>
                  <a:srgbClr val="1F6B4D"/>
                </a:solidFill>
                <a:latin typeface="Arial" pitchFamily="34" charset="0"/>
                <a:ea typeface="Arial" pitchFamily="34" charset="-122"/>
                <a:cs typeface="Arial" pitchFamily="34" charset="-120"/>
              </a:rPr>
              <a:t>CRITERIA COVERAGE</a:t>
            </a:r>
            <a:endParaRPr lang="en-US" sz="760" dirty="0"/>
          </a:p>
        </p:txBody>
      </p:sp>
      <p:sp>
        <p:nvSpPr>
          <p:cNvPr id="4" name="Text 2"/>
          <p:cNvSpPr/>
          <p:nvPr/>
        </p:nvSpPr>
        <p:spPr>
          <a:xfrm>
            <a:off x="502920" y="758952"/>
            <a:ext cx="9692640" cy="658368"/>
          </a:xfrm>
          <a:prstGeom prst="rect">
            <a:avLst/>
          </a:prstGeom>
          <a:noFill/>
          <a:ln/>
        </p:spPr>
        <p:txBody>
          <a:bodyPr wrap="square" lIns="508" tIns="508" rIns="508" bIns="508" rtlCol="0" anchor="t">
            <a:normAutofit/>
          </a:bodyPr>
          <a:lstStyle/>
          <a:p>
            <a:pPr indent="0" marL="0">
              <a:buNone/>
            </a:pPr>
            <a:r>
              <a:rPr lang="en-US" sz="2200" b="1" dirty="0">
                <a:solidFill>
                  <a:srgbClr val="14211C"/>
                </a:solidFill>
                <a:latin typeface="Georgia" pitchFamily="34" charset="0"/>
                <a:ea typeface="Georgia" pitchFamily="34" charset="-122"/>
                <a:cs typeface="Georgia" pitchFamily="34" charset="-120"/>
              </a:rPr>
              <a:t>The prototype maps directly to the technical requirements.</a:t>
            </a:r>
            <a:endParaRPr lang="en-US" sz="2200" dirty="0"/>
          </a:p>
        </p:txBody>
      </p:sp>
      <p:sp>
        <p:nvSpPr>
          <p:cNvPr id="5" name="Shape 3"/>
          <p:cNvSpPr/>
          <p:nvPr/>
        </p:nvSpPr>
        <p:spPr>
          <a:xfrm>
            <a:off x="502920" y="6428232"/>
            <a:ext cx="10835640" cy="0"/>
          </a:xfrm>
          <a:prstGeom prst="line">
            <a:avLst/>
          </a:prstGeom>
          <a:noFill/>
          <a:ln w="6350">
            <a:solidFill>
              <a:srgbClr val="D8D2C4"/>
            </a:solidFill>
            <a:prstDash val="solid"/>
          </a:ln>
        </p:spPr>
      </p:sp>
      <p:sp>
        <p:nvSpPr>
          <p:cNvPr id="6" name="Text 4"/>
          <p:cNvSpPr/>
          <p:nvPr/>
        </p:nvSpPr>
        <p:spPr>
          <a:xfrm>
            <a:off x="502920" y="6510528"/>
            <a:ext cx="7680960" cy="164592"/>
          </a:xfrm>
          <a:prstGeom prst="rect">
            <a:avLst/>
          </a:prstGeom>
          <a:noFill/>
          <a:ln/>
        </p:spPr>
        <p:txBody>
          <a:bodyPr wrap="square" lIns="508" tIns="508" rIns="508" bIns="508" rtlCol="0" anchor="t">
            <a:normAutofit/>
          </a:bodyPr>
          <a:lstStyle/>
          <a:p>
            <a:pPr indent="0" marL="0">
              <a:buNone/>
            </a:pPr>
            <a:r>
              <a:rPr lang="en-US" sz="680" dirty="0">
                <a:solidFill>
                  <a:srgbClr val="5E6B63"/>
                </a:solidFill>
                <a:latin typeface="Arial" pitchFamily="34" charset="0"/>
                <a:ea typeface="Arial" pitchFamily="34" charset="-122"/>
                <a:cs typeface="Arial" pitchFamily="34" charset="-120"/>
              </a:rPr>
              <a:t>Source: project README, Student Guide, and SRTA3353 Project 2 criteria</a:t>
            </a:r>
            <a:endParaRPr lang="en-US" sz="680" dirty="0"/>
          </a:p>
        </p:txBody>
      </p:sp>
      <p:sp>
        <p:nvSpPr>
          <p:cNvPr id="7" name="Text 5"/>
          <p:cNvSpPr/>
          <p:nvPr/>
        </p:nvSpPr>
        <p:spPr>
          <a:xfrm>
            <a:off x="11064240" y="6510528"/>
            <a:ext cx="457200" cy="164592"/>
          </a:xfrm>
          <a:prstGeom prst="rect">
            <a:avLst/>
          </a:prstGeom>
          <a:noFill/>
          <a:ln/>
        </p:spPr>
        <p:txBody>
          <a:bodyPr wrap="square" lIns="508" tIns="508" rIns="508" bIns="508" rtlCol="0" anchor="t">
            <a:normAutofit/>
          </a:bodyPr>
          <a:lstStyle/>
          <a:p>
            <a:pPr indent="0" marL="0">
              <a:buNone/>
            </a:pPr>
            <a:r>
              <a:rPr lang="en-US" sz="680" b="1" dirty="0">
                <a:solidFill>
                  <a:srgbClr val="5E6B63"/>
                </a:solidFill>
                <a:latin typeface="Arial" pitchFamily="34" charset="0"/>
                <a:ea typeface="Arial" pitchFamily="34" charset="-122"/>
                <a:cs typeface="Arial" pitchFamily="34" charset="-120"/>
              </a:rPr>
              <a:t>03</a:t>
            </a:r>
            <a:endParaRPr lang="en-US" sz="680" dirty="0"/>
          </a:p>
        </p:txBody>
      </p:sp>
      <p:sp>
        <p:nvSpPr>
          <p:cNvPr id="8" name="Shape 6"/>
          <p:cNvSpPr/>
          <p:nvPr/>
        </p:nvSpPr>
        <p:spPr>
          <a:xfrm>
            <a:off x="502920" y="1591056"/>
            <a:ext cx="3063240" cy="393192"/>
          </a:xfrm>
          <a:prstGeom prst="rect">
            <a:avLst/>
          </a:prstGeom>
          <a:solidFill>
            <a:srgbClr val="10251D"/>
          </a:solidFill>
          <a:ln w="8890">
            <a:solidFill>
              <a:srgbClr val="D8D2C4"/>
            </a:solidFill>
            <a:prstDash val="solid"/>
          </a:ln>
        </p:spPr>
      </p:sp>
      <p:sp>
        <p:nvSpPr>
          <p:cNvPr id="9" name="Text 7"/>
          <p:cNvSpPr/>
          <p:nvPr/>
        </p:nvSpPr>
        <p:spPr>
          <a:xfrm>
            <a:off x="576072" y="1664208"/>
            <a:ext cx="2916936" cy="265176"/>
          </a:xfrm>
          <a:prstGeom prst="rect">
            <a:avLst/>
          </a:prstGeom>
          <a:noFill/>
          <a:ln/>
        </p:spPr>
        <p:txBody>
          <a:bodyPr wrap="square" lIns="508" tIns="508" rIns="508" bIns="508" rtlCol="0" anchor="t">
            <a:normAutofit/>
          </a:bodyPr>
          <a:lstStyle/>
          <a:p>
            <a:pPr indent="0" marL="0">
              <a:buNone/>
            </a:pPr>
            <a:r>
              <a:rPr lang="en-US" sz="720" b="1" dirty="0">
                <a:solidFill>
                  <a:srgbClr val="FFFFFF"/>
                </a:solidFill>
                <a:latin typeface="Arial" pitchFamily="34" charset="0"/>
                <a:ea typeface="Arial" pitchFamily="34" charset="-122"/>
                <a:cs typeface="Arial" pitchFamily="34" charset="-120"/>
              </a:rPr>
              <a:t>Assignment requirement</a:t>
            </a:r>
            <a:endParaRPr lang="en-US" sz="720" dirty="0"/>
          </a:p>
        </p:txBody>
      </p:sp>
      <p:sp>
        <p:nvSpPr>
          <p:cNvPr id="10" name="Shape 8"/>
          <p:cNvSpPr/>
          <p:nvPr/>
        </p:nvSpPr>
        <p:spPr>
          <a:xfrm>
            <a:off x="3566160" y="1591056"/>
            <a:ext cx="7223760" cy="393192"/>
          </a:xfrm>
          <a:prstGeom prst="rect">
            <a:avLst/>
          </a:prstGeom>
          <a:solidFill>
            <a:srgbClr val="10251D"/>
          </a:solidFill>
          <a:ln w="8890">
            <a:solidFill>
              <a:srgbClr val="D8D2C4"/>
            </a:solidFill>
            <a:prstDash val="solid"/>
          </a:ln>
        </p:spPr>
      </p:sp>
      <p:sp>
        <p:nvSpPr>
          <p:cNvPr id="11" name="Text 9"/>
          <p:cNvSpPr/>
          <p:nvPr/>
        </p:nvSpPr>
        <p:spPr>
          <a:xfrm>
            <a:off x="3639312" y="1664208"/>
            <a:ext cx="7077456" cy="265176"/>
          </a:xfrm>
          <a:prstGeom prst="rect">
            <a:avLst/>
          </a:prstGeom>
          <a:noFill/>
          <a:ln/>
        </p:spPr>
        <p:txBody>
          <a:bodyPr wrap="square" lIns="508" tIns="508" rIns="508" bIns="508" rtlCol="0" anchor="t">
            <a:normAutofit/>
          </a:bodyPr>
          <a:lstStyle/>
          <a:p>
            <a:pPr indent="0" marL="0">
              <a:buNone/>
            </a:pPr>
            <a:r>
              <a:rPr lang="en-US" sz="720" b="1" dirty="0">
                <a:solidFill>
                  <a:srgbClr val="FFFFFF"/>
                </a:solidFill>
                <a:latin typeface="Arial" pitchFamily="34" charset="0"/>
                <a:ea typeface="Arial" pitchFamily="34" charset="-122"/>
                <a:cs typeface="Arial" pitchFamily="34" charset="-120"/>
              </a:rPr>
              <a:t>Implementation evidence</a:t>
            </a:r>
            <a:endParaRPr lang="en-US" sz="720" dirty="0"/>
          </a:p>
        </p:txBody>
      </p:sp>
      <p:sp>
        <p:nvSpPr>
          <p:cNvPr id="12" name="Shape 10"/>
          <p:cNvSpPr/>
          <p:nvPr/>
        </p:nvSpPr>
        <p:spPr>
          <a:xfrm>
            <a:off x="502920" y="1984248"/>
            <a:ext cx="3063240" cy="393192"/>
          </a:xfrm>
          <a:prstGeom prst="rect">
            <a:avLst/>
          </a:prstGeom>
          <a:solidFill>
            <a:srgbClr val="FBFAF6"/>
          </a:solidFill>
          <a:ln w="8890">
            <a:solidFill>
              <a:srgbClr val="D8D2C4"/>
            </a:solidFill>
            <a:prstDash val="solid"/>
          </a:ln>
        </p:spPr>
      </p:sp>
      <p:sp>
        <p:nvSpPr>
          <p:cNvPr id="13" name="Text 11"/>
          <p:cNvSpPr/>
          <p:nvPr/>
        </p:nvSpPr>
        <p:spPr>
          <a:xfrm>
            <a:off x="576072" y="2057400"/>
            <a:ext cx="2916936" cy="265176"/>
          </a:xfrm>
          <a:prstGeom prst="rect">
            <a:avLst/>
          </a:prstGeom>
          <a:noFill/>
          <a:ln/>
        </p:spPr>
        <p:txBody>
          <a:bodyPr wrap="square" lIns="508" tIns="508" rIns="508" bIns="508" rtlCol="0" anchor="t">
            <a:normAutofit/>
          </a:bodyPr>
          <a:lstStyle/>
          <a:p>
            <a:pPr indent="0" marL="0">
              <a:buNone/>
            </a:pPr>
            <a:r>
              <a:rPr lang="en-US" sz="720" dirty="0">
                <a:solidFill>
                  <a:srgbClr val="14211C"/>
                </a:solidFill>
                <a:latin typeface="Arial" pitchFamily="34" charset="0"/>
                <a:ea typeface="Arial" pitchFamily="34" charset="-122"/>
                <a:cs typeface="Arial" pitchFamily="34" charset="-120"/>
              </a:rPr>
              <a:t>Raspberry Pi / hardware platform</a:t>
            </a:r>
            <a:endParaRPr lang="en-US" sz="720" dirty="0"/>
          </a:p>
        </p:txBody>
      </p:sp>
      <p:sp>
        <p:nvSpPr>
          <p:cNvPr id="14" name="Shape 12"/>
          <p:cNvSpPr/>
          <p:nvPr/>
        </p:nvSpPr>
        <p:spPr>
          <a:xfrm>
            <a:off x="3566160" y="1984248"/>
            <a:ext cx="7223760" cy="393192"/>
          </a:xfrm>
          <a:prstGeom prst="rect">
            <a:avLst/>
          </a:prstGeom>
          <a:solidFill>
            <a:srgbClr val="FBFAF6"/>
          </a:solidFill>
          <a:ln w="8890">
            <a:solidFill>
              <a:srgbClr val="D8D2C4"/>
            </a:solidFill>
            <a:prstDash val="solid"/>
          </a:ln>
        </p:spPr>
      </p:sp>
      <p:sp>
        <p:nvSpPr>
          <p:cNvPr id="15" name="Text 13"/>
          <p:cNvSpPr/>
          <p:nvPr/>
        </p:nvSpPr>
        <p:spPr>
          <a:xfrm>
            <a:off x="3639312" y="2057400"/>
            <a:ext cx="7077456" cy="265176"/>
          </a:xfrm>
          <a:prstGeom prst="rect">
            <a:avLst/>
          </a:prstGeom>
          <a:noFill/>
          <a:ln/>
        </p:spPr>
        <p:txBody>
          <a:bodyPr wrap="square" lIns="508" tIns="508" rIns="508" bIns="508" rtlCol="0" anchor="t">
            <a:normAutofit/>
          </a:bodyPr>
          <a:lstStyle/>
          <a:p>
            <a:pPr indent="0" marL="0">
              <a:buNone/>
            </a:pPr>
            <a:r>
              <a:rPr lang="en-US" sz="720" dirty="0">
                <a:solidFill>
                  <a:srgbClr val="14211C"/>
                </a:solidFill>
                <a:latin typeface="Arial" pitchFamily="34" charset="0"/>
                <a:ea typeface="Arial" pitchFamily="34" charset="-122"/>
                <a:cs typeface="Arial" pitchFamily="34" charset="-120"/>
              </a:rPr>
              <a:t>Raspberry Pi 400 runs full_monitor.py</a:t>
            </a:r>
            <a:endParaRPr lang="en-US" sz="720" dirty="0"/>
          </a:p>
        </p:txBody>
      </p:sp>
      <p:sp>
        <p:nvSpPr>
          <p:cNvPr id="16" name="Shape 14"/>
          <p:cNvSpPr/>
          <p:nvPr/>
        </p:nvSpPr>
        <p:spPr>
          <a:xfrm>
            <a:off x="502920" y="2377440"/>
            <a:ext cx="3063240" cy="393192"/>
          </a:xfrm>
          <a:prstGeom prst="rect">
            <a:avLst/>
          </a:prstGeom>
          <a:solidFill>
            <a:srgbClr val="FFFFFF"/>
          </a:solidFill>
          <a:ln w="8890">
            <a:solidFill>
              <a:srgbClr val="D8D2C4"/>
            </a:solidFill>
            <a:prstDash val="solid"/>
          </a:ln>
        </p:spPr>
      </p:sp>
      <p:sp>
        <p:nvSpPr>
          <p:cNvPr id="17" name="Text 15"/>
          <p:cNvSpPr/>
          <p:nvPr/>
        </p:nvSpPr>
        <p:spPr>
          <a:xfrm>
            <a:off x="576072" y="2450592"/>
            <a:ext cx="2916936" cy="265176"/>
          </a:xfrm>
          <a:prstGeom prst="rect">
            <a:avLst/>
          </a:prstGeom>
          <a:noFill/>
          <a:ln/>
        </p:spPr>
        <p:txBody>
          <a:bodyPr wrap="square" lIns="508" tIns="508" rIns="508" bIns="508" rtlCol="0" anchor="t">
            <a:normAutofit/>
          </a:bodyPr>
          <a:lstStyle/>
          <a:p>
            <a:pPr indent="0" marL="0">
              <a:buNone/>
            </a:pPr>
            <a:r>
              <a:rPr lang="en-US" sz="720" dirty="0">
                <a:solidFill>
                  <a:srgbClr val="14211C"/>
                </a:solidFill>
                <a:latin typeface="Arial" pitchFamily="34" charset="0"/>
                <a:ea typeface="Arial" pitchFamily="34" charset="-122"/>
                <a:cs typeface="Arial" pitchFamily="34" charset="-120"/>
              </a:rPr>
              <a:t>At least three input sensors/values</a:t>
            </a:r>
            <a:endParaRPr lang="en-US" sz="720" dirty="0"/>
          </a:p>
        </p:txBody>
      </p:sp>
      <p:sp>
        <p:nvSpPr>
          <p:cNvPr id="18" name="Shape 16"/>
          <p:cNvSpPr/>
          <p:nvPr/>
        </p:nvSpPr>
        <p:spPr>
          <a:xfrm>
            <a:off x="3566160" y="2377440"/>
            <a:ext cx="7223760" cy="393192"/>
          </a:xfrm>
          <a:prstGeom prst="rect">
            <a:avLst/>
          </a:prstGeom>
          <a:solidFill>
            <a:srgbClr val="FFFFFF"/>
          </a:solidFill>
          <a:ln w="8890">
            <a:solidFill>
              <a:srgbClr val="D8D2C4"/>
            </a:solidFill>
            <a:prstDash val="solid"/>
          </a:ln>
        </p:spPr>
      </p:sp>
      <p:sp>
        <p:nvSpPr>
          <p:cNvPr id="19" name="Text 17"/>
          <p:cNvSpPr/>
          <p:nvPr/>
        </p:nvSpPr>
        <p:spPr>
          <a:xfrm>
            <a:off x="3639312" y="2450592"/>
            <a:ext cx="7077456" cy="265176"/>
          </a:xfrm>
          <a:prstGeom prst="rect">
            <a:avLst/>
          </a:prstGeom>
          <a:noFill/>
          <a:ln/>
        </p:spPr>
        <p:txBody>
          <a:bodyPr wrap="square" lIns="508" tIns="508" rIns="508" bIns="508" rtlCol="0" anchor="t">
            <a:normAutofit/>
          </a:bodyPr>
          <a:lstStyle/>
          <a:p>
            <a:pPr indent="0" marL="0">
              <a:buNone/>
            </a:pPr>
            <a:r>
              <a:rPr lang="en-US" sz="720" dirty="0">
                <a:solidFill>
                  <a:srgbClr val="14211C"/>
                </a:solidFill>
                <a:latin typeface="Arial" pitchFamily="34" charset="0"/>
                <a:ea typeface="Arial" pitchFamily="34" charset="-122"/>
                <a:cs typeface="Arial" pitchFamily="34" charset="-120"/>
              </a:rPr>
              <a:t>DHT11 temperature, DHT11 humidity, soil moisture via MCP3008</a:t>
            </a:r>
            <a:endParaRPr lang="en-US" sz="720" dirty="0"/>
          </a:p>
        </p:txBody>
      </p:sp>
      <p:sp>
        <p:nvSpPr>
          <p:cNvPr id="20" name="Shape 18"/>
          <p:cNvSpPr/>
          <p:nvPr/>
        </p:nvSpPr>
        <p:spPr>
          <a:xfrm>
            <a:off x="502920" y="2770632"/>
            <a:ext cx="3063240" cy="393192"/>
          </a:xfrm>
          <a:prstGeom prst="rect">
            <a:avLst/>
          </a:prstGeom>
          <a:solidFill>
            <a:srgbClr val="FBFAF6"/>
          </a:solidFill>
          <a:ln w="8890">
            <a:solidFill>
              <a:srgbClr val="D8D2C4"/>
            </a:solidFill>
            <a:prstDash val="solid"/>
          </a:ln>
        </p:spPr>
      </p:sp>
      <p:sp>
        <p:nvSpPr>
          <p:cNvPr id="21" name="Text 19"/>
          <p:cNvSpPr/>
          <p:nvPr/>
        </p:nvSpPr>
        <p:spPr>
          <a:xfrm>
            <a:off x="576072" y="2843784"/>
            <a:ext cx="2916936" cy="265176"/>
          </a:xfrm>
          <a:prstGeom prst="rect">
            <a:avLst/>
          </a:prstGeom>
          <a:noFill/>
          <a:ln/>
        </p:spPr>
        <p:txBody>
          <a:bodyPr wrap="square" lIns="508" tIns="508" rIns="508" bIns="508" rtlCol="0" anchor="t">
            <a:normAutofit/>
          </a:bodyPr>
          <a:lstStyle/>
          <a:p>
            <a:pPr indent="0" marL="0">
              <a:buNone/>
            </a:pPr>
            <a:r>
              <a:rPr lang="en-US" sz="720" dirty="0">
                <a:solidFill>
                  <a:srgbClr val="14211C"/>
                </a:solidFill>
                <a:latin typeface="Arial" pitchFamily="34" charset="0"/>
                <a:ea typeface="Arial" pitchFamily="34" charset="-122"/>
                <a:cs typeface="Arial" pitchFamily="34" charset="-120"/>
              </a:rPr>
              <a:t>Output / actuator</a:t>
            </a:r>
            <a:endParaRPr lang="en-US" sz="720" dirty="0"/>
          </a:p>
        </p:txBody>
      </p:sp>
      <p:sp>
        <p:nvSpPr>
          <p:cNvPr id="22" name="Shape 20"/>
          <p:cNvSpPr/>
          <p:nvPr/>
        </p:nvSpPr>
        <p:spPr>
          <a:xfrm>
            <a:off x="3566160" y="2770632"/>
            <a:ext cx="7223760" cy="393192"/>
          </a:xfrm>
          <a:prstGeom prst="rect">
            <a:avLst/>
          </a:prstGeom>
          <a:solidFill>
            <a:srgbClr val="FBFAF6"/>
          </a:solidFill>
          <a:ln w="8890">
            <a:solidFill>
              <a:srgbClr val="D8D2C4"/>
            </a:solidFill>
            <a:prstDash val="solid"/>
          </a:ln>
        </p:spPr>
      </p:sp>
      <p:sp>
        <p:nvSpPr>
          <p:cNvPr id="23" name="Text 21"/>
          <p:cNvSpPr/>
          <p:nvPr/>
        </p:nvSpPr>
        <p:spPr>
          <a:xfrm>
            <a:off x="3639312" y="2843784"/>
            <a:ext cx="7077456" cy="265176"/>
          </a:xfrm>
          <a:prstGeom prst="rect">
            <a:avLst/>
          </a:prstGeom>
          <a:noFill/>
          <a:ln/>
        </p:spPr>
        <p:txBody>
          <a:bodyPr wrap="square" lIns="508" tIns="508" rIns="508" bIns="508" rtlCol="0" anchor="t">
            <a:normAutofit/>
          </a:bodyPr>
          <a:lstStyle/>
          <a:p>
            <a:pPr indent="0" marL="0">
              <a:buNone/>
            </a:pPr>
            <a:r>
              <a:rPr lang="en-US" sz="720" dirty="0">
                <a:solidFill>
                  <a:srgbClr val="14211C"/>
                </a:solidFill>
                <a:latin typeface="Arial" pitchFamily="34" charset="0"/>
                <a:ea typeface="Arial" pitchFamily="34" charset="-122"/>
                <a:cs typeface="Arial" pitchFamily="34" charset="-120"/>
              </a:rPr>
              <a:t>Relay controls DC water pump; OLED shows local status</a:t>
            </a:r>
            <a:endParaRPr lang="en-US" sz="720" dirty="0"/>
          </a:p>
        </p:txBody>
      </p:sp>
      <p:sp>
        <p:nvSpPr>
          <p:cNvPr id="24" name="Shape 22"/>
          <p:cNvSpPr/>
          <p:nvPr/>
        </p:nvSpPr>
        <p:spPr>
          <a:xfrm>
            <a:off x="502920" y="3163824"/>
            <a:ext cx="3063240" cy="393192"/>
          </a:xfrm>
          <a:prstGeom prst="rect">
            <a:avLst/>
          </a:prstGeom>
          <a:solidFill>
            <a:srgbClr val="FFFFFF"/>
          </a:solidFill>
          <a:ln w="8890">
            <a:solidFill>
              <a:srgbClr val="D8D2C4"/>
            </a:solidFill>
            <a:prstDash val="solid"/>
          </a:ln>
        </p:spPr>
      </p:sp>
      <p:sp>
        <p:nvSpPr>
          <p:cNvPr id="25" name="Text 23"/>
          <p:cNvSpPr/>
          <p:nvPr/>
        </p:nvSpPr>
        <p:spPr>
          <a:xfrm>
            <a:off x="576072" y="3236976"/>
            <a:ext cx="2916936" cy="265176"/>
          </a:xfrm>
          <a:prstGeom prst="rect">
            <a:avLst/>
          </a:prstGeom>
          <a:noFill/>
          <a:ln/>
        </p:spPr>
        <p:txBody>
          <a:bodyPr wrap="square" lIns="508" tIns="508" rIns="508" bIns="508" rtlCol="0" anchor="t">
            <a:normAutofit/>
          </a:bodyPr>
          <a:lstStyle/>
          <a:p>
            <a:pPr indent="0" marL="0">
              <a:buNone/>
            </a:pPr>
            <a:r>
              <a:rPr lang="en-US" sz="720" dirty="0">
                <a:solidFill>
                  <a:srgbClr val="14211C"/>
                </a:solidFill>
                <a:latin typeface="Arial" pitchFamily="34" charset="0"/>
                <a:ea typeface="Arial" pitchFamily="34" charset="-122"/>
                <a:cs typeface="Arial" pitchFamily="34" charset="-120"/>
              </a:rPr>
              <a:t>Real-time / near real-time processing</a:t>
            </a:r>
            <a:endParaRPr lang="en-US" sz="720" dirty="0"/>
          </a:p>
        </p:txBody>
      </p:sp>
      <p:sp>
        <p:nvSpPr>
          <p:cNvPr id="26" name="Shape 24"/>
          <p:cNvSpPr/>
          <p:nvPr/>
        </p:nvSpPr>
        <p:spPr>
          <a:xfrm>
            <a:off x="3566160" y="3163824"/>
            <a:ext cx="7223760" cy="393192"/>
          </a:xfrm>
          <a:prstGeom prst="rect">
            <a:avLst/>
          </a:prstGeom>
          <a:solidFill>
            <a:srgbClr val="FFFFFF"/>
          </a:solidFill>
          <a:ln w="8890">
            <a:solidFill>
              <a:srgbClr val="D8D2C4"/>
            </a:solidFill>
            <a:prstDash val="solid"/>
          </a:ln>
        </p:spPr>
      </p:sp>
      <p:sp>
        <p:nvSpPr>
          <p:cNvPr id="27" name="Text 25"/>
          <p:cNvSpPr/>
          <p:nvPr/>
        </p:nvSpPr>
        <p:spPr>
          <a:xfrm>
            <a:off x="3639312" y="3236976"/>
            <a:ext cx="7077456" cy="265176"/>
          </a:xfrm>
          <a:prstGeom prst="rect">
            <a:avLst/>
          </a:prstGeom>
          <a:noFill/>
          <a:ln/>
        </p:spPr>
        <p:txBody>
          <a:bodyPr wrap="square" lIns="508" tIns="508" rIns="508" bIns="508" rtlCol="0" anchor="t">
            <a:normAutofit/>
          </a:bodyPr>
          <a:lstStyle/>
          <a:p>
            <a:pPr indent="0" marL="0">
              <a:buNone/>
            </a:pPr>
            <a:r>
              <a:rPr lang="en-US" sz="720" dirty="0">
                <a:solidFill>
                  <a:srgbClr val="14211C"/>
                </a:solidFill>
                <a:latin typeface="Arial" pitchFamily="34" charset="0"/>
                <a:ea typeface="Arial" pitchFamily="34" charset="-122"/>
                <a:cs typeface="Arial" pitchFamily="34" charset="-120"/>
              </a:rPr>
              <a:t>READ_INTERVAL_SECONDS=600 normally; 10 seconds for demo</a:t>
            </a:r>
            <a:endParaRPr lang="en-US" sz="720" dirty="0"/>
          </a:p>
        </p:txBody>
      </p:sp>
      <p:sp>
        <p:nvSpPr>
          <p:cNvPr id="28" name="Shape 26"/>
          <p:cNvSpPr/>
          <p:nvPr/>
        </p:nvSpPr>
        <p:spPr>
          <a:xfrm>
            <a:off x="502920" y="3557016"/>
            <a:ext cx="3063240" cy="393192"/>
          </a:xfrm>
          <a:prstGeom prst="rect">
            <a:avLst/>
          </a:prstGeom>
          <a:solidFill>
            <a:srgbClr val="FBFAF6"/>
          </a:solidFill>
          <a:ln w="8890">
            <a:solidFill>
              <a:srgbClr val="D8D2C4"/>
            </a:solidFill>
            <a:prstDash val="solid"/>
          </a:ln>
        </p:spPr>
      </p:sp>
      <p:sp>
        <p:nvSpPr>
          <p:cNvPr id="29" name="Text 27"/>
          <p:cNvSpPr/>
          <p:nvPr/>
        </p:nvSpPr>
        <p:spPr>
          <a:xfrm>
            <a:off x="576072" y="3630168"/>
            <a:ext cx="2916936" cy="265176"/>
          </a:xfrm>
          <a:prstGeom prst="rect">
            <a:avLst/>
          </a:prstGeom>
          <a:noFill/>
          <a:ln/>
        </p:spPr>
        <p:txBody>
          <a:bodyPr wrap="square" lIns="508" tIns="508" rIns="508" bIns="508" rtlCol="0" anchor="t">
            <a:normAutofit/>
          </a:bodyPr>
          <a:lstStyle/>
          <a:p>
            <a:pPr indent="0" marL="0">
              <a:buNone/>
            </a:pPr>
            <a:r>
              <a:rPr lang="en-US" sz="720" dirty="0">
                <a:solidFill>
                  <a:srgbClr val="14211C"/>
                </a:solidFill>
                <a:latin typeface="Arial" pitchFamily="34" charset="0"/>
                <a:ea typeface="Arial" pitchFamily="34" charset="-122"/>
                <a:cs typeface="Arial" pitchFamily="34" charset="-120"/>
              </a:rPr>
              <a:t>Two data handling steps</a:t>
            </a:r>
            <a:endParaRPr lang="en-US" sz="720" dirty="0"/>
          </a:p>
        </p:txBody>
      </p:sp>
      <p:sp>
        <p:nvSpPr>
          <p:cNvPr id="30" name="Shape 28"/>
          <p:cNvSpPr/>
          <p:nvPr/>
        </p:nvSpPr>
        <p:spPr>
          <a:xfrm>
            <a:off x="3566160" y="3557016"/>
            <a:ext cx="7223760" cy="393192"/>
          </a:xfrm>
          <a:prstGeom prst="rect">
            <a:avLst/>
          </a:prstGeom>
          <a:solidFill>
            <a:srgbClr val="FBFAF6"/>
          </a:solidFill>
          <a:ln w="8890">
            <a:solidFill>
              <a:srgbClr val="D8D2C4"/>
            </a:solidFill>
            <a:prstDash val="solid"/>
          </a:ln>
        </p:spPr>
      </p:sp>
      <p:sp>
        <p:nvSpPr>
          <p:cNvPr id="31" name="Text 29"/>
          <p:cNvSpPr/>
          <p:nvPr/>
        </p:nvSpPr>
        <p:spPr>
          <a:xfrm>
            <a:off x="3639312" y="3630168"/>
            <a:ext cx="7077456" cy="265176"/>
          </a:xfrm>
          <a:prstGeom prst="rect">
            <a:avLst/>
          </a:prstGeom>
          <a:noFill/>
          <a:ln/>
        </p:spPr>
        <p:txBody>
          <a:bodyPr wrap="square" lIns="508" tIns="508" rIns="508" bIns="508" rtlCol="0" anchor="t">
            <a:normAutofit/>
          </a:bodyPr>
          <a:lstStyle/>
          <a:p>
            <a:pPr indent="0" marL="0">
              <a:buNone/>
            </a:pPr>
            <a:r>
              <a:rPr lang="en-US" sz="720" dirty="0">
                <a:solidFill>
                  <a:srgbClr val="14211C"/>
                </a:solidFill>
                <a:latin typeface="Arial" pitchFamily="34" charset="0"/>
                <a:ea typeface="Arial" pitchFamily="34" charset="-122"/>
                <a:cs typeface="Arial" pitchFamily="34" charset="-120"/>
              </a:rPr>
              <a:t>Calibration to percent, thresholding, feature extraction, missing-data handling</a:t>
            </a:r>
            <a:endParaRPr lang="en-US" sz="720" dirty="0"/>
          </a:p>
        </p:txBody>
      </p:sp>
      <p:sp>
        <p:nvSpPr>
          <p:cNvPr id="32" name="Shape 30"/>
          <p:cNvSpPr/>
          <p:nvPr/>
        </p:nvSpPr>
        <p:spPr>
          <a:xfrm>
            <a:off x="502920" y="3950208"/>
            <a:ext cx="3063240" cy="393192"/>
          </a:xfrm>
          <a:prstGeom prst="rect">
            <a:avLst/>
          </a:prstGeom>
          <a:solidFill>
            <a:srgbClr val="FFFFFF"/>
          </a:solidFill>
          <a:ln w="8890">
            <a:solidFill>
              <a:srgbClr val="D8D2C4"/>
            </a:solidFill>
            <a:prstDash val="solid"/>
          </a:ln>
        </p:spPr>
      </p:sp>
      <p:sp>
        <p:nvSpPr>
          <p:cNvPr id="33" name="Text 31"/>
          <p:cNvSpPr/>
          <p:nvPr/>
        </p:nvSpPr>
        <p:spPr>
          <a:xfrm>
            <a:off x="576072" y="4023360"/>
            <a:ext cx="2916936" cy="265176"/>
          </a:xfrm>
          <a:prstGeom prst="rect">
            <a:avLst/>
          </a:prstGeom>
          <a:noFill/>
          <a:ln/>
        </p:spPr>
        <p:txBody>
          <a:bodyPr wrap="square" lIns="508" tIns="508" rIns="508" bIns="508" rtlCol="0" anchor="t">
            <a:normAutofit/>
          </a:bodyPr>
          <a:lstStyle/>
          <a:p>
            <a:pPr indent="0" marL="0">
              <a:buNone/>
            </a:pPr>
            <a:r>
              <a:rPr lang="en-US" sz="720" dirty="0">
                <a:solidFill>
                  <a:srgbClr val="14211C"/>
                </a:solidFill>
                <a:latin typeface="Arial" pitchFamily="34" charset="0"/>
                <a:ea typeface="Arial" pitchFamily="34" charset="-122"/>
                <a:cs typeface="Arial" pitchFamily="34" charset="-120"/>
              </a:rPr>
              <a:t>Decision mechanism</a:t>
            </a:r>
            <a:endParaRPr lang="en-US" sz="720" dirty="0"/>
          </a:p>
        </p:txBody>
      </p:sp>
      <p:sp>
        <p:nvSpPr>
          <p:cNvPr id="34" name="Shape 32"/>
          <p:cNvSpPr/>
          <p:nvPr/>
        </p:nvSpPr>
        <p:spPr>
          <a:xfrm>
            <a:off x="3566160" y="3950208"/>
            <a:ext cx="7223760" cy="393192"/>
          </a:xfrm>
          <a:prstGeom prst="rect">
            <a:avLst/>
          </a:prstGeom>
          <a:solidFill>
            <a:srgbClr val="FFFFFF"/>
          </a:solidFill>
          <a:ln w="8890">
            <a:solidFill>
              <a:srgbClr val="D8D2C4"/>
            </a:solidFill>
            <a:prstDash val="solid"/>
          </a:ln>
        </p:spPr>
      </p:sp>
      <p:sp>
        <p:nvSpPr>
          <p:cNvPr id="35" name="Text 33"/>
          <p:cNvSpPr/>
          <p:nvPr/>
        </p:nvSpPr>
        <p:spPr>
          <a:xfrm>
            <a:off x="3639312" y="4023360"/>
            <a:ext cx="7077456" cy="265176"/>
          </a:xfrm>
          <a:prstGeom prst="rect">
            <a:avLst/>
          </a:prstGeom>
          <a:noFill/>
          <a:ln/>
        </p:spPr>
        <p:txBody>
          <a:bodyPr wrap="square" lIns="508" tIns="508" rIns="508" bIns="508" rtlCol="0" anchor="t">
            <a:normAutofit/>
          </a:bodyPr>
          <a:lstStyle/>
          <a:p>
            <a:pPr indent="0" marL="0">
              <a:buNone/>
            </a:pPr>
            <a:r>
              <a:rPr lang="en-US" sz="720" dirty="0">
                <a:solidFill>
                  <a:srgbClr val="14211C"/>
                </a:solidFill>
                <a:latin typeface="Arial" pitchFamily="34" charset="0"/>
                <a:ea typeface="Arial" pitchFamily="34" charset="-122"/>
                <a:cs typeface="Arial" pitchFamily="34" charset="-120"/>
              </a:rPr>
              <a:t>Hybrid: baseline threshold plus DecisionTreeClassifier prediction</a:t>
            </a:r>
            <a:endParaRPr lang="en-US" sz="720" dirty="0"/>
          </a:p>
        </p:txBody>
      </p:sp>
      <p:sp>
        <p:nvSpPr>
          <p:cNvPr id="36" name="Shape 34"/>
          <p:cNvSpPr/>
          <p:nvPr/>
        </p:nvSpPr>
        <p:spPr>
          <a:xfrm>
            <a:off x="502920" y="4343400"/>
            <a:ext cx="3063240" cy="393192"/>
          </a:xfrm>
          <a:prstGeom prst="rect">
            <a:avLst/>
          </a:prstGeom>
          <a:solidFill>
            <a:srgbClr val="FBFAF6"/>
          </a:solidFill>
          <a:ln w="8890">
            <a:solidFill>
              <a:srgbClr val="D8D2C4"/>
            </a:solidFill>
            <a:prstDash val="solid"/>
          </a:ln>
        </p:spPr>
      </p:sp>
      <p:sp>
        <p:nvSpPr>
          <p:cNvPr id="37" name="Text 35"/>
          <p:cNvSpPr/>
          <p:nvPr/>
        </p:nvSpPr>
        <p:spPr>
          <a:xfrm>
            <a:off x="576072" y="4416552"/>
            <a:ext cx="2916936" cy="265176"/>
          </a:xfrm>
          <a:prstGeom prst="rect">
            <a:avLst/>
          </a:prstGeom>
          <a:noFill/>
          <a:ln/>
        </p:spPr>
        <p:txBody>
          <a:bodyPr wrap="square" lIns="508" tIns="508" rIns="508" bIns="508" rtlCol="0" anchor="t">
            <a:normAutofit/>
          </a:bodyPr>
          <a:lstStyle/>
          <a:p>
            <a:pPr indent="0" marL="0">
              <a:buNone/>
            </a:pPr>
            <a:r>
              <a:rPr lang="en-US" sz="720" dirty="0">
                <a:solidFill>
                  <a:srgbClr val="14211C"/>
                </a:solidFill>
                <a:latin typeface="Arial" pitchFamily="34" charset="0"/>
                <a:ea typeface="Arial" pitchFamily="34" charset="-122"/>
                <a:cs typeface="Arial" pitchFamily="34" charset="-120"/>
              </a:rPr>
              <a:t>Monitoring layer</a:t>
            </a:r>
            <a:endParaRPr lang="en-US" sz="720" dirty="0"/>
          </a:p>
        </p:txBody>
      </p:sp>
      <p:sp>
        <p:nvSpPr>
          <p:cNvPr id="38" name="Shape 36"/>
          <p:cNvSpPr/>
          <p:nvPr/>
        </p:nvSpPr>
        <p:spPr>
          <a:xfrm>
            <a:off x="3566160" y="4343400"/>
            <a:ext cx="7223760" cy="393192"/>
          </a:xfrm>
          <a:prstGeom prst="rect">
            <a:avLst/>
          </a:prstGeom>
          <a:solidFill>
            <a:srgbClr val="FBFAF6"/>
          </a:solidFill>
          <a:ln w="8890">
            <a:solidFill>
              <a:srgbClr val="D8D2C4"/>
            </a:solidFill>
            <a:prstDash val="solid"/>
          </a:ln>
        </p:spPr>
      </p:sp>
      <p:sp>
        <p:nvSpPr>
          <p:cNvPr id="39" name="Text 37"/>
          <p:cNvSpPr/>
          <p:nvPr/>
        </p:nvSpPr>
        <p:spPr>
          <a:xfrm>
            <a:off x="3639312" y="4416552"/>
            <a:ext cx="7077456" cy="265176"/>
          </a:xfrm>
          <a:prstGeom prst="rect">
            <a:avLst/>
          </a:prstGeom>
          <a:noFill/>
          <a:ln/>
        </p:spPr>
        <p:txBody>
          <a:bodyPr wrap="square" lIns="508" tIns="508" rIns="508" bIns="508" rtlCol="0" anchor="t">
            <a:normAutofit/>
          </a:bodyPr>
          <a:lstStyle/>
          <a:p>
            <a:pPr indent="0" marL="0">
              <a:buNone/>
            </a:pPr>
            <a:r>
              <a:rPr lang="en-US" sz="720" dirty="0">
                <a:solidFill>
                  <a:srgbClr val="14211C"/>
                </a:solidFill>
                <a:latin typeface="Arial" pitchFamily="34" charset="0"/>
                <a:ea typeface="Arial" pitchFamily="34" charset="-122"/>
                <a:cs typeface="Arial" pitchFamily="34" charset="-120"/>
              </a:rPr>
              <a:t>Streamlit dashboard plus OLED display</a:t>
            </a:r>
            <a:endParaRPr lang="en-US" sz="720" dirty="0"/>
          </a:p>
        </p:txBody>
      </p:sp>
      <p:sp>
        <p:nvSpPr>
          <p:cNvPr id="40" name="Shape 38"/>
          <p:cNvSpPr/>
          <p:nvPr/>
        </p:nvSpPr>
        <p:spPr>
          <a:xfrm>
            <a:off x="502920" y="4736592"/>
            <a:ext cx="3063240" cy="393192"/>
          </a:xfrm>
          <a:prstGeom prst="rect">
            <a:avLst/>
          </a:prstGeom>
          <a:solidFill>
            <a:srgbClr val="FFFFFF"/>
          </a:solidFill>
          <a:ln w="8890">
            <a:solidFill>
              <a:srgbClr val="D8D2C4"/>
            </a:solidFill>
            <a:prstDash val="solid"/>
          </a:ln>
        </p:spPr>
      </p:sp>
      <p:sp>
        <p:nvSpPr>
          <p:cNvPr id="41" name="Text 39"/>
          <p:cNvSpPr/>
          <p:nvPr/>
        </p:nvSpPr>
        <p:spPr>
          <a:xfrm>
            <a:off x="576072" y="4809744"/>
            <a:ext cx="2916936" cy="265176"/>
          </a:xfrm>
          <a:prstGeom prst="rect">
            <a:avLst/>
          </a:prstGeom>
          <a:noFill/>
          <a:ln/>
        </p:spPr>
        <p:txBody>
          <a:bodyPr wrap="square" lIns="508" tIns="508" rIns="508" bIns="508" rtlCol="0" anchor="t">
            <a:normAutofit/>
          </a:bodyPr>
          <a:lstStyle/>
          <a:p>
            <a:pPr indent="0" marL="0">
              <a:buNone/>
            </a:pPr>
            <a:r>
              <a:rPr lang="en-US" sz="720" dirty="0">
                <a:solidFill>
                  <a:srgbClr val="14211C"/>
                </a:solidFill>
                <a:latin typeface="Arial" pitchFamily="34" charset="0"/>
                <a:ea typeface="Arial" pitchFamily="34" charset="-122"/>
                <a:cs typeface="Arial" pitchFamily="34" charset="-120"/>
              </a:rPr>
              <a:t>Automatic alert/control</a:t>
            </a:r>
            <a:endParaRPr lang="en-US" sz="720" dirty="0"/>
          </a:p>
        </p:txBody>
      </p:sp>
      <p:sp>
        <p:nvSpPr>
          <p:cNvPr id="42" name="Shape 40"/>
          <p:cNvSpPr/>
          <p:nvPr/>
        </p:nvSpPr>
        <p:spPr>
          <a:xfrm>
            <a:off x="3566160" y="4736592"/>
            <a:ext cx="7223760" cy="393192"/>
          </a:xfrm>
          <a:prstGeom prst="rect">
            <a:avLst/>
          </a:prstGeom>
          <a:solidFill>
            <a:srgbClr val="FFFFFF"/>
          </a:solidFill>
          <a:ln w="8890">
            <a:solidFill>
              <a:srgbClr val="D8D2C4"/>
            </a:solidFill>
            <a:prstDash val="solid"/>
          </a:ln>
        </p:spPr>
      </p:sp>
      <p:sp>
        <p:nvSpPr>
          <p:cNvPr id="43" name="Text 41"/>
          <p:cNvSpPr/>
          <p:nvPr/>
        </p:nvSpPr>
        <p:spPr>
          <a:xfrm>
            <a:off x="3639312" y="4809744"/>
            <a:ext cx="7077456" cy="265176"/>
          </a:xfrm>
          <a:prstGeom prst="rect">
            <a:avLst/>
          </a:prstGeom>
          <a:noFill/>
          <a:ln/>
        </p:spPr>
        <p:txBody>
          <a:bodyPr wrap="square" lIns="508" tIns="508" rIns="508" bIns="508" rtlCol="0" anchor="t">
            <a:normAutofit/>
          </a:bodyPr>
          <a:lstStyle/>
          <a:p>
            <a:pPr indent="0" marL="0">
              <a:buNone/>
            </a:pPr>
            <a:r>
              <a:rPr lang="en-US" sz="720" dirty="0">
                <a:solidFill>
                  <a:srgbClr val="14211C"/>
                </a:solidFill>
                <a:latin typeface="Arial" pitchFamily="34" charset="0"/>
                <a:ea typeface="Arial" pitchFamily="34" charset="-122"/>
                <a:cs typeface="Arial" pitchFamily="34" charset="-120"/>
              </a:rPr>
              <a:t>Pump control, Streamlit banners, Telegram notifications</a:t>
            </a:r>
            <a:endParaRPr lang="en-US" sz="720" dirty="0"/>
          </a:p>
        </p:txBody>
      </p:sp>
      <p:sp>
        <p:nvSpPr>
          <p:cNvPr id="44" name="Shape 42"/>
          <p:cNvSpPr/>
          <p:nvPr/>
        </p:nvSpPr>
        <p:spPr>
          <a:xfrm>
            <a:off x="502920" y="5129784"/>
            <a:ext cx="3063240" cy="393192"/>
          </a:xfrm>
          <a:prstGeom prst="rect">
            <a:avLst/>
          </a:prstGeom>
          <a:solidFill>
            <a:srgbClr val="FBFAF6"/>
          </a:solidFill>
          <a:ln w="8890">
            <a:solidFill>
              <a:srgbClr val="D8D2C4"/>
            </a:solidFill>
            <a:prstDash val="solid"/>
          </a:ln>
        </p:spPr>
      </p:sp>
      <p:sp>
        <p:nvSpPr>
          <p:cNvPr id="45" name="Text 43"/>
          <p:cNvSpPr/>
          <p:nvPr/>
        </p:nvSpPr>
        <p:spPr>
          <a:xfrm>
            <a:off x="576072" y="5202936"/>
            <a:ext cx="2916936" cy="265176"/>
          </a:xfrm>
          <a:prstGeom prst="rect">
            <a:avLst/>
          </a:prstGeom>
          <a:noFill/>
          <a:ln/>
        </p:spPr>
        <p:txBody>
          <a:bodyPr wrap="square" lIns="508" tIns="508" rIns="508" bIns="508" rtlCol="0" anchor="t">
            <a:normAutofit/>
          </a:bodyPr>
          <a:lstStyle/>
          <a:p>
            <a:pPr indent="0" marL="0">
              <a:buNone/>
            </a:pPr>
            <a:r>
              <a:rPr lang="en-US" sz="720" dirty="0">
                <a:solidFill>
                  <a:srgbClr val="14211C"/>
                </a:solidFill>
                <a:latin typeface="Arial" pitchFamily="34" charset="0"/>
                <a:ea typeface="Arial" pitchFamily="34" charset="-122"/>
                <a:cs typeface="Arial" pitchFamily="34" charset="-120"/>
              </a:rPr>
              <a:t>IoT visualization</a:t>
            </a:r>
            <a:endParaRPr lang="en-US" sz="720" dirty="0"/>
          </a:p>
        </p:txBody>
      </p:sp>
      <p:sp>
        <p:nvSpPr>
          <p:cNvPr id="46" name="Shape 44"/>
          <p:cNvSpPr/>
          <p:nvPr/>
        </p:nvSpPr>
        <p:spPr>
          <a:xfrm>
            <a:off x="3566160" y="5129784"/>
            <a:ext cx="7223760" cy="393192"/>
          </a:xfrm>
          <a:prstGeom prst="rect">
            <a:avLst/>
          </a:prstGeom>
          <a:solidFill>
            <a:srgbClr val="FBFAF6"/>
          </a:solidFill>
          <a:ln w="8890">
            <a:solidFill>
              <a:srgbClr val="D8D2C4"/>
            </a:solidFill>
            <a:prstDash val="solid"/>
          </a:ln>
        </p:spPr>
      </p:sp>
      <p:sp>
        <p:nvSpPr>
          <p:cNvPr id="47" name="Text 45"/>
          <p:cNvSpPr/>
          <p:nvPr/>
        </p:nvSpPr>
        <p:spPr>
          <a:xfrm>
            <a:off x="3639312" y="5202936"/>
            <a:ext cx="7077456" cy="265176"/>
          </a:xfrm>
          <a:prstGeom prst="rect">
            <a:avLst/>
          </a:prstGeom>
          <a:noFill/>
          <a:ln/>
        </p:spPr>
        <p:txBody>
          <a:bodyPr wrap="square" lIns="508" tIns="508" rIns="508" bIns="508" rtlCol="0" anchor="t">
            <a:normAutofit/>
          </a:bodyPr>
          <a:lstStyle/>
          <a:p>
            <a:pPr indent="0" marL="0">
              <a:buNone/>
            </a:pPr>
            <a:r>
              <a:rPr lang="en-US" sz="720" dirty="0">
                <a:solidFill>
                  <a:srgbClr val="14211C"/>
                </a:solidFill>
                <a:latin typeface="Arial" pitchFamily="34" charset="0"/>
                <a:ea typeface="Arial" pitchFamily="34" charset="-122"/>
                <a:cs typeface="Arial" pitchFamily="34" charset="-120"/>
              </a:rPr>
              <a:t>Streamlit as main dashboard; Favoriot REST payload kept for cloud visualization</a:t>
            </a:r>
            <a:endParaRPr lang="en-US" sz="720" dirty="0"/>
          </a:p>
        </p:txBody>
      </p:sp>
      <p:sp>
        <p:nvSpPr>
          <p:cNvPr id="48" name="Text 46"/>
          <p:cNvSpPr/>
          <p:nvPr/>
        </p:nvSpPr>
        <p:spPr>
          <a:xfrm>
            <a:off x="658368" y="5650992"/>
            <a:ext cx="9509760" cy="201168"/>
          </a:xfrm>
          <a:prstGeom prst="rect">
            <a:avLst/>
          </a:prstGeom>
          <a:noFill/>
          <a:ln/>
        </p:spPr>
        <p:txBody>
          <a:bodyPr wrap="square" lIns="508" tIns="508" rIns="508" bIns="508" rtlCol="0" anchor="t">
            <a:normAutofit/>
          </a:bodyPr>
          <a:lstStyle/>
          <a:p>
            <a:pPr indent="0" marL="0">
              <a:buNone/>
            </a:pPr>
            <a:r>
              <a:rPr lang="en-US" sz="800" b="1" dirty="0">
                <a:solidFill>
                  <a:srgbClr val="1F6B4D"/>
                </a:solidFill>
                <a:latin typeface="Arial" pitchFamily="34" charset="0"/>
                <a:ea typeface="Arial" pitchFamily="34" charset="-122"/>
                <a:cs typeface="Arial" pitchFamily="34" charset="-120"/>
              </a:rPr>
              <a:t>For final submission, include screenshots of Streamlit and Favoriot if the Favoriot device is configured.</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E"/>
        </a:solidFill>
      </p:bgPr>
    </p:bg>
    <p:spTree>
      <p:nvGrpSpPr>
        <p:cNvPr id="1" name=""/>
        <p:cNvGrpSpPr/>
        <p:nvPr/>
      </p:nvGrpSpPr>
      <p:grpSpPr>
        <a:xfrm>
          <a:off x="0" y="0"/>
          <a:ext cx="0" cy="0"/>
          <a:chOff x="0" y="0"/>
          <a:chExt cx="0" cy="0"/>
        </a:xfrm>
      </p:grpSpPr>
      <p:sp>
        <p:nvSpPr>
          <p:cNvPr id="2" name="Shape 0"/>
          <p:cNvSpPr/>
          <p:nvPr/>
        </p:nvSpPr>
        <p:spPr>
          <a:xfrm>
            <a:off x="502920" y="530352"/>
            <a:ext cx="320040" cy="0"/>
          </a:xfrm>
          <a:prstGeom prst="line">
            <a:avLst/>
          </a:prstGeom>
          <a:noFill/>
          <a:ln w="25400">
            <a:solidFill>
              <a:srgbClr val="1F6B4D"/>
            </a:solidFill>
            <a:prstDash val="solid"/>
          </a:ln>
        </p:spPr>
      </p:sp>
      <p:sp>
        <p:nvSpPr>
          <p:cNvPr id="3" name="Text 1"/>
          <p:cNvSpPr/>
          <p:nvPr/>
        </p:nvSpPr>
        <p:spPr>
          <a:xfrm>
            <a:off x="932688" y="420624"/>
            <a:ext cx="3840480" cy="228600"/>
          </a:xfrm>
          <a:prstGeom prst="rect">
            <a:avLst/>
          </a:prstGeom>
          <a:noFill/>
          <a:ln/>
        </p:spPr>
        <p:txBody>
          <a:bodyPr wrap="square" lIns="508" tIns="508" rIns="508" bIns="508" rtlCol="0" anchor="t">
            <a:normAutofit/>
          </a:bodyPr>
          <a:lstStyle/>
          <a:p>
            <a:pPr indent="0" marL="0">
              <a:buNone/>
            </a:pPr>
            <a:r>
              <a:rPr lang="en-US" sz="760" b="1" dirty="0">
                <a:solidFill>
                  <a:srgbClr val="1F6B4D"/>
                </a:solidFill>
                <a:latin typeface="Arial" pitchFamily="34" charset="0"/>
                <a:ea typeface="Arial" pitchFamily="34" charset="-122"/>
                <a:cs typeface="Arial" pitchFamily="34" charset="-120"/>
              </a:rPr>
              <a:t>HARDWARE PROOF</a:t>
            </a:r>
            <a:endParaRPr lang="en-US" sz="760" dirty="0"/>
          </a:p>
        </p:txBody>
      </p:sp>
      <p:sp>
        <p:nvSpPr>
          <p:cNvPr id="4" name="Text 2"/>
          <p:cNvSpPr/>
          <p:nvPr/>
        </p:nvSpPr>
        <p:spPr>
          <a:xfrm>
            <a:off x="502920" y="758952"/>
            <a:ext cx="9692640" cy="658368"/>
          </a:xfrm>
          <a:prstGeom prst="rect">
            <a:avLst/>
          </a:prstGeom>
          <a:noFill/>
          <a:ln/>
        </p:spPr>
        <p:txBody>
          <a:bodyPr wrap="square" lIns="508" tIns="508" rIns="508" bIns="508" rtlCol="0" anchor="t">
            <a:normAutofit/>
          </a:bodyPr>
          <a:lstStyle/>
          <a:p>
            <a:pPr indent="0" marL="0">
              <a:buNone/>
            </a:pPr>
            <a:r>
              <a:rPr lang="en-US" sz="2200" b="1" dirty="0">
                <a:solidFill>
                  <a:srgbClr val="14211C"/>
                </a:solidFill>
                <a:latin typeface="Georgia" pitchFamily="34" charset="0"/>
                <a:ea typeface="Georgia" pitchFamily="34" charset="-122"/>
                <a:cs typeface="Georgia" pitchFamily="34" charset="-120"/>
              </a:rPr>
              <a:t>The hardware path covers sensing, conversion, display, and actuation.</a:t>
            </a:r>
            <a:endParaRPr lang="en-US" sz="2200" dirty="0"/>
          </a:p>
        </p:txBody>
      </p:sp>
      <p:sp>
        <p:nvSpPr>
          <p:cNvPr id="5" name="Shape 3"/>
          <p:cNvSpPr/>
          <p:nvPr/>
        </p:nvSpPr>
        <p:spPr>
          <a:xfrm>
            <a:off x="502920" y="6428232"/>
            <a:ext cx="10835640" cy="0"/>
          </a:xfrm>
          <a:prstGeom prst="line">
            <a:avLst/>
          </a:prstGeom>
          <a:noFill/>
          <a:ln w="6350">
            <a:solidFill>
              <a:srgbClr val="D8D2C4"/>
            </a:solidFill>
            <a:prstDash val="solid"/>
          </a:ln>
        </p:spPr>
      </p:sp>
      <p:sp>
        <p:nvSpPr>
          <p:cNvPr id="6" name="Text 4"/>
          <p:cNvSpPr/>
          <p:nvPr/>
        </p:nvSpPr>
        <p:spPr>
          <a:xfrm>
            <a:off x="502920" y="6510528"/>
            <a:ext cx="7680960" cy="164592"/>
          </a:xfrm>
          <a:prstGeom prst="rect">
            <a:avLst/>
          </a:prstGeom>
          <a:noFill/>
          <a:ln/>
        </p:spPr>
        <p:txBody>
          <a:bodyPr wrap="square" lIns="508" tIns="508" rIns="508" bIns="508" rtlCol="0" anchor="t">
            <a:normAutofit/>
          </a:bodyPr>
          <a:lstStyle/>
          <a:p>
            <a:pPr indent="0" marL="0">
              <a:buNone/>
            </a:pPr>
            <a:r>
              <a:rPr lang="en-US" sz="680" dirty="0">
                <a:solidFill>
                  <a:srgbClr val="5E6B63"/>
                </a:solidFill>
                <a:latin typeface="Arial" pitchFamily="34" charset="0"/>
                <a:ea typeface="Arial" pitchFamily="34" charset="-122"/>
                <a:cs typeface="Arial" pitchFamily="34" charset="-120"/>
              </a:rPr>
              <a:t>Source: project README, Student Guide, and SRTA3353 Project 2 criteria</a:t>
            </a:r>
            <a:endParaRPr lang="en-US" sz="680" dirty="0"/>
          </a:p>
        </p:txBody>
      </p:sp>
      <p:sp>
        <p:nvSpPr>
          <p:cNvPr id="7" name="Text 5"/>
          <p:cNvSpPr/>
          <p:nvPr/>
        </p:nvSpPr>
        <p:spPr>
          <a:xfrm>
            <a:off x="11064240" y="6510528"/>
            <a:ext cx="457200" cy="164592"/>
          </a:xfrm>
          <a:prstGeom prst="rect">
            <a:avLst/>
          </a:prstGeom>
          <a:noFill/>
          <a:ln/>
        </p:spPr>
        <p:txBody>
          <a:bodyPr wrap="square" lIns="508" tIns="508" rIns="508" bIns="508" rtlCol="0" anchor="t">
            <a:normAutofit/>
          </a:bodyPr>
          <a:lstStyle/>
          <a:p>
            <a:pPr indent="0" marL="0">
              <a:buNone/>
            </a:pPr>
            <a:r>
              <a:rPr lang="en-US" sz="680" b="1" dirty="0">
                <a:solidFill>
                  <a:srgbClr val="5E6B63"/>
                </a:solidFill>
                <a:latin typeface="Arial" pitchFamily="34" charset="0"/>
                <a:ea typeface="Arial" pitchFamily="34" charset="-122"/>
                <a:cs typeface="Arial" pitchFamily="34" charset="-120"/>
              </a:rPr>
              <a:t>04</a:t>
            </a:r>
            <a:endParaRPr lang="en-US" sz="680" dirty="0"/>
          </a:p>
        </p:txBody>
      </p:sp>
      <p:sp>
        <p:nvSpPr>
          <p:cNvPr id="8" name="Shape 6"/>
          <p:cNvSpPr/>
          <p:nvPr/>
        </p:nvSpPr>
        <p:spPr>
          <a:xfrm>
            <a:off x="658368" y="1847088"/>
            <a:ext cx="1828800" cy="1078992"/>
          </a:xfrm>
          <a:prstGeom prst="roundRect">
            <a:avLst>
              <a:gd name="adj" fmla="val 6780"/>
            </a:avLst>
          </a:prstGeom>
          <a:solidFill>
            <a:srgbClr val="F9FBF5"/>
          </a:solidFill>
          <a:ln w="8890">
            <a:solidFill>
              <a:srgbClr val="D8D2C4"/>
            </a:solidFill>
            <a:prstDash val="solid"/>
          </a:ln>
        </p:spPr>
      </p:sp>
      <p:sp>
        <p:nvSpPr>
          <p:cNvPr id="9" name="Shape 7"/>
          <p:cNvSpPr/>
          <p:nvPr/>
        </p:nvSpPr>
        <p:spPr>
          <a:xfrm>
            <a:off x="658368" y="1847088"/>
            <a:ext cx="64008" cy="1078992"/>
          </a:xfrm>
          <a:prstGeom prst="rect">
            <a:avLst/>
          </a:prstGeom>
          <a:solidFill>
            <a:srgbClr val="1F6B4D"/>
          </a:solidFill>
          <a:ln w="12700">
            <a:solidFill>
              <a:srgbClr val="1F6B4D"/>
            </a:solidFill>
            <a:prstDash val="solid"/>
          </a:ln>
        </p:spPr>
      </p:sp>
      <p:sp>
        <p:nvSpPr>
          <p:cNvPr id="10" name="Text 8"/>
          <p:cNvSpPr/>
          <p:nvPr/>
        </p:nvSpPr>
        <p:spPr>
          <a:xfrm>
            <a:off x="804672" y="1975104"/>
            <a:ext cx="1572768" cy="201168"/>
          </a:xfrm>
          <a:prstGeom prst="rect">
            <a:avLst/>
          </a:prstGeom>
          <a:noFill/>
          <a:ln/>
        </p:spPr>
        <p:txBody>
          <a:bodyPr wrap="square" lIns="508" tIns="508" rIns="508" bIns="508" rtlCol="0" anchor="t">
            <a:normAutofit/>
          </a:bodyPr>
          <a:lstStyle/>
          <a:p>
            <a:pPr indent="0" marL="0">
              <a:buNone/>
            </a:pPr>
            <a:r>
              <a:rPr lang="en-US" sz="950" b="1" dirty="0">
                <a:solidFill>
                  <a:srgbClr val="14211C"/>
                </a:solidFill>
                <a:latin typeface="Arial" pitchFamily="34" charset="0"/>
                <a:ea typeface="Arial" pitchFamily="34" charset="-122"/>
                <a:cs typeface="Arial" pitchFamily="34" charset="-120"/>
              </a:rPr>
              <a:t>DHT11</a:t>
            </a:r>
            <a:endParaRPr lang="en-US" sz="950" dirty="0"/>
          </a:p>
        </p:txBody>
      </p:sp>
      <p:sp>
        <p:nvSpPr>
          <p:cNvPr id="11" name="Text 9"/>
          <p:cNvSpPr/>
          <p:nvPr/>
        </p:nvSpPr>
        <p:spPr>
          <a:xfrm>
            <a:off x="804672" y="2240280"/>
            <a:ext cx="1572768" cy="621792"/>
          </a:xfrm>
          <a:prstGeom prst="rect">
            <a:avLst/>
          </a:prstGeom>
          <a:noFill/>
          <a:ln/>
        </p:spPr>
        <p:txBody>
          <a:bodyPr wrap="square" lIns="508" tIns="508" rIns="508" bIns="508" rtlCol="0" anchor="t">
            <a:normAutofit/>
          </a:bodyPr>
          <a:lstStyle/>
          <a:p>
            <a:pPr indent="0" marL="0">
              <a:buNone/>
            </a:pPr>
            <a:r>
              <a:rPr lang="en-US" sz="750" dirty="0">
                <a:solidFill>
                  <a:srgbClr val="5E6B63"/>
                </a:solidFill>
                <a:latin typeface="Arial" pitchFamily="34" charset="0"/>
                <a:ea typeface="Arial" pitchFamily="34" charset="-122"/>
                <a:cs typeface="Arial" pitchFamily="34" charset="-120"/>
              </a:rPr>
              <a:t>Temperature and humidity</a:t>
            </a:r>
            <a:endParaRPr lang="en-US" sz="750" dirty="0"/>
          </a:p>
          <a:p>
            <a:pPr indent="0" marL="0">
              <a:buNone/>
            </a:pPr>
            <a:r>
              <a:rPr lang="en-US" sz="750" dirty="0">
                <a:solidFill>
                  <a:srgbClr val="5E6B63"/>
                </a:solidFill>
                <a:latin typeface="Arial" pitchFamily="34" charset="0"/>
                <a:ea typeface="Arial" pitchFamily="34" charset="-122"/>
                <a:cs typeface="Arial" pitchFamily="34" charset="-120"/>
              </a:rPr>
              <a:t>Default pin: board.D4</a:t>
            </a:r>
            <a:endParaRPr lang="en-US" sz="750" dirty="0"/>
          </a:p>
        </p:txBody>
      </p:sp>
      <p:sp>
        <p:nvSpPr>
          <p:cNvPr id="12" name="Shape 10"/>
          <p:cNvSpPr/>
          <p:nvPr/>
        </p:nvSpPr>
        <p:spPr>
          <a:xfrm>
            <a:off x="658368" y="3529584"/>
            <a:ext cx="1828800" cy="896112"/>
          </a:xfrm>
          <a:prstGeom prst="roundRect">
            <a:avLst>
              <a:gd name="adj" fmla="val 8163"/>
            </a:avLst>
          </a:prstGeom>
          <a:solidFill>
            <a:srgbClr val="FFF8F0"/>
          </a:solidFill>
          <a:ln w="8890">
            <a:solidFill>
              <a:srgbClr val="D8D2C4"/>
            </a:solidFill>
            <a:prstDash val="solid"/>
          </a:ln>
        </p:spPr>
      </p:sp>
      <p:sp>
        <p:nvSpPr>
          <p:cNvPr id="13" name="Shape 11"/>
          <p:cNvSpPr/>
          <p:nvPr/>
        </p:nvSpPr>
        <p:spPr>
          <a:xfrm>
            <a:off x="658368" y="3529584"/>
            <a:ext cx="64008" cy="896112"/>
          </a:xfrm>
          <a:prstGeom prst="rect">
            <a:avLst/>
          </a:prstGeom>
          <a:solidFill>
            <a:srgbClr val="E6A33D"/>
          </a:solidFill>
          <a:ln w="12700">
            <a:solidFill>
              <a:srgbClr val="E6A33D"/>
            </a:solidFill>
            <a:prstDash val="solid"/>
          </a:ln>
        </p:spPr>
      </p:sp>
      <p:sp>
        <p:nvSpPr>
          <p:cNvPr id="14" name="Text 12"/>
          <p:cNvSpPr/>
          <p:nvPr/>
        </p:nvSpPr>
        <p:spPr>
          <a:xfrm>
            <a:off x="804672" y="3657600"/>
            <a:ext cx="1572768" cy="201168"/>
          </a:xfrm>
          <a:prstGeom prst="rect">
            <a:avLst/>
          </a:prstGeom>
          <a:noFill/>
          <a:ln/>
        </p:spPr>
        <p:txBody>
          <a:bodyPr wrap="square" lIns="508" tIns="508" rIns="508" bIns="508" rtlCol="0" anchor="t">
            <a:normAutofit/>
          </a:bodyPr>
          <a:lstStyle/>
          <a:p>
            <a:pPr indent="0" marL="0">
              <a:buNone/>
            </a:pPr>
            <a:r>
              <a:rPr lang="en-US" sz="950" b="1" dirty="0">
                <a:solidFill>
                  <a:srgbClr val="14211C"/>
                </a:solidFill>
                <a:latin typeface="Arial" pitchFamily="34" charset="0"/>
                <a:ea typeface="Arial" pitchFamily="34" charset="-122"/>
                <a:cs typeface="Arial" pitchFamily="34" charset="-120"/>
              </a:rPr>
              <a:t>Soil sensor AO</a:t>
            </a:r>
            <a:endParaRPr lang="en-US" sz="950" dirty="0"/>
          </a:p>
        </p:txBody>
      </p:sp>
      <p:sp>
        <p:nvSpPr>
          <p:cNvPr id="15" name="Text 13"/>
          <p:cNvSpPr/>
          <p:nvPr/>
        </p:nvSpPr>
        <p:spPr>
          <a:xfrm>
            <a:off x="804672" y="3922776"/>
            <a:ext cx="1572768" cy="438912"/>
          </a:xfrm>
          <a:prstGeom prst="rect">
            <a:avLst/>
          </a:prstGeom>
          <a:noFill/>
          <a:ln/>
        </p:spPr>
        <p:txBody>
          <a:bodyPr wrap="square" lIns="508" tIns="508" rIns="508" bIns="508" rtlCol="0" anchor="t">
            <a:normAutofit/>
          </a:bodyPr>
          <a:lstStyle/>
          <a:p>
            <a:pPr indent="0" marL="0">
              <a:buNone/>
            </a:pPr>
            <a:r>
              <a:rPr lang="en-US" sz="750" dirty="0">
                <a:solidFill>
                  <a:srgbClr val="5E6B63"/>
                </a:solidFill>
                <a:latin typeface="Arial" pitchFamily="34" charset="0"/>
                <a:ea typeface="Arial" pitchFamily="34" charset="-122"/>
                <a:cs typeface="Arial" pitchFamily="34" charset="-120"/>
              </a:rPr>
              <a:t>Analog moisture signal</a:t>
            </a:r>
            <a:endParaRPr lang="en-US" sz="750" dirty="0"/>
          </a:p>
        </p:txBody>
      </p:sp>
      <p:sp>
        <p:nvSpPr>
          <p:cNvPr id="16" name="Shape 14"/>
          <p:cNvSpPr/>
          <p:nvPr/>
        </p:nvSpPr>
        <p:spPr>
          <a:xfrm>
            <a:off x="3017520" y="3236976"/>
            <a:ext cx="2011680" cy="1188720"/>
          </a:xfrm>
          <a:prstGeom prst="roundRect">
            <a:avLst>
              <a:gd name="adj" fmla="val 6154"/>
            </a:avLst>
          </a:prstGeom>
          <a:solidFill>
            <a:srgbClr val="F5F8FB"/>
          </a:solidFill>
          <a:ln w="8890">
            <a:solidFill>
              <a:srgbClr val="D8D2C4"/>
            </a:solidFill>
            <a:prstDash val="solid"/>
          </a:ln>
        </p:spPr>
      </p:sp>
      <p:sp>
        <p:nvSpPr>
          <p:cNvPr id="17" name="Shape 15"/>
          <p:cNvSpPr/>
          <p:nvPr/>
        </p:nvSpPr>
        <p:spPr>
          <a:xfrm>
            <a:off x="3017520" y="3236976"/>
            <a:ext cx="64008" cy="1188720"/>
          </a:xfrm>
          <a:prstGeom prst="rect">
            <a:avLst/>
          </a:prstGeom>
          <a:solidFill>
            <a:srgbClr val="256A7B"/>
          </a:solidFill>
          <a:ln w="12700">
            <a:solidFill>
              <a:srgbClr val="256A7B"/>
            </a:solidFill>
            <a:prstDash val="solid"/>
          </a:ln>
        </p:spPr>
      </p:sp>
      <p:sp>
        <p:nvSpPr>
          <p:cNvPr id="18" name="Text 16"/>
          <p:cNvSpPr/>
          <p:nvPr/>
        </p:nvSpPr>
        <p:spPr>
          <a:xfrm>
            <a:off x="3163824" y="3364992"/>
            <a:ext cx="1755648" cy="201168"/>
          </a:xfrm>
          <a:prstGeom prst="rect">
            <a:avLst/>
          </a:prstGeom>
          <a:noFill/>
          <a:ln/>
        </p:spPr>
        <p:txBody>
          <a:bodyPr wrap="square" lIns="508" tIns="508" rIns="508" bIns="508" rtlCol="0" anchor="t">
            <a:normAutofit/>
          </a:bodyPr>
          <a:lstStyle/>
          <a:p>
            <a:pPr indent="0" marL="0">
              <a:buNone/>
            </a:pPr>
            <a:r>
              <a:rPr lang="en-US" sz="950" b="1" dirty="0">
                <a:solidFill>
                  <a:srgbClr val="14211C"/>
                </a:solidFill>
                <a:latin typeface="Arial" pitchFamily="34" charset="0"/>
                <a:ea typeface="Arial" pitchFamily="34" charset="-122"/>
                <a:cs typeface="Arial" pitchFamily="34" charset="-120"/>
              </a:rPr>
              <a:t>MCP3008 ADC</a:t>
            </a:r>
            <a:endParaRPr lang="en-US" sz="950" dirty="0"/>
          </a:p>
        </p:txBody>
      </p:sp>
      <p:sp>
        <p:nvSpPr>
          <p:cNvPr id="19" name="Text 17"/>
          <p:cNvSpPr/>
          <p:nvPr/>
        </p:nvSpPr>
        <p:spPr>
          <a:xfrm>
            <a:off x="3163824" y="3630168"/>
            <a:ext cx="1755648" cy="731520"/>
          </a:xfrm>
          <a:prstGeom prst="rect">
            <a:avLst/>
          </a:prstGeom>
          <a:noFill/>
          <a:ln/>
        </p:spPr>
        <p:txBody>
          <a:bodyPr wrap="square" lIns="508" tIns="508" rIns="508" bIns="508" rtlCol="0" anchor="t">
            <a:normAutofit/>
          </a:bodyPr>
          <a:lstStyle/>
          <a:p>
            <a:pPr indent="0" marL="0">
              <a:buNone/>
            </a:pPr>
            <a:r>
              <a:rPr lang="en-US" sz="750" dirty="0">
                <a:solidFill>
                  <a:srgbClr val="5E6B63"/>
                </a:solidFill>
                <a:latin typeface="Arial" pitchFamily="34" charset="0"/>
                <a:ea typeface="Arial" pitchFamily="34" charset="-122"/>
                <a:cs typeface="Arial" pitchFamily="34" charset="-120"/>
              </a:rPr>
              <a:t>SPI analog-to-digital</a:t>
            </a:r>
            <a:endParaRPr lang="en-US" sz="750" dirty="0"/>
          </a:p>
          <a:p>
            <a:pPr indent="0" marL="0">
              <a:buNone/>
            </a:pPr>
            <a:r>
              <a:rPr lang="en-US" sz="750" dirty="0">
                <a:solidFill>
                  <a:srgbClr val="5E6B63"/>
                </a:solidFill>
                <a:latin typeface="Arial" pitchFamily="34" charset="0"/>
                <a:ea typeface="Arial" pitchFamily="34" charset="-122"/>
                <a:cs typeface="Arial" pitchFamily="34" charset="-120"/>
              </a:rPr>
              <a:t>Soil channel: CH0</a:t>
            </a:r>
            <a:endParaRPr lang="en-US" sz="750" dirty="0"/>
          </a:p>
        </p:txBody>
      </p:sp>
      <p:sp>
        <p:nvSpPr>
          <p:cNvPr id="20" name="Shape 18"/>
          <p:cNvSpPr/>
          <p:nvPr/>
        </p:nvSpPr>
        <p:spPr>
          <a:xfrm>
            <a:off x="5715000" y="2615184"/>
            <a:ext cx="2377440" cy="1536192"/>
          </a:xfrm>
          <a:prstGeom prst="roundRect">
            <a:avLst>
              <a:gd name="adj" fmla="val 4762"/>
            </a:avLst>
          </a:prstGeom>
          <a:solidFill>
            <a:srgbClr val="F5FBF6"/>
          </a:solidFill>
          <a:ln w="8890">
            <a:solidFill>
              <a:srgbClr val="D8D2C4"/>
            </a:solidFill>
            <a:prstDash val="solid"/>
          </a:ln>
        </p:spPr>
      </p:sp>
      <p:sp>
        <p:nvSpPr>
          <p:cNvPr id="21" name="Shape 19"/>
          <p:cNvSpPr/>
          <p:nvPr/>
        </p:nvSpPr>
        <p:spPr>
          <a:xfrm>
            <a:off x="5715000" y="2615184"/>
            <a:ext cx="64008" cy="1536192"/>
          </a:xfrm>
          <a:prstGeom prst="rect">
            <a:avLst/>
          </a:prstGeom>
          <a:solidFill>
            <a:srgbClr val="1F6B4D"/>
          </a:solidFill>
          <a:ln w="12700">
            <a:solidFill>
              <a:srgbClr val="1F6B4D"/>
            </a:solidFill>
            <a:prstDash val="solid"/>
          </a:ln>
        </p:spPr>
      </p:sp>
      <p:sp>
        <p:nvSpPr>
          <p:cNvPr id="22" name="Text 20"/>
          <p:cNvSpPr/>
          <p:nvPr/>
        </p:nvSpPr>
        <p:spPr>
          <a:xfrm>
            <a:off x="5861304" y="2743200"/>
            <a:ext cx="2121408" cy="201168"/>
          </a:xfrm>
          <a:prstGeom prst="rect">
            <a:avLst/>
          </a:prstGeom>
          <a:noFill/>
          <a:ln/>
        </p:spPr>
        <p:txBody>
          <a:bodyPr wrap="square" lIns="508" tIns="508" rIns="508" bIns="508" rtlCol="0" anchor="t">
            <a:normAutofit/>
          </a:bodyPr>
          <a:lstStyle/>
          <a:p>
            <a:pPr indent="0" marL="0">
              <a:buNone/>
            </a:pPr>
            <a:r>
              <a:rPr lang="en-US" sz="950" b="1" dirty="0">
                <a:solidFill>
                  <a:srgbClr val="14211C"/>
                </a:solidFill>
                <a:latin typeface="Arial" pitchFamily="34" charset="0"/>
                <a:ea typeface="Arial" pitchFamily="34" charset="-122"/>
                <a:cs typeface="Arial" pitchFamily="34" charset="-120"/>
              </a:rPr>
              <a:t>Raspberry Pi 400</a:t>
            </a:r>
            <a:endParaRPr lang="en-US" sz="950" dirty="0"/>
          </a:p>
        </p:txBody>
      </p:sp>
      <p:sp>
        <p:nvSpPr>
          <p:cNvPr id="23" name="Text 21"/>
          <p:cNvSpPr/>
          <p:nvPr/>
        </p:nvSpPr>
        <p:spPr>
          <a:xfrm>
            <a:off x="5861304" y="3008376"/>
            <a:ext cx="2121408" cy="1078992"/>
          </a:xfrm>
          <a:prstGeom prst="rect">
            <a:avLst/>
          </a:prstGeom>
          <a:noFill/>
          <a:ln/>
        </p:spPr>
        <p:txBody>
          <a:bodyPr wrap="square" lIns="508" tIns="508" rIns="508" bIns="508" rtlCol="0" anchor="t">
            <a:normAutofit/>
          </a:bodyPr>
          <a:lstStyle/>
          <a:p>
            <a:pPr indent="0" marL="0">
              <a:buNone/>
            </a:pPr>
            <a:r>
              <a:rPr lang="en-US" sz="750" dirty="0">
                <a:solidFill>
                  <a:srgbClr val="5E6B63"/>
                </a:solidFill>
                <a:latin typeface="Arial" pitchFamily="34" charset="0"/>
                <a:ea typeface="Arial" pitchFamily="34" charset="-122"/>
                <a:cs typeface="Arial" pitchFamily="34" charset="-120"/>
              </a:rPr>
              <a:t>Reads sensors, preprocesses, predicts, logs CSV, controls relay</a:t>
            </a:r>
            <a:endParaRPr lang="en-US" sz="750" dirty="0"/>
          </a:p>
        </p:txBody>
      </p:sp>
      <p:sp>
        <p:nvSpPr>
          <p:cNvPr id="24" name="Shape 22"/>
          <p:cNvSpPr/>
          <p:nvPr/>
        </p:nvSpPr>
        <p:spPr>
          <a:xfrm>
            <a:off x="8869680" y="1847088"/>
            <a:ext cx="2057400" cy="1078992"/>
          </a:xfrm>
          <a:prstGeom prst="roundRect">
            <a:avLst>
              <a:gd name="adj" fmla="val 6780"/>
            </a:avLst>
          </a:prstGeom>
          <a:solidFill>
            <a:srgbClr val="FFFFFF"/>
          </a:solidFill>
          <a:ln w="8890">
            <a:solidFill>
              <a:srgbClr val="D8D2C4"/>
            </a:solidFill>
            <a:prstDash val="solid"/>
          </a:ln>
        </p:spPr>
      </p:sp>
      <p:sp>
        <p:nvSpPr>
          <p:cNvPr id="25" name="Shape 23"/>
          <p:cNvSpPr/>
          <p:nvPr/>
        </p:nvSpPr>
        <p:spPr>
          <a:xfrm>
            <a:off x="8869680" y="1847088"/>
            <a:ext cx="64008" cy="1078992"/>
          </a:xfrm>
          <a:prstGeom prst="rect">
            <a:avLst/>
          </a:prstGeom>
          <a:solidFill>
            <a:srgbClr val="2D4F73"/>
          </a:solidFill>
          <a:ln w="12700">
            <a:solidFill>
              <a:srgbClr val="2D4F73"/>
            </a:solidFill>
            <a:prstDash val="solid"/>
          </a:ln>
        </p:spPr>
      </p:sp>
      <p:sp>
        <p:nvSpPr>
          <p:cNvPr id="26" name="Text 24"/>
          <p:cNvSpPr/>
          <p:nvPr/>
        </p:nvSpPr>
        <p:spPr>
          <a:xfrm>
            <a:off x="9015984" y="1975104"/>
            <a:ext cx="1801368" cy="201168"/>
          </a:xfrm>
          <a:prstGeom prst="rect">
            <a:avLst/>
          </a:prstGeom>
          <a:noFill/>
          <a:ln/>
        </p:spPr>
        <p:txBody>
          <a:bodyPr wrap="square" lIns="508" tIns="508" rIns="508" bIns="508" rtlCol="0" anchor="t">
            <a:normAutofit/>
          </a:bodyPr>
          <a:lstStyle/>
          <a:p>
            <a:pPr indent="0" marL="0">
              <a:buNone/>
            </a:pPr>
            <a:r>
              <a:rPr lang="en-US" sz="950" b="1" dirty="0">
                <a:solidFill>
                  <a:srgbClr val="14211C"/>
                </a:solidFill>
                <a:latin typeface="Arial" pitchFamily="34" charset="0"/>
                <a:ea typeface="Arial" pitchFamily="34" charset="-122"/>
                <a:cs typeface="Arial" pitchFamily="34" charset="-120"/>
              </a:rPr>
              <a:t>OLED SSD1306</a:t>
            </a:r>
            <a:endParaRPr lang="en-US" sz="950" dirty="0"/>
          </a:p>
        </p:txBody>
      </p:sp>
      <p:sp>
        <p:nvSpPr>
          <p:cNvPr id="27" name="Text 25"/>
          <p:cNvSpPr/>
          <p:nvPr/>
        </p:nvSpPr>
        <p:spPr>
          <a:xfrm>
            <a:off x="9015984" y="2240280"/>
            <a:ext cx="1801368" cy="621792"/>
          </a:xfrm>
          <a:prstGeom prst="rect">
            <a:avLst/>
          </a:prstGeom>
          <a:noFill/>
          <a:ln/>
        </p:spPr>
        <p:txBody>
          <a:bodyPr wrap="square" lIns="508" tIns="508" rIns="508" bIns="508" rtlCol="0" anchor="t">
            <a:normAutofit/>
          </a:bodyPr>
          <a:lstStyle/>
          <a:p>
            <a:pPr indent="0" marL="0">
              <a:buNone/>
            </a:pPr>
            <a:r>
              <a:rPr lang="en-US" sz="750" dirty="0">
                <a:solidFill>
                  <a:srgbClr val="5E6B63"/>
                </a:solidFill>
                <a:latin typeface="Arial" pitchFamily="34" charset="0"/>
                <a:ea typeface="Arial" pitchFamily="34" charset="-122"/>
                <a:cs typeface="Arial" pitchFamily="34" charset="-120"/>
              </a:rPr>
              <a:t>I2C display shows temp, humidity, soil, ML, pump</a:t>
            </a:r>
            <a:endParaRPr lang="en-US" sz="750" dirty="0"/>
          </a:p>
        </p:txBody>
      </p:sp>
      <p:sp>
        <p:nvSpPr>
          <p:cNvPr id="28" name="Shape 26"/>
          <p:cNvSpPr/>
          <p:nvPr/>
        </p:nvSpPr>
        <p:spPr>
          <a:xfrm>
            <a:off x="8869680" y="3529584"/>
            <a:ext cx="2057400" cy="1078992"/>
          </a:xfrm>
          <a:prstGeom prst="roundRect">
            <a:avLst>
              <a:gd name="adj" fmla="val 6780"/>
            </a:avLst>
          </a:prstGeom>
          <a:solidFill>
            <a:srgbClr val="FFF8F0"/>
          </a:solidFill>
          <a:ln w="8890">
            <a:solidFill>
              <a:srgbClr val="D8D2C4"/>
            </a:solidFill>
            <a:prstDash val="solid"/>
          </a:ln>
        </p:spPr>
      </p:sp>
      <p:sp>
        <p:nvSpPr>
          <p:cNvPr id="29" name="Shape 27"/>
          <p:cNvSpPr/>
          <p:nvPr/>
        </p:nvSpPr>
        <p:spPr>
          <a:xfrm>
            <a:off x="8869680" y="3529584"/>
            <a:ext cx="64008" cy="1078992"/>
          </a:xfrm>
          <a:prstGeom prst="rect">
            <a:avLst/>
          </a:prstGeom>
          <a:solidFill>
            <a:srgbClr val="C75454"/>
          </a:solidFill>
          <a:ln w="12700">
            <a:solidFill>
              <a:srgbClr val="C75454"/>
            </a:solidFill>
            <a:prstDash val="solid"/>
          </a:ln>
        </p:spPr>
      </p:sp>
      <p:sp>
        <p:nvSpPr>
          <p:cNvPr id="30" name="Text 28"/>
          <p:cNvSpPr/>
          <p:nvPr/>
        </p:nvSpPr>
        <p:spPr>
          <a:xfrm>
            <a:off x="9015984" y="3657600"/>
            <a:ext cx="1801368" cy="201168"/>
          </a:xfrm>
          <a:prstGeom prst="rect">
            <a:avLst/>
          </a:prstGeom>
          <a:noFill/>
          <a:ln/>
        </p:spPr>
        <p:txBody>
          <a:bodyPr wrap="square" lIns="508" tIns="508" rIns="508" bIns="508" rtlCol="0" anchor="t">
            <a:normAutofit/>
          </a:bodyPr>
          <a:lstStyle/>
          <a:p>
            <a:pPr indent="0" marL="0">
              <a:buNone/>
            </a:pPr>
            <a:r>
              <a:rPr lang="en-US" sz="950" b="1" dirty="0">
                <a:solidFill>
                  <a:srgbClr val="14211C"/>
                </a:solidFill>
                <a:latin typeface="Arial" pitchFamily="34" charset="0"/>
                <a:ea typeface="Arial" pitchFamily="34" charset="-122"/>
                <a:cs typeface="Arial" pitchFamily="34" charset="-120"/>
              </a:rPr>
              <a:t>Relay + pump</a:t>
            </a:r>
            <a:endParaRPr lang="en-US" sz="950" dirty="0"/>
          </a:p>
        </p:txBody>
      </p:sp>
      <p:sp>
        <p:nvSpPr>
          <p:cNvPr id="31" name="Text 29"/>
          <p:cNvSpPr/>
          <p:nvPr/>
        </p:nvSpPr>
        <p:spPr>
          <a:xfrm>
            <a:off x="9015984" y="3922776"/>
            <a:ext cx="1801368" cy="621792"/>
          </a:xfrm>
          <a:prstGeom prst="rect">
            <a:avLst/>
          </a:prstGeom>
          <a:noFill/>
          <a:ln/>
        </p:spPr>
        <p:txBody>
          <a:bodyPr wrap="square" lIns="508" tIns="508" rIns="508" bIns="508" rtlCol="0" anchor="t">
            <a:normAutofit/>
          </a:bodyPr>
          <a:lstStyle/>
          <a:p>
            <a:pPr indent="0" marL="0">
              <a:buNone/>
            </a:pPr>
            <a:r>
              <a:rPr lang="en-US" sz="750" dirty="0">
                <a:solidFill>
                  <a:srgbClr val="5E6B63"/>
                </a:solidFill>
                <a:latin typeface="Arial" pitchFamily="34" charset="0"/>
                <a:ea typeface="Arial" pitchFamily="34" charset="-122"/>
                <a:cs typeface="Arial" pitchFamily="34" charset="-120"/>
              </a:rPr>
              <a:t>GPIO18 active LOW</a:t>
            </a:r>
            <a:endParaRPr lang="en-US" sz="750" dirty="0"/>
          </a:p>
          <a:p>
            <a:pPr indent="0" marL="0">
              <a:buNone/>
            </a:pPr>
            <a:r>
              <a:rPr lang="en-US" sz="750" dirty="0">
                <a:solidFill>
                  <a:srgbClr val="5E6B63"/>
                </a:solidFill>
                <a:latin typeface="Arial" pitchFamily="34" charset="0"/>
                <a:ea typeface="Arial" pitchFamily="34" charset="-122"/>
                <a:cs typeface="Arial" pitchFamily="34" charset="-120"/>
              </a:rPr>
              <a:t>LOW = pump ON</a:t>
            </a:r>
            <a:endParaRPr lang="en-US" sz="750" dirty="0"/>
          </a:p>
        </p:txBody>
      </p:sp>
      <p:sp>
        <p:nvSpPr>
          <p:cNvPr id="32" name="Shape 30"/>
          <p:cNvSpPr/>
          <p:nvPr/>
        </p:nvSpPr>
        <p:spPr>
          <a:xfrm>
            <a:off x="2578608" y="2359152"/>
            <a:ext cx="384048" cy="0"/>
          </a:xfrm>
          <a:prstGeom prst="line">
            <a:avLst/>
          </a:prstGeom>
          <a:noFill/>
          <a:ln w="15240">
            <a:solidFill>
              <a:srgbClr val="1F6B4D"/>
            </a:solidFill>
            <a:prstDash val="solid"/>
            <a:tailEnd type="triangle"/>
          </a:ln>
        </p:spPr>
      </p:sp>
      <p:sp>
        <p:nvSpPr>
          <p:cNvPr id="33" name="Shape 31"/>
          <p:cNvSpPr/>
          <p:nvPr/>
        </p:nvSpPr>
        <p:spPr>
          <a:xfrm>
            <a:off x="2578608" y="3950208"/>
            <a:ext cx="384048" cy="0"/>
          </a:xfrm>
          <a:prstGeom prst="line">
            <a:avLst/>
          </a:prstGeom>
          <a:noFill/>
          <a:ln w="15240">
            <a:solidFill>
              <a:srgbClr val="E6A33D"/>
            </a:solidFill>
            <a:prstDash val="solid"/>
            <a:tailEnd type="triangle"/>
          </a:ln>
        </p:spPr>
      </p:sp>
      <p:sp>
        <p:nvSpPr>
          <p:cNvPr id="34" name="Shape 32"/>
          <p:cNvSpPr/>
          <p:nvPr/>
        </p:nvSpPr>
        <p:spPr>
          <a:xfrm>
            <a:off x="5120640" y="3803904"/>
            <a:ext cx="502920" cy="0"/>
          </a:xfrm>
          <a:prstGeom prst="line">
            <a:avLst/>
          </a:prstGeom>
          <a:noFill/>
          <a:ln w="15240">
            <a:solidFill>
              <a:srgbClr val="256A7B"/>
            </a:solidFill>
            <a:prstDash val="solid"/>
            <a:tailEnd type="triangle"/>
          </a:ln>
        </p:spPr>
      </p:sp>
      <p:sp>
        <p:nvSpPr>
          <p:cNvPr id="35" name="Shape 33"/>
          <p:cNvSpPr/>
          <p:nvPr/>
        </p:nvSpPr>
        <p:spPr>
          <a:xfrm>
            <a:off x="8156448" y="2359152"/>
            <a:ext cx="502920" cy="0"/>
          </a:xfrm>
          <a:prstGeom prst="line">
            <a:avLst/>
          </a:prstGeom>
          <a:noFill/>
          <a:ln w="15240">
            <a:solidFill>
              <a:srgbClr val="2D4F73"/>
            </a:solidFill>
            <a:prstDash val="solid"/>
            <a:tailEnd type="triangle"/>
          </a:ln>
        </p:spPr>
      </p:sp>
      <p:sp>
        <p:nvSpPr>
          <p:cNvPr id="36" name="Shape 34"/>
          <p:cNvSpPr/>
          <p:nvPr/>
        </p:nvSpPr>
        <p:spPr>
          <a:xfrm>
            <a:off x="8156448" y="3950208"/>
            <a:ext cx="502920" cy="0"/>
          </a:xfrm>
          <a:prstGeom prst="line">
            <a:avLst/>
          </a:prstGeom>
          <a:noFill/>
          <a:ln w="15240">
            <a:solidFill>
              <a:srgbClr val="C75454"/>
            </a:solidFill>
            <a:prstDash val="solid"/>
            <a:tailEnd type="triangle"/>
          </a:ln>
        </p:spPr>
      </p:sp>
      <p:sp>
        <p:nvSpPr>
          <p:cNvPr id="37" name="Text 35"/>
          <p:cNvSpPr/>
          <p:nvPr/>
        </p:nvSpPr>
        <p:spPr>
          <a:xfrm>
            <a:off x="822960" y="5166360"/>
            <a:ext cx="9875520" cy="256032"/>
          </a:xfrm>
          <a:prstGeom prst="rect">
            <a:avLst/>
          </a:prstGeom>
          <a:noFill/>
          <a:ln/>
        </p:spPr>
        <p:txBody>
          <a:bodyPr wrap="square" lIns="508" tIns="508" rIns="508" bIns="508" rtlCol="0" anchor="t">
            <a:normAutofit/>
          </a:bodyPr>
          <a:lstStyle/>
          <a:p>
            <a:pPr indent="0" marL="0">
              <a:buNone/>
            </a:pPr>
            <a:r>
              <a:rPr lang="en-US" sz="900" b="1" dirty="0">
                <a:solidFill>
                  <a:srgbClr val="5E6B63"/>
                </a:solidFill>
                <a:latin typeface="Arial" pitchFamily="34" charset="0"/>
                <a:ea typeface="Arial" pitchFamily="34" charset="-122"/>
                <a:cs typeface="Arial" pitchFamily="34" charset="-120"/>
              </a:rPr>
              <a:t>Important wiring checks: enable I2C for OLED, enable SPI for MCP3008, verify DHT pin, verify relay active-LOW behavior.</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E"/>
        </a:solidFill>
      </p:bgPr>
    </p:bg>
    <p:spTree>
      <p:nvGrpSpPr>
        <p:cNvPr id="1" name=""/>
        <p:cNvGrpSpPr/>
        <p:nvPr/>
      </p:nvGrpSpPr>
      <p:grpSpPr>
        <a:xfrm>
          <a:off x="0" y="0"/>
          <a:ext cx="0" cy="0"/>
          <a:chOff x="0" y="0"/>
          <a:chExt cx="0" cy="0"/>
        </a:xfrm>
      </p:grpSpPr>
      <p:sp>
        <p:nvSpPr>
          <p:cNvPr id="2" name="Shape 0"/>
          <p:cNvSpPr/>
          <p:nvPr/>
        </p:nvSpPr>
        <p:spPr>
          <a:xfrm>
            <a:off x="502920" y="530352"/>
            <a:ext cx="320040" cy="0"/>
          </a:xfrm>
          <a:prstGeom prst="line">
            <a:avLst/>
          </a:prstGeom>
          <a:noFill/>
          <a:ln w="25400">
            <a:solidFill>
              <a:srgbClr val="1F6B4D"/>
            </a:solidFill>
            <a:prstDash val="solid"/>
          </a:ln>
        </p:spPr>
      </p:sp>
      <p:sp>
        <p:nvSpPr>
          <p:cNvPr id="3" name="Text 1"/>
          <p:cNvSpPr/>
          <p:nvPr/>
        </p:nvSpPr>
        <p:spPr>
          <a:xfrm>
            <a:off x="932688" y="420624"/>
            <a:ext cx="3840480" cy="228600"/>
          </a:xfrm>
          <a:prstGeom prst="rect">
            <a:avLst/>
          </a:prstGeom>
          <a:noFill/>
          <a:ln/>
        </p:spPr>
        <p:txBody>
          <a:bodyPr wrap="square" lIns="508" tIns="508" rIns="508" bIns="508" rtlCol="0" anchor="t">
            <a:normAutofit/>
          </a:bodyPr>
          <a:lstStyle/>
          <a:p>
            <a:pPr indent="0" marL="0">
              <a:buNone/>
            </a:pPr>
            <a:r>
              <a:rPr lang="en-US" sz="760" b="1" dirty="0">
                <a:solidFill>
                  <a:srgbClr val="1F6B4D"/>
                </a:solidFill>
                <a:latin typeface="Arial" pitchFamily="34" charset="0"/>
                <a:ea typeface="Arial" pitchFamily="34" charset="-122"/>
                <a:cs typeface="Arial" pitchFamily="34" charset="-120"/>
              </a:rPr>
              <a:t>SOFTWARE FLOW</a:t>
            </a:r>
            <a:endParaRPr lang="en-US" sz="760" dirty="0"/>
          </a:p>
        </p:txBody>
      </p:sp>
      <p:sp>
        <p:nvSpPr>
          <p:cNvPr id="4" name="Text 2"/>
          <p:cNvSpPr/>
          <p:nvPr/>
        </p:nvSpPr>
        <p:spPr>
          <a:xfrm>
            <a:off x="502920" y="758952"/>
            <a:ext cx="9692640" cy="658368"/>
          </a:xfrm>
          <a:prstGeom prst="rect">
            <a:avLst/>
          </a:prstGeom>
          <a:noFill/>
          <a:ln/>
        </p:spPr>
        <p:txBody>
          <a:bodyPr wrap="square" lIns="508" tIns="508" rIns="508" bIns="508" rtlCol="0" anchor="t">
            <a:normAutofit/>
          </a:bodyPr>
          <a:lstStyle/>
          <a:p>
            <a:pPr indent="0" marL="0">
              <a:buNone/>
            </a:pPr>
            <a:r>
              <a:rPr lang="en-US" sz="2200" b="1" dirty="0">
                <a:solidFill>
                  <a:srgbClr val="14211C"/>
                </a:solidFill>
                <a:latin typeface="Georgia" pitchFamily="34" charset="0"/>
                <a:ea typeface="Georgia" pitchFamily="34" charset="-122"/>
                <a:cs typeface="Georgia" pitchFamily="34" charset="-120"/>
              </a:rPr>
              <a:t>One Python loop connects hardware, ML, logging, and dashboards.</a:t>
            </a:r>
            <a:endParaRPr lang="en-US" sz="2200" dirty="0"/>
          </a:p>
        </p:txBody>
      </p:sp>
      <p:sp>
        <p:nvSpPr>
          <p:cNvPr id="5" name="Shape 3"/>
          <p:cNvSpPr/>
          <p:nvPr/>
        </p:nvSpPr>
        <p:spPr>
          <a:xfrm>
            <a:off x="502920" y="6428232"/>
            <a:ext cx="10835640" cy="0"/>
          </a:xfrm>
          <a:prstGeom prst="line">
            <a:avLst/>
          </a:prstGeom>
          <a:noFill/>
          <a:ln w="6350">
            <a:solidFill>
              <a:srgbClr val="D8D2C4"/>
            </a:solidFill>
            <a:prstDash val="solid"/>
          </a:ln>
        </p:spPr>
      </p:sp>
      <p:sp>
        <p:nvSpPr>
          <p:cNvPr id="6" name="Text 4"/>
          <p:cNvSpPr/>
          <p:nvPr/>
        </p:nvSpPr>
        <p:spPr>
          <a:xfrm>
            <a:off x="502920" y="6510528"/>
            <a:ext cx="7680960" cy="164592"/>
          </a:xfrm>
          <a:prstGeom prst="rect">
            <a:avLst/>
          </a:prstGeom>
          <a:noFill/>
          <a:ln/>
        </p:spPr>
        <p:txBody>
          <a:bodyPr wrap="square" lIns="508" tIns="508" rIns="508" bIns="508" rtlCol="0" anchor="t">
            <a:normAutofit/>
          </a:bodyPr>
          <a:lstStyle/>
          <a:p>
            <a:pPr indent="0" marL="0">
              <a:buNone/>
            </a:pPr>
            <a:r>
              <a:rPr lang="en-US" sz="680" dirty="0">
                <a:solidFill>
                  <a:srgbClr val="5E6B63"/>
                </a:solidFill>
                <a:latin typeface="Arial" pitchFamily="34" charset="0"/>
                <a:ea typeface="Arial" pitchFamily="34" charset="-122"/>
                <a:cs typeface="Arial" pitchFamily="34" charset="-120"/>
              </a:rPr>
              <a:t>Source: project README, Student Guide, and SRTA3353 Project 2 criteria</a:t>
            </a:r>
            <a:endParaRPr lang="en-US" sz="680" dirty="0"/>
          </a:p>
        </p:txBody>
      </p:sp>
      <p:sp>
        <p:nvSpPr>
          <p:cNvPr id="7" name="Text 5"/>
          <p:cNvSpPr/>
          <p:nvPr/>
        </p:nvSpPr>
        <p:spPr>
          <a:xfrm>
            <a:off x="11064240" y="6510528"/>
            <a:ext cx="457200" cy="164592"/>
          </a:xfrm>
          <a:prstGeom prst="rect">
            <a:avLst/>
          </a:prstGeom>
          <a:noFill/>
          <a:ln/>
        </p:spPr>
        <p:txBody>
          <a:bodyPr wrap="square" lIns="508" tIns="508" rIns="508" bIns="508" rtlCol="0" anchor="t">
            <a:normAutofit/>
          </a:bodyPr>
          <a:lstStyle/>
          <a:p>
            <a:pPr indent="0" marL="0">
              <a:buNone/>
            </a:pPr>
            <a:r>
              <a:rPr lang="en-US" sz="680" b="1" dirty="0">
                <a:solidFill>
                  <a:srgbClr val="5E6B63"/>
                </a:solidFill>
                <a:latin typeface="Arial" pitchFamily="34" charset="0"/>
                <a:ea typeface="Arial" pitchFamily="34" charset="-122"/>
                <a:cs typeface="Arial" pitchFamily="34" charset="-120"/>
              </a:rPr>
              <a:t>05</a:t>
            </a:r>
            <a:endParaRPr lang="en-US" sz="680" dirty="0"/>
          </a:p>
        </p:txBody>
      </p:sp>
      <p:sp>
        <p:nvSpPr>
          <p:cNvPr id="8" name="Shape 6"/>
          <p:cNvSpPr/>
          <p:nvPr/>
        </p:nvSpPr>
        <p:spPr>
          <a:xfrm>
            <a:off x="594360" y="2240280"/>
            <a:ext cx="1645920" cy="987552"/>
          </a:xfrm>
          <a:prstGeom prst="roundRect">
            <a:avLst>
              <a:gd name="adj" fmla="val 7407"/>
            </a:avLst>
          </a:prstGeom>
          <a:solidFill>
            <a:srgbClr val="FFFFFF"/>
          </a:solidFill>
          <a:ln w="8890">
            <a:solidFill>
              <a:srgbClr val="D8D2C4"/>
            </a:solidFill>
            <a:prstDash val="solid"/>
          </a:ln>
        </p:spPr>
      </p:sp>
      <p:sp>
        <p:nvSpPr>
          <p:cNvPr id="9" name="Shape 7"/>
          <p:cNvSpPr/>
          <p:nvPr/>
        </p:nvSpPr>
        <p:spPr>
          <a:xfrm>
            <a:off x="594360" y="2240280"/>
            <a:ext cx="64008" cy="987552"/>
          </a:xfrm>
          <a:prstGeom prst="rect">
            <a:avLst/>
          </a:prstGeom>
          <a:solidFill>
            <a:srgbClr val="1F6B4D"/>
          </a:solidFill>
          <a:ln w="12700">
            <a:solidFill>
              <a:srgbClr val="1F6B4D"/>
            </a:solidFill>
            <a:prstDash val="solid"/>
          </a:ln>
        </p:spPr>
      </p:sp>
      <p:sp>
        <p:nvSpPr>
          <p:cNvPr id="10" name="Text 8"/>
          <p:cNvSpPr/>
          <p:nvPr/>
        </p:nvSpPr>
        <p:spPr>
          <a:xfrm>
            <a:off x="740664" y="2368296"/>
            <a:ext cx="1389888" cy="201168"/>
          </a:xfrm>
          <a:prstGeom prst="rect">
            <a:avLst/>
          </a:prstGeom>
          <a:noFill/>
          <a:ln/>
        </p:spPr>
        <p:txBody>
          <a:bodyPr wrap="square" lIns="508" tIns="508" rIns="508" bIns="508" rtlCol="0" anchor="t">
            <a:normAutofit/>
          </a:bodyPr>
          <a:lstStyle/>
          <a:p>
            <a:pPr indent="0" marL="0">
              <a:buNone/>
            </a:pPr>
            <a:r>
              <a:rPr lang="en-US" sz="950" b="1" dirty="0">
                <a:solidFill>
                  <a:srgbClr val="14211C"/>
                </a:solidFill>
                <a:latin typeface="Arial" pitchFamily="34" charset="0"/>
                <a:ea typeface="Arial" pitchFamily="34" charset="-122"/>
                <a:cs typeface="Arial" pitchFamily="34" charset="-120"/>
              </a:rPr>
              <a:t>Sensors</a:t>
            </a:r>
            <a:endParaRPr lang="en-US" sz="950" dirty="0"/>
          </a:p>
        </p:txBody>
      </p:sp>
      <p:sp>
        <p:nvSpPr>
          <p:cNvPr id="11" name="Text 9"/>
          <p:cNvSpPr/>
          <p:nvPr/>
        </p:nvSpPr>
        <p:spPr>
          <a:xfrm>
            <a:off x="740664" y="2633472"/>
            <a:ext cx="1389888" cy="530352"/>
          </a:xfrm>
          <a:prstGeom prst="rect">
            <a:avLst/>
          </a:prstGeom>
          <a:noFill/>
          <a:ln/>
        </p:spPr>
        <p:txBody>
          <a:bodyPr wrap="square" lIns="508" tIns="508" rIns="508" bIns="508" rtlCol="0" anchor="t">
            <a:normAutofit/>
          </a:bodyPr>
          <a:lstStyle/>
          <a:p>
            <a:pPr indent="0" marL="0">
              <a:buNone/>
            </a:pPr>
            <a:r>
              <a:rPr lang="en-US" sz="750" dirty="0">
                <a:solidFill>
                  <a:srgbClr val="5E6B63"/>
                </a:solidFill>
                <a:latin typeface="Arial" pitchFamily="34" charset="0"/>
                <a:ea typeface="Arial" pitchFamily="34" charset="-122"/>
                <a:cs typeface="Arial" pitchFamily="34" charset="-120"/>
              </a:rPr>
              <a:t>DHT11 + soil AO</a:t>
            </a:r>
            <a:endParaRPr lang="en-US" sz="750" dirty="0"/>
          </a:p>
        </p:txBody>
      </p:sp>
      <p:sp>
        <p:nvSpPr>
          <p:cNvPr id="12" name="Shape 10"/>
          <p:cNvSpPr/>
          <p:nvPr/>
        </p:nvSpPr>
        <p:spPr>
          <a:xfrm>
            <a:off x="2313432" y="2724912"/>
            <a:ext cx="292608" cy="0"/>
          </a:xfrm>
          <a:prstGeom prst="line">
            <a:avLst/>
          </a:prstGeom>
          <a:noFill/>
          <a:ln w="15240">
            <a:solidFill>
              <a:srgbClr val="256A7B"/>
            </a:solidFill>
            <a:prstDash val="solid"/>
            <a:tailEnd type="triangle"/>
          </a:ln>
        </p:spPr>
      </p:sp>
      <p:sp>
        <p:nvSpPr>
          <p:cNvPr id="13" name="Shape 11"/>
          <p:cNvSpPr/>
          <p:nvPr/>
        </p:nvSpPr>
        <p:spPr>
          <a:xfrm>
            <a:off x="2788920" y="2240280"/>
            <a:ext cx="1645920" cy="987552"/>
          </a:xfrm>
          <a:prstGeom prst="roundRect">
            <a:avLst>
              <a:gd name="adj" fmla="val 7407"/>
            </a:avLst>
          </a:prstGeom>
          <a:solidFill>
            <a:srgbClr val="F5FBF6"/>
          </a:solidFill>
          <a:ln w="8890">
            <a:solidFill>
              <a:srgbClr val="D8D2C4"/>
            </a:solidFill>
            <a:prstDash val="solid"/>
          </a:ln>
        </p:spPr>
      </p:sp>
      <p:sp>
        <p:nvSpPr>
          <p:cNvPr id="14" name="Shape 12"/>
          <p:cNvSpPr/>
          <p:nvPr/>
        </p:nvSpPr>
        <p:spPr>
          <a:xfrm>
            <a:off x="2788920" y="2240280"/>
            <a:ext cx="64008" cy="987552"/>
          </a:xfrm>
          <a:prstGeom prst="rect">
            <a:avLst/>
          </a:prstGeom>
          <a:solidFill>
            <a:srgbClr val="1F6B4D"/>
          </a:solidFill>
          <a:ln w="12700">
            <a:solidFill>
              <a:srgbClr val="1F6B4D"/>
            </a:solidFill>
            <a:prstDash val="solid"/>
          </a:ln>
        </p:spPr>
      </p:sp>
      <p:sp>
        <p:nvSpPr>
          <p:cNvPr id="15" name="Text 13"/>
          <p:cNvSpPr/>
          <p:nvPr/>
        </p:nvSpPr>
        <p:spPr>
          <a:xfrm>
            <a:off x="2935224" y="2368296"/>
            <a:ext cx="1389888" cy="201168"/>
          </a:xfrm>
          <a:prstGeom prst="rect">
            <a:avLst/>
          </a:prstGeom>
          <a:noFill/>
          <a:ln/>
        </p:spPr>
        <p:txBody>
          <a:bodyPr wrap="square" lIns="508" tIns="508" rIns="508" bIns="508" rtlCol="0" anchor="t">
            <a:normAutofit/>
          </a:bodyPr>
          <a:lstStyle/>
          <a:p>
            <a:pPr indent="0" marL="0">
              <a:buNone/>
            </a:pPr>
            <a:r>
              <a:rPr lang="en-US" sz="950" b="1" dirty="0">
                <a:solidFill>
                  <a:srgbClr val="14211C"/>
                </a:solidFill>
                <a:latin typeface="Arial" pitchFamily="34" charset="0"/>
                <a:ea typeface="Arial" pitchFamily="34" charset="-122"/>
                <a:cs typeface="Arial" pitchFamily="34" charset="-120"/>
              </a:rPr>
              <a:t>full_monitor.py</a:t>
            </a:r>
            <a:endParaRPr lang="en-US" sz="950" dirty="0"/>
          </a:p>
        </p:txBody>
      </p:sp>
      <p:sp>
        <p:nvSpPr>
          <p:cNvPr id="16" name="Text 14"/>
          <p:cNvSpPr/>
          <p:nvPr/>
        </p:nvSpPr>
        <p:spPr>
          <a:xfrm>
            <a:off x="2935224" y="2633472"/>
            <a:ext cx="1389888" cy="530352"/>
          </a:xfrm>
          <a:prstGeom prst="rect">
            <a:avLst/>
          </a:prstGeom>
          <a:noFill/>
          <a:ln/>
        </p:spPr>
        <p:txBody>
          <a:bodyPr wrap="square" lIns="508" tIns="508" rIns="508" bIns="508" rtlCol="0" anchor="t">
            <a:normAutofit/>
          </a:bodyPr>
          <a:lstStyle/>
          <a:p>
            <a:pPr indent="0" marL="0">
              <a:buNone/>
            </a:pPr>
            <a:r>
              <a:rPr lang="en-US" sz="750" dirty="0">
                <a:solidFill>
                  <a:srgbClr val="5E6B63"/>
                </a:solidFill>
                <a:latin typeface="Arial" pitchFamily="34" charset="0"/>
                <a:ea typeface="Arial" pitchFamily="34" charset="-122"/>
                <a:cs typeface="Arial" pitchFamily="34" charset="-120"/>
              </a:rPr>
              <a:t>read, preprocess, predict</a:t>
            </a:r>
            <a:endParaRPr lang="en-US" sz="750" dirty="0"/>
          </a:p>
        </p:txBody>
      </p:sp>
      <p:sp>
        <p:nvSpPr>
          <p:cNvPr id="17" name="Shape 15"/>
          <p:cNvSpPr/>
          <p:nvPr/>
        </p:nvSpPr>
        <p:spPr>
          <a:xfrm>
            <a:off x="4507992" y="2724912"/>
            <a:ext cx="292608" cy="0"/>
          </a:xfrm>
          <a:prstGeom prst="line">
            <a:avLst/>
          </a:prstGeom>
          <a:noFill/>
          <a:ln w="15240">
            <a:solidFill>
              <a:srgbClr val="256A7B"/>
            </a:solidFill>
            <a:prstDash val="solid"/>
            <a:tailEnd type="triangle"/>
          </a:ln>
        </p:spPr>
      </p:sp>
      <p:sp>
        <p:nvSpPr>
          <p:cNvPr id="18" name="Shape 16"/>
          <p:cNvSpPr/>
          <p:nvPr/>
        </p:nvSpPr>
        <p:spPr>
          <a:xfrm>
            <a:off x="4983480" y="2240280"/>
            <a:ext cx="1645920" cy="987552"/>
          </a:xfrm>
          <a:prstGeom prst="roundRect">
            <a:avLst>
              <a:gd name="adj" fmla="val 7407"/>
            </a:avLst>
          </a:prstGeom>
          <a:solidFill>
            <a:srgbClr val="FFFFFF"/>
          </a:solidFill>
          <a:ln w="8890">
            <a:solidFill>
              <a:srgbClr val="D8D2C4"/>
            </a:solidFill>
            <a:prstDash val="solid"/>
          </a:ln>
        </p:spPr>
      </p:sp>
      <p:sp>
        <p:nvSpPr>
          <p:cNvPr id="19" name="Shape 17"/>
          <p:cNvSpPr/>
          <p:nvPr/>
        </p:nvSpPr>
        <p:spPr>
          <a:xfrm>
            <a:off x="4983480" y="2240280"/>
            <a:ext cx="64008" cy="987552"/>
          </a:xfrm>
          <a:prstGeom prst="rect">
            <a:avLst/>
          </a:prstGeom>
          <a:solidFill>
            <a:srgbClr val="E6A33D"/>
          </a:solidFill>
          <a:ln w="12700">
            <a:solidFill>
              <a:srgbClr val="E6A33D"/>
            </a:solidFill>
            <a:prstDash val="solid"/>
          </a:ln>
        </p:spPr>
      </p:sp>
      <p:sp>
        <p:nvSpPr>
          <p:cNvPr id="20" name="Text 18"/>
          <p:cNvSpPr/>
          <p:nvPr/>
        </p:nvSpPr>
        <p:spPr>
          <a:xfrm>
            <a:off x="5129784" y="2368296"/>
            <a:ext cx="1389888" cy="201168"/>
          </a:xfrm>
          <a:prstGeom prst="rect">
            <a:avLst/>
          </a:prstGeom>
          <a:noFill/>
          <a:ln/>
        </p:spPr>
        <p:txBody>
          <a:bodyPr wrap="square" lIns="508" tIns="508" rIns="508" bIns="508" rtlCol="0" anchor="t">
            <a:normAutofit/>
          </a:bodyPr>
          <a:lstStyle/>
          <a:p>
            <a:pPr indent="0" marL="0">
              <a:buNone/>
            </a:pPr>
            <a:r>
              <a:rPr lang="en-US" sz="950" b="1" dirty="0">
                <a:solidFill>
                  <a:srgbClr val="14211C"/>
                </a:solidFill>
                <a:latin typeface="Arial" pitchFamily="34" charset="0"/>
                <a:ea typeface="Arial" pitchFamily="34" charset="-122"/>
                <a:cs typeface="Arial" pitchFamily="34" charset="-120"/>
              </a:rPr>
              <a:t>Decision</a:t>
            </a:r>
            <a:endParaRPr lang="en-US" sz="950" dirty="0"/>
          </a:p>
        </p:txBody>
      </p:sp>
      <p:sp>
        <p:nvSpPr>
          <p:cNvPr id="21" name="Text 19"/>
          <p:cNvSpPr/>
          <p:nvPr/>
        </p:nvSpPr>
        <p:spPr>
          <a:xfrm>
            <a:off x="5129784" y="2633472"/>
            <a:ext cx="1389888" cy="530352"/>
          </a:xfrm>
          <a:prstGeom prst="rect">
            <a:avLst/>
          </a:prstGeom>
          <a:noFill/>
          <a:ln/>
        </p:spPr>
        <p:txBody>
          <a:bodyPr wrap="square" lIns="508" tIns="508" rIns="508" bIns="508" rtlCol="0" anchor="t">
            <a:normAutofit/>
          </a:bodyPr>
          <a:lstStyle/>
          <a:p>
            <a:pPr indent="0" marL="0">
              <a:buNone/>
            </a:pPr>
            <a:r>
              <a:rPr lang="en-US" sz="750" dirty="0">
                <a:solidFill>
                  <a:srgbClr val="5E6B63"/>
                </a:solidFill>
                <a:latin typeface="Arial" pitchFamily="34" charset="0"/>
                <a:ea typeface="Arial" pitchFamily="34" charset="-122"/>
                <a:cs typeface="Arial" pitchFamily="34" charset="-120"/>
              </a:rPr>
              <a:t>threshold + ML</a:t>
            </a:r>
            <a:endParaRPr lang="en-US" sz="750" dirty="0"/>
          </a:p>
        </p:txBody>
      </p:sp>
      <p:sp>
        <p:nvSpPr>
          <p:cNvPr id="22" name="Shape 20"/>
          <p:cNvSpPr/>
          <p:nvPr/>
        </p:nvSpPr>
        <p:spPr>
          <a:xfrm>
            <a:off x="6702552" y="2724912"/>
            <a:ext cx="292608" cy="0"/>
          </a:xfrm>
          <a:prstGeom prst="line">
            <a:avLst/>
          </a:prstGeom>
          <a:noFill/>
          <a:ln w="15240">
            <a:solidFill>
              <a:srgbClr val="256A7B"/>
            </a:solidFill>
            <a:prstDash val="solid"/>
            <a:tailEnd type="triangle"/>
          </a:ln>
        </p:spPr>
      </p:sp>
      <p:sp>
        <p:nvSpPr>
          <p:cNvPr id="23" name="Shape 21"/>
          <p:cNvSpPr/>
          <p:nvPr/>
        </p:nvSpPr>
        <p:spPr>
          <a:xfrm>
            <a:off x="7178040" y="2240280"/>
            <a:ext cx="1645920" cy="987552"/>
          </a:xfrm>
          <a:prstGeom prst="roundRect">
            <a:avLst>
              <a:gd name="adj" fmla="val 7407"/>
            </a:avLst>
          </a:prstGeom>
          <a:solidFill>
            <a:srgbClr val="FFFFFF"/>
          </a:solidFill>
          <a:ln w="8890">
            <a:solidFill>
              <a:srgbClr val="D8D2C4"/>
            </a:solidFill>
            <a:prstDash val="solid"/>
          </a:ln>
        </p:spPr>
      </p:sp>
      <p:sp>
        <p:nvSpPr>
          <p:cNvPr id="24" name="Shape 22"/>
          <p:cNvSpPr/>
          <p:nvPr/>
        </p:nvSpPr>
        <p:spPr>
          <a:xfrm>
            <a:off x="7178040" y="2240280"/>
            <a:ext cx="64008" cy="987552"/>
          </a:xfrm>
          <a:prstGeom prst="rect">
            <a:avLst/>
          </a:prstGeom>
          <a:solidFill>
            <a:srgbClr val="1F6B4D"/>
          </a:solidFill>
          <a:ln w="12700">
            <a:solidFill>
              <a:srgbClr val="1F6B4D"/>
            </a:solidFill>
            <a:prstDash val="solid"/>
          </a:ln>
        </p:spPr>
      </p:sp>
      <p:sp>
        <p:nvSpPr>
          <p:cNvPr id="25" name="Text 23"/>
          <p:cNvSpPr/>
          <p:nvPr/>
        </p:nvSpPr>
        <p:spPr>
          <a:xfrm>
            <a:off x="7324344" y="2368296"/>
            <a:ext cx="1389888" cy="201168"/>
          </a:xfrm>
          <a:prstGeom prst="rect">
            <a:avLst/>
          </a:prstGeom>
          <a:noFill/>
          <a:ln/>
        </p:spPr>
        <p:txBody>
          <a:bodyPr wrap="square" lIns="508" tIns="508" rIns="508" bIns="508" rtlCol="0" anchor="t">
            <a:normAutofit/>
          </a:bodyPr>
          <a:lstStyle/>
          <a:p>
            <a:pPr indent="0" marL="0">
              <a:buNone/>
            </a:pPr>
            <a:r>
              <a:rPr lang="en-US" sz="950" b="1" dirty="0">
                <a:solidFill>
                  <a:srgbClr val="14211C"/>
                </a:solidFill>
                <a:latin typeface="Arial" pitchFamily="34" charset="0"/>
                <a:ea typeface="Arial" pitchFamily="34" charset="-122"/>
                <a:cs typeface="Arial" pitchFamily="34" charset="-120"/>
              </a:rPr>
              <a:t>Outputs</a:t>
            </a:r>
            <a:endParaRPr lang="en-US" sz="950" dirty="0"/>
          </a:p>
        </p:txBody>
      </p:sp>
      <p:sp>
        <p:nvSpPr>
          <p:cNvPr id="26" name="Text 24"/>
          <p:cNvSpPr/>
          <p:nvPr/>
        </p:nvSpPr>
        <p:spPr>
          <a:xfrm>
            <a:off x="7324344" y="2633472"/>
            <a:ext cx="1389888" cy="530352"/>
          </a:xfrm>
          <a:prstGeom prst="rect">
            <a:avLst/>
          </a:prstGeom>
          <a:noFill/>
          <a:ln/>
        </p:spPr>
        <p:txBody>
          <a:bodyPr wrap="square" lIns="508" tIns="508" rIns="508" bIns="508" rtlCol="0" anchor="t">
            <a:normAutofit/>
          </a:bodyPr>
          <a:lstStyle/>
          <a:p>
            <a:pPr indent="0" marL="0">
              <a:buNone/>
            </a:pPr>
            <a:r>
              <a:rPr lang="en-US" sz="750" dirty="0">
                <a:solidFill>
                  <a:srgbClr val="5E6B63"/>
                </a:solidFill>
                <a:latin typeface="Arial" pitchFamily="34" charset="0"/>
                <a:ea typeface="Arial" pitchFamily="34" charset="-122"/>
                <a:cs typeface="Arial" pitchFamily="34" charset="-120"/>
              </a:rPr>
              <a:t>pump, OLED, alerts</a:t>
            </a:r>
            <a:endParaRPr lang="en-US" sz="750" dirty="0"/>
          </a:p>
        </p:txBody>
      </p:sp>
      <p:sp>
        <p:nvSpPr>
          <p:cNvPr id="27" name="Shape 25"/>
          <p:cNvSpPr/>
          <p:nvPr/>
        </p:nvSpPr>
        <p:spPr>
          <a:xfrm>
            <a:off x="8897112" y="2724912"/>
            <a:ext cx="292608" cy="0"/>
          </a:xfrm>
          <a:prstGeom prst="line">
            <a:avLst/>
          </a:prstGeom>
          <a:noFill/>
          <a:ln w="15240">
            <a:solidFill>
              <a:srgbClr val="256A7B"/>
            </a:solidFill>
            <a:prstDash val="solid"/>
            <a:tailEnd type="triangle"/>
          </a:ln>
        </p:spPr>
      </p:sp>
      <p:sp>
        <p:nvSpPr>
          <p:cNvPr id="28" name="Shape 26"/>
          <p:cNvSpPr/>
          <p:nvPr/>
        </p:nvSpPr>
        <p:spPr>
          <a:xfrm>
            <a:off x="9372600" y="2240280"/>
            <a:ext cx="1645920" cy="987552"/>
          </a:xfrm>
          <a:prstGeom prst="roundRect">
            <a:avLst>
              <a:gd name="adj" fmla="val 7407"/>
            </a:avLst>
          </a:prstGeom>
          <a:solidFill>
            <a:srgbClr val="FFFFFF"/>
          </a:solidFill>
          <a:ln w="8890">
            <a:solidFill>
              <a:srgbClr val="D8D2C4"/>
            </a:solidFill>
            <a:prstDash val="solid"/>
          </a:ln>
        </p:spPr>
      </p:sp>
      <p:sp>
        <p:nvSpPr>
          <p:cNvPr id="29" name="Shape 27"/>
          <p:cNvSpPr/>
          <p:nvPr/>
        </p:nvSpPr>
        <p:spPr>
          <a:xfrm>
            <a:off x="9372600" y="2240280"/>
            <a:ext cx="64008" cy="987552"/>
          </a:xfrm>
          <a:prstGeom prst="rect">
            <a:avLst/>
          </a:prstGeom>
          <a:solidFill>
            <a:srgbClr val="1F6B4D"/>
          </a:solidFill>
          <a:ln w="12700">
            <a:solidFill>
              <a:srgbClr val="1F6B4D"/>
            </a:solidFill>
            <a:prstDash val="solid"/>
          </a:ln>
        </p:spPr>
      </p:sp>
      <p:sp>
        <p:nvSpPr>
          <p:cNvPr id="30" name="Text 28"/>
          <p:cNvSpPr/>
          <p:nvPr/>
        </p:nvSpPr>
        <p:spPr>
          <a:xfrm>
            <a:off x="9518904" y="2368296"/>
            <a:ext cx="1389888" cy="201168"/>
          </a:xfrm>
          <a:prstGeom prst="rect">
            <a:avLst/>
          </a:prstGeom>
          <a:noFill/>
          <a:ln/>
        </p:spPr>
        <p:txBody>
          <a:bodyPr wrap="square" lIns="508" tIns="508" rIns="508" bIns="508" rtlCol="0" anchor="t">
            <a:normAutofit/>
          </a:bodyPr>
          <a:lstStyle/>
          <a:p>
            <a:pPr indent="0" marL="0">
              <a:buNone/>
            </a:pPr>
            <a:r>
              <a:rPr lang="en-US" sz="950" b="1" dirty="0">
                <a:solidFill>
                  <a:srgbClr val="14211C"/>
                </a:solidFill>
                <a:latin typeface="Arial" pitchFamily="34" charset="0"/>
                <a:ea typeface="Arial" pitchFamily="34" charset="-122"/>
                <a:cs typeface="Arial" pitchFamily="34" charset="-120"/>
              </a:rPr>
              <a:t>Data layer</a:t>
            </a:r>
            <a:endParaRPr lang="en-US" sz="950" dirty="0"/>
          </a:p>
        </p:txBody>
      </p:sp>
      <p:sp>
        <p:nvSpPr>
          <p:cNvPr id="31" name="Text 29"/>
          <p:cNvSpPr/>
          <p:nvPr/>
        </p:nvSpPr>
        <p:spPr>
          <a:xfrm>
            <a:off x="9518904" y="2633472"/>
            <a:ext cx="1389888" cy="530352"/>
          </a:xfrm>
          <a:prstGeom prst="rect">
            <a:avLst/>
          </a:prstGeom>
          <a:noFill/>
          <a:ln/>
        </p:spPr>
        <p:txBody>
          <a:bodyPr wrap="square" lIns="508" tIns="508" rIns="508" bIns="508" rtlCol="0" anchor="t">
            <a:normAutofit/>
          </a:bodyPr>
          <a:lstStyle/>
          <a:p>
            <a:pPr indent="0" marL="0">
              <a:buNone/>
            </a:pPr>
            <a:r>
              <a:rPr lang="en-US" sz="750" dirty="0">
                <a:solidFill>
                  <a:srgbClr val="5E6B63"/>
                </a:solidFill>
                <a:latin typeface="Arial" pitchFamily="34" charset="0"/>
                <a:ea typeface="Arial" pitchFamily="34" charset="-122"/>
                <a:cs typeface="Arial" pitchFamily="34" charset="-120"/>
              </a:rPr>
              <a:t>CSV + dashboard + cloud</a:t>
            </a:r>
            <a:endParaRPr lang="en-US" sz="750" dirty="0"/>
          </a:p>
        </p:txBody>
      </p:sp>
      <p:sp>
        <p:nvSpPr>
          <p:cNvPr id="32" name="Shape 30"/>
          <p:cNvSpPr/>
          <p:nvPr/>
        </p:nvSpPr>
        <p:spPr>
          <a:xfrm>
            <a:off x="1828800" y="4160520"/>
            <a:ext cx="2011680" cy="868680"/>
          </a:xfrm>
          <a:prstGeom prst="roundRect">
            <a:avLst>
              <a:gd name="adj" fmla="val 8421"/>
            </a:avLst>
          </a:prstGeom>
          <a:solidFill>
            <a:srgbClr val="FFF8F0"/>
          </a:solidFill>
          <a:ln w="8890">
            <a:solidFill>
              <a:srgbClr val="D8D2C4"/>
            </a:solidFill>
            <a:prstDash val="solid"/>
          </a:ln>
        </p:spPr>
      </p:sp>
      <p:sp>
        <p:nvSpPr>
          <p:cNvPr id="33" name="Shape 31"/>
          <p:cNvSpPr/>
          <p:nvPr/>
        </p:nvSpPr>
        <p:spPr>
          <a:xfrm>
            <a:off x="1828800" y="4160520"/>
            <a:ext cx="64008" cy="868680"/>
          </a:xfrm>
          <a:prstGeom prst="rect">
            <a:avLst/>
          </a:prstGeom>
          <a:solidFill>
            <a:srgbClr val="E6A33D"/>
          </a:solidFill>
          <a:ln w="12700">
            <a:solidFill>
              <a:srgbClr val="E6A33D"/>
            </a:solidFill>
            <a:prstDash val="solid"/>
          </a:ln>
        </p:spPr>
      </p:sp>
      <p:sp>
        <p:nvSpPr>
          <p:cNvPr id="34" name="Text 32"/>
          <p:cNvSpPr/>
          <p:nvPr/>
        </p:nvSpPr>
        <p:spPr>
          <a:xfrm>
            <a:off x="1975104" y="4288536"/>
            <a:ext cx="1755648" cy="201168"/>
          </a:xfrm>
          <a:prstGeom prst="rect">
            <a:avLst/>
          </a:prstGeom>
          <a:noFill/>
          <a:ln/>
        </p:spPr>
        <p:txBody>
          <a:bodyPr wrap="square" lIns="508" tIns="508" rIns="508" bIns="508" rtlCol="0" anchor="t">
            <a:normAutofit/>
          </a:bodyPr>
          <a:lstStyle/>
          <a:p>
            <a:pPr indent="0" marL="0">
              <a:buNone/>
            </a:pPr>
            <a:r>
              <a:rPr lang="en-US" sz="950" b="1" dirty="0">
                <a:solidFill>
                  <a:srgbClr val="14211C"/>
                </a:solidFill>
                <a:latin typeface="Arial" pitchFamily="34" charset="0"/>
                <a:ea typeface="Arial" pitchFamily="34" charset="-122"/>
                <a:cs typeface="Arial" pitchFamily="34" charset="-120"/>
              </a:rPr>
              <a:t>Telegram</a:t>
            </a:r>
            <a:endParaRPr lang="en-US" sz="950" dirty="0"/>
          </a:p>
        </p:txBody>
      </p:sp>
      <p:sp>
        <p:nvSpPr>
          <p:cNvPr id="35" name="Text 33"/>
          <p:cNvSpPr/>
          <p:nvPr/>
        </p:nvSpPr>
        <p:spPr>
          <a:xfrm>
            <a:off x="1975104" y="4553712"/>
            <a:ext cx="1755648" cy="411480"/>
          </a:xfrm>
          <a:prstGeom prst="rect">
            <a:avLst/>
          </a:prstGeom>
          <a:noFill/>
          <a:ln/>
        </p:spPr>
        <p:txBody>
          <a:bodyPr wrap="square" lIns="508" tIns="508" rIns="508" bIns="508" rtlCol="0" anchor="t">
            <a:normAutofit/>
          </a:bodyPr>
          <a:lstStyle/>
          <a:p>
            <a:pPr indent="0" marL="0">
              <a:buNone/>
            </a:pPr>
            <a:r>
              <a:rPr lang="en-US" sz="750" dirty="0">
                <a:solidFill>
                  <a:srgbClr val="5E6B63"/>
                </a:solidFill>
                <a:latin typeface="Arial" pitchFamily="34" charset="0"/>
                <a:ea typeface="Arial" pitchFamily="34" charset="-122"/>
                <a:cs typeface="Arial" pitchFamily="34" charset="-120"/>
              </a:rPr>
              <a:t>risk alerts with cooldown</a:t>
            </a:r>
            <a:endParaRPr lang="en-US" sz="750" dirty="0"/>
          </a:p>
        </p:txBody>
      </p:sp>
      <p:sp>
        <p:nvSpPr>
          <p:cNvPr id="36" name="Shape 34"/>
          <p:cNvSpPr/>
          <p:nvPr/>
        </p:nvSpPr>
        <p:spPr>
          <a:xfrm>
            <a:off x="4617720" y="4160520"/>
            <a:ext cx="2514600" cy="868680"/>
          </a:xfrm>
          <a:prstGeom prst="roundRect">
            <a:avLst>
              <a:gd name="adj" fmla="val 8421"/>
            </a:avLst>
          </a:prstGeom>
          <a:solidFill>
            <a:srgbClr val="F5F8FB"/>
          </a:solidFill>
          <a:ln w="8890">
            <a:solidFill>
              <a:srgbClr val="D8D2C4"/>
            </a:solidFill>
            <a:prstDash val="solid"/>
          </a:ln>
        </p:spPr>
      </p:sp>
      <p:sp>
        <p:nvSpPr>
          <p:cNvPr id="37" name="Shape 35"/>
          <p:cNvSpPr/>
          <p:nvPr/>
        </p:nvSpPr>
        <p:spPr>
          <a:xfrm>
            <a:off x="4617720" y="4160520"/>
            <a:ext cx="64008" cy="868680"/>
          </a:xfrm>
          <a:prstGeom prst="rect">
            <a:avLst/>
          </a:prstGeom>
          <a:solidFill>
            <a:srgbClr val="256A7B"/>
          </a:solidFill>
          <a:ln w="12700">
            <a:solidFill>
              <a:srgbClr val="256A7B"/>
            </a:solidFill>
            <a:prstDash val="solid"/>
          </a:ln>
        </p:spPr>
      </p:sp>
      <p:sp>
        <p:nvSpPr>
          <p:cNvPr id="38" name="Text 36"/>
          <p:cNvSpPr/>
          <p:nvPr/>
        </p:nvSpPr>
        <p:spPr>
          <a:xfrm>
            <a:off x="4764024" y="4288536"/>
            <a:ext cx="2258568" cy="201168"/>
          </a:xfrm>
          <a:prstGeom prst="rect">
            <a:avLst/>
          </a:prstGeom>
          <a:noFill/>
          <a:ln/>
        </p:spPr>
        <p:txBody>
          <a:bodyPr wrap="square" lIns="508" tIns="508" rIns="508" bIns="508" rtlCol="0" anchor="t">
            <a:normAutofit/>
          </a:bodyPr>
          <a:lstStyle/>
          <a:p>
            <a:pPr indent="0" marL="0">
              <a:buNone/>
            </a:pPr>
            <a:r>
              <a:rPr lang="en-US" sz="950" b="1" dirty="0">
                <a:solidFill>
                  <a:srgbClr val="14211C"/>
                </a:solidFill>
                <a:latin typeface="Arial" pitchFamily="34" charset="0"/>
                <a:ea typeface="Arial" pitchFamily="34" charset="-122"/>
                <a:cs typeface="Arial" pitchFamily="34" charset="-120"/>
              </a:rPr>
              <a:t>Streamlit</a:t>
            </a:r>
            <a:endParaRPr lang="en-US" sz="950" dirty="0"/>
          </a:p>
        </p:txBody>
      </p:sp>
      <p:sp>
        <p:nvSpPr>
          <p:cNvPr id="39" name="Text 37"/>
          <p:cNvSpPr/>
          <p:nvPr/>
        </p:nvSpPr>
        <p:spPr>
          <a:xfrm>
            <a:off x="4764024" y="4553712"/>
            <a:ext cx="2258568" cy="411480"/>
          </a:xfrm>
          <a:prstGeom prst="rect">
            <a:avLst/>
          </a:prstGeom>
          <a:noFill/>
          <a:ln/>
        </p:spPr>
        <p:txBody>
          <a:bodyPr wrap="square" lIns="508" tIns="508" rIns="508" bIns="508" rtlCol="0" anchor="t">
            <a:normAutofit/>
          </a:bodyPr>
          <a:lstStyle/>
          <a:p>
            <a:pPr indent="0" marL="0">
              <a:buNone/>
            </a:pPr>
            <a:r>
              <a:rPr lang="en-US" sz="750" dirty="0">
                <a:solidFill>
                  <a:srgbClr val="5E6B63"/>
                </a:solidFill>
                <a:latin typeface="Arial" pitchFamily="34" charset="0"/>
                <a:ea typeface="Arial" pitchFamily="34" charset="-122"/>
                <a:cs typeface="Arial" pitchFamily="34" charset="-120"/>
              </a:rPr>
              <a:t>latest metrics, charts, debug status</a:t>
            </a:r>
            <a:endParaRPr lang="en-US" sz="750" dirty="0"/>
          </a:p>
        </p:txBody>
      </p:sp>
      <p:sp>
        <p:nvSpPr>
          <p:cNvPr id="40" name="Shape 38"/>
          <p:cNvSpPr/>
          <p:nvPr/>
        </p:nvSpPr>
        <p:spPr>
          <a:xfrm>
            <a:off x="7955280" y="4160520"/>
            <a:ext cx="2011680" cy="868680"/>
          </a:xfrm>
          <a:prstGeom prst="roundRect">
            <a:avLst>
              <a:gd name="adj" fmla="val 8421"/>
            </a:avLst>
          </a:prstGeom>
          <a:solidFill>
            <a:srgbClr val="FFFFFF"/>
          </a:solidFill>
          <a:ln w="8890">
            <a:solidFill>
              <a:srgbClr val="D8D2C4"/>
            </a:solidFill>
            <a:prstDash val="solid"/>
          </a:ln>
        </p:spPr>
      </p:sp>
      <p:sp>
        <p:nvSpPr>
          <p:cNvPr id="41" name="Shape 39"/>
          <p:cNvSpPr/>
          <p:nvPr/>
        </p:nvSpPr>
        <p:spPr>
          <a:xfrm>
            <a:off x="7955280" y="4160520"/>
            <a:ext cx="64008" cy="868680"/>
          </a:xfrm>
          <a:prstGeom prst="rect">
            <a:avLst/>
          </a:prstGeom>
          <a:solidFill>
            <a:srgbClr val="2D4F73"/>
          </a:solidFill>
          <a:ln w="12700">
            <a:solidFill>
              <a:srgbClr val="2D4F73"/>
            </a:solidFill>
            <a:prstDash val="solid"/>
          </a:ln>
        </p:spPr>
      </p:sp>
      <p:sp>
        <p:nvSpPr>
          <p:cNvPr id="42" name="Text 40"/>
          <p:cNvSpPr/>
          <p:nvPr/>
        </p:nvSpPr>
        <p:spPr>
          <a:xfrm>
            <a:off x="8101584" y="4288536"/>
            <a:ext cx="1755648" cy="201168"/>
          </a:xfrm>
          <a:prstGeom prst="rect">
            <a:avLst/>
          </a:prstGeom>
          <a:noFill/>
          <a:ln/>
        </p:spPr>
        <p:txBody>
          <a:bodyPr wrap="square" lIns="508" tIns="508" rIns="508" bIns="508" rtlCol="0" anchor="t">
            <a:normAutofit/>
          </a:bodyPr>
          <a:lstStyle/>
          <a:p>
            <a:pPr indent="0" marL="0">
              <a:buNone/>
            </a:pPr>
            <a:r>
              <a:rPr lang="en-US" sz="950" b="1" dirty="0">
                <a:solidFill>
                  <a:srgbClr val="14211C"/>
                </a:solidFill>
                <a:latin typeface="Arial" pitchFamily="34" charset="0"/>
                <a:ea typeface="Arial" pitchFamily="34" charset="-122"/>
                <a:cs typeface="Arial" pitchFamily="34" charset="-120"/>
              </a:rPr>
              <a:t>Favoriot</a:t>
            </a:r>
            <a:endParaRPr lang="en-US" sz="950" dirty="0"/>
          </a:p>
        </p:txBody>
      </p:sp>
      <p:sp>
        <p:nvSpPr>
          <p:cNvPr id="43" name="Text 41"/>
          <p:cNvSpPr/>
          <p:nvPr/>
        </p:nvSpPr>
        <p:spPr>
          <a:xfrm>
            <a:off x="8101584" y="4553712"/>
            <a:ext cx="1755648" cy="411480"/>
          </a:xfrm>
          <a:prstGeom prst="rect">
            <a:avLst/>
          </a:prstGeom>
          <a:noFill/>
          <a:ln/>
        </p:spPr>
        <p:txBody>
          <a:bodyPr wrap="square" lIns="508" tIns="508" rIns="508" bIns="508" rtlCol="0" anchor="t">
            <a:normAutofit/>
          </a:bodyPr>
          <a:lstStyle/>
          <a:p>
            <a:pPr indent="0" marL="0">
              <a:buNone/>
            </a:pPr>
            <a:r>
              <a:rPr lang="en-US" sz="750" dirty="0">
                <a:solidFill>
                  <a:srgbClr val="5E6B63"/>
                </a:solidFill>
                <a:latin typeface="Arial" pitchFamily="34" charset="0"/>
                <a:ea typeface="Arial" pitchFamily="34" charset="-122"/>
                <a:cs typeface="Arial" pitchFamily="34" charset="-120"/>
              </a:rPr>
              <a:t>optional REST cloud payload</a:t>
            </a:r>
            <a:endParaRPr lang="en-US" sz="750" dirty="0"/>
          </a:p>
        </p:txBody>
      </p:sp>
      <p:sp>
        <p:nvSpPr>
          <p:cNvPr id="44" name="Text 42"/>
          <p:cNvSpPr/>
          <p:nvPr/>
        </p:nvSpPr>
        <p:spPr>
          <a:xfrm>
            <a:off x="2514600" y="5532120"/>
            <a:ext cx="6675120" cy="201168"/>
          </a:xfrm>
          <a:prstGeom prst="rect">
            <a:avLst/>
          </a:prstGeom>
          <a:noFill/>
          <a:ln/>
        </p:spPr>
        <p:txBody>
          <a:bodyPr wrap="square" lIns="508" tIns="508" rIns="508" bIns="508" rtlCol="0" anchor="t">
            <a:normAutofit/>
          </a:bodyPr>
          <a:lstStyle/>
          <a:p>
            <a:pPr indent="0" marL="0">
              <a:buNone/>
            </a:pPr>
            <a:r>
              <a:rPr lang="en-US" sz="900" b="1" dirty="0">
                <a:solidFill>
                  <a:srgbClr val="1F6B4D"/>
                </a:solidFill>
                <a:latin typeface="Arial" pitchFamily="34" charset="0"/>
                <a:ea typeface="Arial" pitchFamily="34" charset="-122"/>
                <a:cs typeface="Arial" pitchFamily="34" charset="-120"/>
              </a:rPr>
              <a:t>Streamlit reads plant_data.csv. It does not directly read sensors or control the pump.</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E"/>
        </a:solidFill>
      </p:bgPr>
    </p:bg>
    <p:spTree>
      <p:nvGrpSpPr>
        <p:cNvPr id="1" name=""/>
        <p:cNvGrpSpPr/>
        <p:nvPr/>
      </p:nvGrpSpPr>
      <p:grpSpPr>
        <a:xfrm>
          <a:off x="0" y="0"/>
          <a:ext cx="0" cy="0"/>
          <a:chOff x="0" y="0"/>
          <a:chExt cx="0" cy="0"/>
        </a:xfrm>
      </p:grpSpPr>
      <p:sp>
        <p:nvSpPr>
          <p:cNvPr id="2" name="Shape 0"/>
          <p:cNvSpPr/>
          <p:nvPr/>
        </p:nvSpPr>
        <p:spPr>
          <a:xfrm>
            <a:off x="502920" y="530352"/>
            <a:ext cx="320040" cy="0"/>
          </a:xfrm>
          <a:prstGeom prst="line">
            <a:avLst/>
          </a:prstGeom>
          <a:noFill/>
          <a:ln w="25400">
            <a:solidFill>
              <a:srgbClr val="1F6B4D"/>
            </a:solidFill>
            <a:prstDash val="solid"/>
          </a:ln>
        </p:spPr>
      </p:sp>
      <p:sp>
        <p:nvSpPr>
          <p:cNvPr id="3" name="Text 1"/>
          <p:cNvSpPr/>
          <p:nvPr/>
        </p:nvSpPr>
        <p:spPr>
          <a:xfrm>
            <a:off x="932688" y="420624"/>
            <a:ext cx="3840480" cy="228600"/>
          </a:xfrm>
          <a:prstGeom prst="rect">
            <a:avLst/>
          </a:prstGeom>
          <a:noFill/>
          <a:ln/>
        </p:spPr>
        <p:txBody>
          <a:bodyPr wrap="square" lIns="508" tIns="508" rIns="508" bIns="508" rtlCol="0" anchor="t">
            <a:normAutofit/>
          </a:bodyPr>
          <a:lstStyle/>
          <a:p>
            <a:pPr indent="0" marL="0">
              <a:buNone/>
            </a:pPr>
            <a:r>
              <a:rPr lang="en-US" sz="760" b="1" dirty="0">
                <a:solidFill>
                  <a:srgbClr val="1F6B4D"/>
                </a:solidFill>
                <a:latin typeface="Arial" pitchFamily="34" charset="0"/>
                <a:ea typeface="Arial" pitchFamily="34" charset="-122"/>
                <a:cs typeface="Arial" pitchFamily="34" charset="-120"/>
              </a:rPr>
              <a:t>DATA PROCESSING</a:t>
            </a:r>
            <a:endParaRPr lang="en-US" sz="760" dirty="0"/>
          </a:p>
        </p:txBody>
      </p:sp>
      <p:sp>
        <p:nvSpPr>
          <p:cNvPr id="4" name="Text 2"/>
          <p:cNvSpPr/>
          <p:nvPr/>
        </p:nvSpPr>
        <p:spPr>
          <a:xfrm>
            <a:off x="502920" y="758952"/>
            <a:ext cx="9692640" cy="658368"/>
          </a:xfrm>
          <a:prstGeom prst="rect">
            <a:avLst/>
          </a:prstGeom>
          <a:noFill/>
          <a:ln/>
        </p:spPr>
        <p:txBody>
          <a:bodyPr wrap="square" lIns="508" tIns="508" rIns="508" bIns="508" rtlCol="0" anchor="t">
            <a:normAutofit/>
          </a:bodyPr>
          <a:lstStyle/>
          <a:p>
            <a:pPr indent="0" marL="0">
              <a:buNone/>
            </a:pPr>
            <a:r>
              <a:rPr lang="en-US" sz="2200" b="1" dirty="0">
                <a:solidFill>
                  <a:srgbClr val="14211C"/>
                </a:solidFill>
                <a:latin typeface="Georgia" pitchFamily="34" charset="0"/>
                <a:ea typeface="Georgia" pitchFamily="34" charset="-122"/>
                <a:cs typeface="Georgia" pitchFamily="34" charset="-120"/>
              </a:rPr>
              <a:t>Preprocessing turns raw sensor values into reliable ML features.</a:t>
            </a:r>
            <a:endParaRPr lang="en-US" sz="2200" dirty="0"/>
          </a:p>
        </p:txBody>
      </p:sp>
      <p:sp>
        <p:nvSpPr>
          <p:cNvPr id="5" name="Shape 3"/>
          <p:cNvSpPr/>
          <p:nvPr/>
        </p:nvSpPr>
        <p:spPr>
          <a:xfrm>
            <a:off x="502920" y="6428232"/>
            <a:ext cx="10835640" cy="0"/>
          </a:xfrm>
          <a:prstGeom prst="line">
            <a:avLst/>
          </a:prstGeom>
          <a:noFill/>
          <a:ln w="6350">
            <a:solidFill>
              <a:srgbClr val="D8D2C4"/>
            </a:solidFill>
            <a:prstDash val="solid"/>
          </a:ln>
        </p:spPr>
      </p:sp>
      <p:sp>
        <p:nvSpPr>
          <p:cNvPr id="6" name="Text 4"/>
          <p:cNvSpPr/>
          <p:nvPr/>
        </p:nvSpPr>
        <p:spPr>
          <a:xfrm>
            <a:off x="502920" y="6510528"/>
            <a:ext cx="7680960" cy="164592"/>
          </a:xfrm>
          <a:prstGeom prst="rect">
            <a:avLst/>
          </a:prstGeom>
          <a:noFill/>
          <a:ln/>
        </p:spPr>
        <p:txBody>
          <a:bodyPr wrap="square" lIns="508" tIns="508" rIns="508" bIns="508" rtlCol="0" anchor="t">
            <a:normAutofit/>
          </a:bodyPr>
          <a:lstStyle/>
          <a:p>
            <a:pPr indent="0" marL="0">
              <a:buNone/>
            </a:pPr>
            <a:r>
              <a:rPr lang="en-US" sz="680" dirty="0">
                <a:solidFill>
                  <a:srgbClr val="5E6B63"/>
                </a:solidFill>
                <a:latin typeface="Arial" pitchFamily="34" charset="0"/>
                <a:ea typeface="Arial" pitchFamily="34" charset="-122"/>
                <a:cs typeface="Arial" pitchFamily="34" charset="-120"/>
              </a:rPr>
              <a:t>Source: project README, Student Guide, and SRTA3353 Project 2 criteria</a:t>
            </a:r>
            <a:endParaRPr lang="en-US" sz="680" dirty="0"/>
          </a:p>
        </p:txBody>
      </p:sp>
      <p:sp>
        <p:nvSpPr>
          <p:cNvPr id="7" name="Text 5"/>
          <p:cNvSpPr/>
          <p:nvPr/>
        </p:nvSpPr>
        <p:spPr>
          <a:xfrm>
            <a:off x="11064240" y="6510528"/>
            <a:ext cx="457200" cy="164592"/>
          </a:xfrm>
          <a:prstGeom prst="rect">
            <a:avLst/>
          </a:prstGeom>
          <a:noFill/>
          <a:ln/>
        </p:spPr>
        <p:txBody>
          <a:bodyPr wrap="square" lIns="508" tIns="508" rIns="508" bIns="508" rtlCol="0" anchor="t">
            <a:normAutofit/>
          </a:bodyPr>
          <a:lstStyle/>
          <a:p>
            <a:pPr indent="0" marL="0">
              <a:buNone/>
            </a:pPr>
            <a:r>
              <a:rPr lang="en-US" sz="680" b="1" dirty="0">
                <a:solidFill>
                  <a:srgbClr val="5E6B63"/>
                </a:solidFill>
                <a:latin typeface="Arial" pitchFamily="34" charset="0"/>
                <a:ea typeface="Arial" pitchFamily="34" charset="-122"/>
                <a:cs typeface="Arial" pitchFamily="34" charset="-120"/>
              </a:rPr>
              <a:t>06</a:t>
            </a:r>
            <a:endParaRPr lang="en-US" sz="680" dirty="0"/>
          </a:p>
        </p:txBody>
      </p:sp>
      <p:sp>
        <p:nvSpPr>
          <p:cNvPr id="8" name="Text 6"/>
          <p:cNvSpPr/>
          <p:nvPr/>
        </p:nvSpPr>
        <p:spPr>
          <a:xfrm>
            <a:off x="566928" y="1636776"/>
            <a:ext cx="4800600" cy="201168"/>
          </a:xfrm>
          <a:prstGeom prst="rect">
            <a:avLst/>
          </a:prstGeom>
          <a:noFill/>
          <a:ln/>
        </p:spPr>
        <p:txBody>
          <a:bodyPr wrap="square" lIns="508" tIns="508" rIns="508" bIns="508" rtlCol="0" anchor="t">
            <a:normAutofit/>
          </a:bodyPr>
          <a:lstStyle/>
          <a:p>
            <a:pPr indent="0" marL="0">
              <a:buNone/>
            </a:pPr>
            <a:r>
              <a:rPr lang="en-US" sz="1000" b="1" dirty="0">
                <a:solidFill>
                  <a:srgbClr val="14211C"/>
                </a:solidFill>
                <a:latin typeface="Arial" pitchFamily="34" charset="0"/>
                <a:ea typeface="Arial" pitchFamily="34" charset="-122"/>
                <a:cs typeface="Arial" pitchFamily="34" charset="-120"/>
              </a:rPr>
              <a:t>Soil moisture status thresholds</a:t>
            </a:r>
            <a:endParaRPr lang="en-US" sz="1000" dirty="0"/>
          </a:p>
        </p:txBody>
      </p:sp>
      <p:sp>
        <p:nvSpPr>
          <p:cNvPr id="9" name="Shape 7"/>
          <p:cNvSpPr/>
          <p:nvPr/>
        </p:nvSpPr>
        <p:spPr>
          <a:xfrm>
            <a:off x="566928" y="1965960"/>
            <a:ext cx="1440180" cy="347472"/>
          </a:xfrm>
          <a:prstGeom prst="rect">
            <a:avLst/>
          </a:prstGeom>
          <a:solidFill>
            <a:srgbClr val="C75454"/>
          </a:solidFill>
          <a:ln w="12700">
            <a:solidFill>
              <a:srgbClr val="C75454"/>
            </a:solidFill>
            <a:prstDash val="solid"/>
          </a:ln>
        </p:spPr>
      </p:sp>
      <p:sp>
        <p:nvSpPr>
          <p:cNvPr id="10" name="Shape 8"/>
          <p:cNvSpPr/>
          <p:nvPr/>
        </p:nvSpPr>
        <p:spPr>
          <a:xfrm>
            <a:off x="2007108" y="1965960"/>
            <a:ext cx="1920240" cy="347472"/>
          </a:xfrm>
          <a:prstGeom prst="rect">
            <a:avLst/>
          </a:prstGeom>
          <a:solidFill>
            <a:srgbClr val="9BC8A6"/>
          </a:solidFill>
          <a:ln w="12700">
            <a:solidFill>
              <a:srgbClr val="9BC8A6"/>
            </a:solidFill>
            <a:prstDash val="solid"/>
          </a:ln>
        </p:spPr>
      </p:sp>
      <p:sp>
        <p:nvSpPr>
          <p:cNvPr id="11" name="Shape 9"/>
          <p:cNvSpPr/>
          <p:nvPr/>
        </p:nvSpPr>
        <p:spPr>
          <a:xfrm>
            <a:off x="3927348" y="1965960"/>
            <a:ext cx="1440180" cy="347472"/>
          </a:xfrm>
          <a:prstGeom prst="rect">
            <a:avLst/>
          </a:prstGeom>
          <a:solidFill>
            <a:srgbClr val="256A7B"/>
          </a:solidFill>
          <a:ln w="12700">
            <a:solidFill>
              <a:srgbClr val="256A7B"/>
            </a:solidFill>
            <a:prstDash val="solid"/>
          </a:ln>
        </p:spPr>
      </p:sp>
      <p:sp>
        <p:nvSpPr>
          <p:cNvPr id="12" name="Text 10"/>
          <p:cNvSpPr/>
          <p:nvPr/>
        </p:nvSpPr>
        <p:spPr>
          <a:xfrm>
            <a:off x="640080" y="2057400"/>
            <a:ext cx="1344168" cy="146304"/>
          </a:xfrm>
          <a:prstGeom prst="rect">
            <a:avLst/>
          </a:prstGeom>
          <a:noFill/>
          <a:ln/>
        </p:spPr>
        <p:txBody>
          <a:bodyPr wrap="square" lIns="508" tIns="508" rIns="508" bIns="508" rtlCol="0" anchor="t">
            <a:normAutofit/>
          </a:bodyPr>
          <a:lstStyle/>
          <a:p>
            <a:pPr indent="0" marL="0">
              <a:buNone/>
            </a:pPr>
            <a:r>
              <a:rPr lang="en-US" sz="720" b="1" dirty="0">
                <a:solidFill>
                  <a:srgbClr val="FFFFFF"/>
                </a:solidFill>
                <a:latin typeface="Arial" pitchFamily="34" charset="0"/>
                <a:ea typeface="Arial" pitchFamily="34" charset="-122"/>
                <a:cs typeface="Arial" pitchFamily="34" charset="-120"/>
              </a:rPr>
              <a:t>DRY &lt; 30%</a:t>
            </a:r>
            <a:endParaRPr lang="en-US" sz="720" dirty="0"/>
          </a:p>
        </p:txBody>
      </p:sp>
      <p:sp>
        <p:nvSpPr>
          <p:cNvPr id="13" name="Text 11"/>
          <p:cNvSpPr/>
          <p:nvPr/>
        </p:nvSpPr>
        <p:spPr>
          <a:xfrm>
            <a:off x="2116836" y="2057400"/>
            <a:ext cx="1824228" cy="146304"/>
          </a:xfrm>
          <a:prstGeom prst="rect">
            <a:avLst/>
          </a:prstGeom>
          <a:noFill/>
          <a:ln/>
        </p:spPr>
        <p:txBody>
          <a:bodyPr wrap="square" lIns="508" tIns="508" rIns="508" bIns="508" rtlCol="0" anchor="t">
            <a:normAutofit/>
          </a:bodyPr>
          <a:lstStyle/>
          <a:p>
            <a:pPr indent="0" marL="0">
              <a:buNone/>
            </a:pPr>
            <a:r>
              <a:rPr lang="en-US" sz="720" b="1" dirty="0">
                <a:solidFill>
                  <a:srgbClr val="14211C"/>
                </a:solidFill>
                <a:latin typeface="Arial" pitchFamily="34" charset="0"/>
                <a:ea typeface="Arial" pitchFamily="34" charset="-122"/>
                <a:cs typeface="Arial" pitchFamily="34" charset="-120"/>
              </a:rPr>
              <a:t>OPTIMAL 30-70%</a:t>
            </a:r>
            <a:endParaRPr lang="en-US" sz="720" dirty="0"/>
          </a:p>
        </p:txBody>
      </p:sp>
      <p:sp>
        <p:nvSpPr>
          <p:cNvPr id="14" name="Text 12"/>
          <p:cNvSpPr/>
          <p:nvPr/>
        </p:nvSpPr>
        <p:spPr>
          <a:xfrm>
            <a:off x="4037076" y="2057400"/>
            <a:ext cx="1344168" cy="146304"/>
          </a:xfrm>
          <a:prstGeom prst="rect">
            <a:avLst/>
          </a:prstGeom>
          <a:noFill/>
          <a:ln/>
        </p:spPr>
        <p:txBody>
          <a:bodyPr wrap="square" lIns="508" tIns="508" rIns="508" bIns="508" rtlCol="0" anchor="t">
            <a:normAutofit/>
          </a:bodyPr>
          <a:lstStyle/>
          <a:p>
            <a:pPr indent="0" marL="0">
              <a:buNone/>
            </a:pPr>
            <a:r>
              <a:rPr lang="en-US" sz="720" b="1" dirty="0">
                <a:solidFill>
                  <a:srgbClr val="FFFFFF"/>
                </a:solidFill>
                <a:latin typeface="Arial" pitchFamily="34" charset="0"/>
                <a:ea typeface="Arial" pitchFamily="34" charset="-122"/>
                <a:cs typeface="Arial" pitchFamily="34" charset="-120"/>
              </a:rPr>
              <a:t>WET &gt; 70%</a:t>
            </a:r>
            <a:endParaRPr lang="en-US" sz="720" dirty="0"/>
          </a:p>
        </p:txBody>
      </p:sp>
      <p:sp>
        <p:nvSpPr>
          <p:cNvPr id="15" name="Text 13"/>
          <p:cNvSpPr/>
          <p:nvPr/>
        </p:nvSpPr>
        <p:spPr>
          <a:xfrm>
            <a:off x="566928" y="2423160"/>
            <a:ext cx="274320" cy="128016"/>
          </a:xfrm>
          <a:prstGeom prst="rect">
            <a:avLst/>
          </a:prstGeom>
          <a:noFill/>
          <a:ln/>
        </p:spPr>
        <p:txBody>
          <a:bodyPr wrap="square" lIns="508" tIns="508" rIns="508" bIns="508" rtlCol="0" anchor="t">
            <a:normAutofit/>
          </a:bodyPr>
          <a:lstStyle/>
          <a:p>
            <a:pPr indent="0" marL="0">
              <a:buNone/>
            </a:pPr>
            <a:r>
              <a:rPr lang="en-US" sz="650" dirty="0">
                <a:solidFill>
                  <a:srgbClr val="5E6B63"/>
                </a:solidFill>
                <a:latin typeface="Arial" pitchFamily="34" charset="0"/>
                <a:ea typeface="Arial" pitchFamily="34" charset="-122"/>
                <a:cs typeface="Arial" pitchFamily="34" charset="-120"/>
              </a:rPr>
              <a:t>0%</a:t>
            </a:r>
            <a:endParaRPr lang="en-US" sz="650" dirty="0"/>
          </a:p>
        </p:txBody>
      </p:sp>
      <p:sp>
        <p:nvSpPr>
          <p:cNvPr id="16" name="Text 14"/>
          <p:cNvSpPr/>
          <p:nvPr/>
        </p:nvSpPr>
        <p:spPr>
          <a:xfrm>
            <a:off x="1915668" y="2423160"/>
            <a:ext cx="320040" cy="128016"/>
          </a:xfrm>
          <a:prstGeom prst="rect">
            <a:avLst/>
          </a:prstGeom>
          <a:noFill/>
          <a:ln/>
        </p:spPr>
        <p:txBody>
          <a:bodyPr wrap="square" lIns="508" tIns="508" rIns="508" bIns="508" rtlCol="0" anchor="t">
            <a:normAutofit/>
          </a:bodyPr>
          <a:lstStyle/>
          <a:p>
            <a:pPr indent="0" marL="0">
              <a:buNone/>
            </a:pPr>
            <a:r>
              <a:rPr lang="en-US" sz="650" dirty="0">
                <a:solidFill>
                  <a:srgbClr val="5E6B63"/>
                </a:solidFill>
                <a:latin typeface="Arial" pitchFamily="34" charset="0"/>
                <a:ea typeface="Arial" pitchFamily="34" charset="-122"/>
                <a:cs typeface="Arial" pitchFamily="34" charset="-120"/>
              </a:rPr>
              <a:t>30%</a:t>
            </a:r>
            <a:endParaRPr lang="en-US" sz="650" dirty="0"/>
          </a:p>
        </p:txBody>
      </p:sp>
      <p:sp>
        <p:nvSpPr>
          <p:cNvPr id="17" name="Text 15"/>
          <p:cNvSpPr/>
          <p:nvPr/>
        </p:nvSpPr>
        <p:spPr>
          <a:xfrm>
            <a:off x="3835908" y="2423160"/>
            <a:ext cx="320040" cy="128016"/>
          </a:xfrm>
          <a:prstGeom prst="rect">
            <a:avLst/>
          </a:prstGeom>
          <a:noFill/>
          <a:ln/>
        </p:spPr>
        <p:txBody>
          <a:bodyPr wrap="square" lIns="508" tIns="508" rIns="508" bIns="508" rtlCol="0" anchor="t">
            <a:normAutofit/>
          </a:bodyPr>
          <a:lstStyle/>
          <a:p>
            <a:pPr indent="0" marL="0">
              <a:buNone/>
            </a:pPr>
            <a:r>
              <a:rPr lang="en-US" sz="650" dirty="0">
                <a:solidFill>
                  <a:srgbClr val="5E6B63"/>
                </a:solidFill>
                <a:latin typeface="Arial" pitchFamily="34" charset="0"/>
                <a:ea typeface="Arial" pitchFamily="34" charset="-122"/>
                <a:cs typeface="Arial" pitchFamily="34" charset="-120"/>
              </a:rPr>
              <a:t>70%</a:t>
            </a:r>
            <a:endParaRPr lang="en-US" sz="650" dirty="0"/>
          </a:p>
        </p:txBody>
      </p:sp>
      <p:sp>
        <p:nvSpPr>
          <p:cNvPr id="18" name="Text 16"/>
          <p:cNvSpPr/>
          <p:nvPr/>
        </p:nvSpPr>
        <p:spPr>
          <a:xfrm>
            <a:off x="5074920" y="2423160"/>
            <a:ext cx="347472" cy="128016"/>
          </a:xfrm>
          <a:prstGeom prst="rect">
            <a:avLst/>
          </a:prstGeom>
          <a:noFill/>
          <a:ln/>
        </p:spPr>
        <p:txBody>
          <a:bodyPr wrap="square" lIns="508" tIns="508" rIns="508" bIns="508" rtlCol="0" anchor="t">
            <a:normAutofit/>
          </a:bodyPr>
          <a:lstStyle/>
          <a:p>
            <a:pPr indent="0" marL="0">
              <a:buNone/>
            </a:pPr>
            <a:r>
              <a:rPr lang="en-US" sz="650" dirty="0">
                <a:solidFill>
                  <a:srgbClr val="5E6B63"/>
                </a:solidFill>
                <a:latin typeface="Arial" pitchFamily="34" charset="0"/>
                <a:ea typeface="Arial" pitchFamily="34" charset="-122"/>
                <a:cs typeface="Arial" pitchFamily="34" charset="-120"/>
              </a:rPr>
              <a:t>100%</a:t>
            </a:r>
            <a:endParaRPr lang="en-US" sz="650" dirty="0"/>
          </a:p>
        </p:txBody>
      </p:sp>
      <p:sp>
        <p:nvSpPr>
          <p:cNvPr id="19" name="Shape 17"/>
          <p:cNvSpPr/>
          <p:nvPr/>
        </p:nvSpPr>
        <p:spPr>
          <a:xfrm>
            <a:off x="5669280" y="1627632"/>
            <a:ext cx="1737360" cy="438912"/>
          </a:xfrm>
          <a:prstGeom prst="rect">
            <a:avLst/>
          </a:prstGeom>
          <a:solidFill>
            <a:srgbClr val="10251D"/>
          </a:solidFill>
          <a:ln w="8890">
            <a:solidFill>
              <a:srgbClr val="D8D2C4"/>
            </a:solidFill>
            <a:prstDash val="solid"/>
          </a:ln>
        </p:spPr>
      </p:sp>
      <p:sp>
        <p:nvSpPr>
          <p:cNvPr id="20" name="Text 18"/>
          <p:cNvSpPr/>
          <p:nvPr/>
        </p:nvSpPr>
        <p:spPr>
          <a:xfrm>
            <a:off x="5742432" y="1700784"/>
            <a:ext cx="1591056" cy="310896"/>
          </a:xfrm>
          <a:prstGeom prst="rect">
            <a:avLst/>
          </a:prstGeom>
          <a:noFill/>
          <a:ln/>
        </p:spPr>
        <p:txBody>
          <a:bodyPr wrap="square" lIns="508" tIns="508" rIns="508" bIns="508" rtlCol="0" anchor="t">
            <a:normAutofit/>
          </a:bodyPr>
          <a:lstStyle/>
          <a:p>
            <a:pPr indent="0" marL="0">
              <a:buNone/>
            </a:pPr>
            <a:r>
              <a:rPr lang="en-US" sz="690" b="1" dirty="0">
                <a:solidFill>
                  <a:srgbClr val="FFFFFF"/>
                </a:solidFill>
                <a:latin typeface="Arial" pitchFamily="34" charset="0"/>
                <a:ea typeface="Arial" pitchFamily="34" charset="-122"/>
                <a:cs typeface="Arial" pitchFamily="34" charset="-120"/>
              </a:rPr>
              <a:t>Raw / issue</a:t>
            </a:r>
            <a:endParaRPr lang="en-US" sz="690" dirty="0"/>
          </a:p>
        </p:txBody>
      </p:sp>
      <p:sp>
        <p:nvSpPr>
          <p:cNvPr id="21" name="Shape 19"/>
          <p:cNvSpPr/>
          <p:nvPr/>
        </p:nvSpPr>
        <p:spPr>
          <a:xfrm>
            <a:off x="7406640" y="1627632"/>
            <a:ext cx="2606040" cy="438912"/>
          </a:xfrm>
          <a:prstGeom prst="rect">
            <a:avLst/>
          </a:prstGeom>
          <a:solidFill>
            <a:srgbClr val="10251D"/>
          </a:solidFill>
          <a:ln w="8890">
            <a:solidFill>
              <a:srgbClr val="D8D2C4"/>
            </a:solidFill>
            <a:prstDash val="solid"/>
          </a:ln>
        </p:spPr>
      </p:sp>
      <p:sp>
        <p:nvSpPr>
          <p:cNvPr id="22" name="Text 20"/>
          <p:cNvSpPr/>
          <p:nvPr/>
        </p:nvSpPr>
        <p:spPr>
          <a:xfrm>
            <a:off x="7479792" y="1700784"/>
            <a:ext cx="2459736" cy="310896"/>
          </a:xfrm>
          <a:prstGeom prst="rect">
            <a:avLst/>
          </a:prstGeom>
          <a:noFill/>
          <a:ln/>
        </p:spPr>
        <p:txBody>
          <a:bodyPr wrap="square" lIns="508" tIns="508" rIns="508" bIns="508" rtlCol="0" anchor="t">
            <a:normAutofit/>
          </a:bodyPr>
          <a:lstStyle/>
          <a:p>
            <a:pPr indent="0" marL="0">
              <a:buNone/>
            </a:pPr>
            <a:r>
              <a:rPr lang="en-US" sz="690" b="1" dirty="0">
                <a:solidFill>
                  <a:srgbClr val="FFFFFF"/>
                </a:solidFill>
                <a:latin typeface="Arial" pitchFamily="34" charset="0"/>
                <a:ea typeface="Arial" pitchFamily="34" charset="-122"/>
                <a:cs typeface="Arial" pitchFamily="34" charset="-120"/>
              </a:rPr>
              <a:t>Processing method</a:t>
            </a:r>
            <a:endParaRPr lang="en-US" sz="690" dirty="0"/>
          </a:p>
        </p:txBody>
      </p:sp>
      <p:sp>
        <p:nvSpPr>
          <p:cNvPr id="23" name="Shape 21"/>
          <p:cNvSpPr/>
          <p:nvPr/>
        </p:nvSpPr>
        <p:spPr>
          <a:xfrm>
            <a:off x="10012680" y="1627632"/>
            <a:ext cx="2103120" cy="438912"/>
          </a:xfrm>
          <a:prstGeom prst="rect">
            <a:avLst/>
          </a:prstGeom>
          <a:solidFill>
            <a:srgbClr val="10251D"/>
          </a:solidFill>
          <a:ln w="8890">
            <a:solidFill>
              <a:srgbClr val="D8D2C4"/>
            </a:solidFill>
            <a:prstDash val="solid"/>
          </a:ln>
        </p:spPr>
      </p:sp>
      <p:sp>
        <p:nvSpPr>
          <p:cNvPr id="24" name="Text 22"/>
          <p:cNvSpPr/>
          <p:nvPr/>
        </p:nvSpPr>
        <p:spPr>
          <a:xfrm>
            <a:off x="10085832" y="1700784"/>
            <a:ext cx="1956816" cy="310896"/>
          </a:xfrm>
          <a:prstGeom prst="rect">
            <a:avLst/>
          </a:prstGeom>
          <a:noFill/>
          <a:ln/>
        </p:spPr>
        <p:txBody>
          <a:bodyPr wrap="square" lIns="508" tIns="508" rIns="508" bIns="508" rtlCol="0" anchor="t">
            <a:normAutofit/>
          </a:bodyPr>
          <a:lstStyle/>
          <a:p>
            <a:pPr indent="0" marL="0">
              <a:buNone/>
            </a:pPr>
            <a:r>
              <a:rPr lang="en-US" sz="690" b="1" dirty="0">
                <a:solidFill>
                  <a:srgbClr val="FFFFFF"/>
                </a:solidFill>
                <a:latin typeface="Arial" pitchFamily="34" charset="0"/>
                <a:ea typeface="Arial" pitchFamily="34" charset="-122"/>
                <a:cs typeface="Arial" pitchFamily="34" charset="-120"/>
              </a:rPr>
              <a:t>Output</a:t>
            </a:r>
            <a:endParaRPr lang="en-US" sz="690" dirty="0"/>
          </a:p>
        </p:txBody>
      </p:sp>
      <p:sp>
        <p:nvSpPr>
          <p:cNvPr id="25" name="Shape 23"/>
          <p:cNvSpPr/>
          <p:nvPr/>
        </p:nvSpPr>
        <p:spPr>
          <a:xfrm>
            <a:off x="5669280" y="2066544"/>
            <a:ext cx="1737360" cy="438912"/>
          </a:xfrm>
          <a:prstGeom prst="rect">
            <a:avLst/>
          </a:prstGeom>
          <a:solidFill>
            <a:srgbClr val="FBFAF6"/>
          </a:solidFill>
          <a:ln w="8890">
            <a:solidFill>
              <a:srgbClr val="D8D2C4"/>
            </a:solidFill>
            <a:prstDash val="solid"/>
          </a:ln>
        </p:spPr>
      </p:sp>
      <p:sp>
        <p:nvSpPr>
          <p:cNvPr id="26" name="Text 24"/>
          <p:cNvSpPr/>
          <p:nvPr/>
        </p:nvSpPr>
        <p:spPr>
          <a:xfrm>
            <a:off x="5742432" y="2139696"/>
            <a:ext cx="1591056" cy="310896"/>
          </a:xfrm>
          <a:prstGeom prst="rect">
            <a:avLst/>
          </a:prstGeom>
          <a:noFill/>
          <a:ln/>
        </p:spPr>
        <p:txBody>
          <a:bodyPr wrap="square" lIns="508" tIns="508" rIns="508" bIns="508" rtlCol="0" anchor="t">
            <a:normAutofit/>
          </a:bodyPr>
          <a:lstStyle/>
          <a:p>
            <a:pPr indent="0" marL="0">
              <a:buNone/>
            </a:pPr>
            <a:r>
              <a:rPr lang="en-US" sz="690" dirty="0">
                <a:solidFill>
                  <a:srgbClr val="14211C"/>
                </a:solidFill>
                <a:latin typeface="Arial" pitchFamily="34" charset="0"/>
                <a:ea typeface="Arial" pitchFamily="34" charset="-122"/>
                <a:cs typeface="Arial" pitchFamily="34" charset="-120"/>
              </a:rPr>
              <a:t>Soil analog reading</a:t>
            </a:r>
            <a:endParaRPr lang="en-US" sz="690" dirty="0"/>
          </a:p>
        </p:txBody>
      </p:sp>
      <p:sp>
        <p:nvSpPr>
          <p:cNvPr id="27" name="Shape 25"/>
          <p:cNvSpPr/>
          <p:nvPr/>
        </p:nvSpPr>
        <p:spPr>
          <a:xfrm>
            <a:off x="7406640" y="2066544"/>
            <a:ext cx="2606040" cy="438912"/>
          </a:xfrm>
          <a:prstGeom prst="rect">
            <a:avLst/>
          </a:prstGeom>
          <a:solidFill>
            <a:srgbClr val="FBFAF6"/>
          </a:solidFill>
          <a:ln w="8890">
            <a:solidFill>
              <a:srgbClr val="D8D2C4"/>
            </a:solidFill>
            <a:prstDash val="solid"/>
          </a:ln>
        </p:spPr>
      </p:sp>
      <p:sp>
        <p:nvSpPr>
          <p:cNvPr id="28" name="Text 26"/>
          <p:cNvSpPr/>
          <p:nvPr/>
        </p:nvSpPr>
        <p:spPr>
          <a:xfrm>
            <a:off x="7479792" y="2139696"/>
            <a:ext cx="2459736" cy="310896"/>
          </a:xfrm>
          <a:prstGeom prst="rect">
            <a:avLst/>
          </a:prstGeom>
          <a:noFill/>
          <a:ln/>
        </p:spPr>
        <p:txBody>
          <a:bodyPr wrap="square" lIns="508" tIns="508" rIns="508" bIns="508" rtlCol="0" anchor="t">
            <a:normAutofit/>
          </a:bodyPr>
          <a:lstStyle/>
          <a:p>
            <a:pPr indent="0" marL="0">
              <a:buNone/>
            </a:pPr>
            <a:r>
              <a:rPr lang="en-US" sz="690" dirty="0">
                <a:solidFill>
                  <a:srgbClr val="14211C"/>
                </a:solidFill>
                <a:latin typeface="Arial" pitchFamily="34" charset="0"/>
                <a:ea typeface="Arial" pitchFamily="34" charset="-122"/>
                <a:cs typeface="Arial" pitchFamily="34" charset="-120"/>
              </a:rPr>
              <a:t>Calibrate to 0-100 percent</a:t>
            </a:r>
            <a:endParaRPr lang="en-US" sz="690" dirty="0"/>
          </a:p>
        </p:txBody>
      </p:sp>
      <p:sp>
        <p:nvSpPr>
          <p:cNvPr id="29" name="Shape 27"/>
          <p:cNvSpPr/>
          <p:nvPr/>
        </p:nvSpPr>
        <p:spPr>
          <a:xfrm>
            <a:off x="10012680" y="2066544"/>
            <a:ext cx="2103120" cy="438912"/>
          </a:xfrm>
          <a:prstGeom prst="rect">
            <a:avLst/>
          </a:prstGeom>
          <a:solidFill>
            <a:srgbClr val="FBFAF6"/>
          </a:solidFill>
          <a:ln w="8890">
            <a:solidFill>
              <a:srgbClr val="D8D2C4"/>
            </a:solidFill>
            <a:prstDash val="solid"/>
          </a:ln>
        </p:spPr>
      </p:sp>
      <p:sp>
        <p:nvSpPr>
          <p:cNvPr id="30" name="Text 28"/>
          <p:cNvSpPr/>
          <p:nvPr/>
        </p:nvSpPr>
        <p:spPr>
          <a:xfrm>
            <a:off x="10085832" y="2139696"/>
            <a:ext cx="1956816" cy="310896"/>
          </a:xfrm>
          <a:prstGeom prst="rect">
            <a:avLst/>
          </a:prstGeom>
          <a:noFill/>
          <a:ln/>
        </p:spPr>
        <p:txBody>
          <a:bodyPr wrap="square" lIns="508" tIns="508" rIns="508" bIns="508" rtlCol="0" anchor="t">
            <a:normAutofit/>
          </a:bodyPr>
          <a:lstStyle/>
          <a:p>
            <a:pPr indent="0" marL="0">
              <a:buNone/>
            </a:pPr>
            <a:r>
              <a:rPr lang="en-US" sz="690" dirty="0">
                <a:solidFill>
                  <a:srgbClr val="14211C"/>
                </a:solidFill>
                <a:latin typeface="Arial" pitchFamily="34" charset="0"/>
                <a:ea typeface="Arial" pitchFamily="34" charset="-122"/>
                <a:cs typeface="Arial" pitchFamily="34" charset="-120"/>
              </a:rPr>
              <a:t>soil_value</a:t>
            </a:r>
            <a:endParaRPr lang="en-US" sz="690" dirty="0"/>
          </a:p>
        </p:txBody>
      </p:sp>
      <p:sp>
        <p:nvSpPr>
          <p:cNvPr id="31" name="Shape 29"/>
          <p:cNvSpPr/>
          <p:nvPr/>
        </p:nvSpPr>
        <p:spPr>
          <a:xfrm>
            <a:off x="5669280" y="2505456"/>
            <a:ext cx="1737360" cy="438912"/>
          </a:xfrm>
          <a:prstGeom prst="rect">
            <a:avLst/>
          </a:prstGeom>
          <a:solidFill>
            <a:srgbClr val="FFFFFF"/>
          </a:solidFill>
          <a:ln w="8890">
            <a:solidFill>
              <a:srgbClr val="D8D2C4"/>
            </a:solidFill>
            <a:prstDash val="solid"/>
          </a:ln>
        </p:spPr>
      </p:sp>
      <p:sp>
        <p:nvSpPr>
          <p:cNvPr id="32" name="Text 30"/>
          <p:cNvSpPr/>
          <p:nvPr/>
        </p:nvSpPr>
        <p:spPr>
          <a:xfrm>
            <a:off x="5742432" y="2578608"/>
            <a:ext cx="1591056" cy="310896"/>
          </a:xfrm>
          <a:prstGeom prst="rect">
            <a:avLst/>
          </a:prstGeom>
          <a:noFill/>
          <a:ln/>
        </p:spPr>
        <p:txBody>
          <a:bodyPr wrap="square" lIns="508" tIns="508" rIns="508" bIns="508" rtlCol="0" anchor="t">
            <a:normAutofit/>
          </a:bodyPr>
          <a:lstStyle/>
          <a:p>
            <a:pPr indent="0" marL="0">
              <a:buNone/>
            </a:pPr>
            <a:r>
              <a:rPr lang="en-US" sz="690" dirty="0">
                <a:solidFill>
                  <a:srgbClr val="14211C"/>
                </a:solidFill>
                <a:latin typeface="Arial" pitchFamily="34" charset="0"/>
                <a:ea typeface="Arial" pitchFamily="34" charset="-122"/>
                <a:cs typeface="Arial" pitchFamily="34" charset="-120"/>
              </a:rPr>
              <a:t>Soil percentage</a:t>
            </a:r>
            <a:endParaRPr lang="en-US" sz="690" dirty="0"/>
          </a:p>
        </p:txBody>
      </p:sp>
      <p:sp>
        <p:nvSpPr>
          <p:cNvPr id="33" name="Shape 31"/>
          <p:cNvSpPr/>
          <p:nvPr/>
        </p:nvSpPr>
        <p:spPr>
          <a:xfrm>
            <a:off x="7406640" y="2505456"/>
            <a:ext cx="2606040" cy="438912"/>
          </a:xfrm>
          <a:prstGeom prst="rect">
            <a:avLst/>
          </a:prstGeom>
          <a:solidFill>
            <a:srgbClr val="FFFFFF"/>
          </a:solidFill>
          <a:ln w="8890">
            <a:solidFill>
              <a:srgbClr val="D8D2C4"/>
            </a:solidFill>
            <a:prstDash val="solid"/>
          </a:ln>
        </p:spPr>
      </p:sp>
      <p:sp>
        <p:nvSpPr>
          <p:cNvPr id="34" name="Text 32"/>
          <p:cNvSpPr/>
          <p:nvPr/>
        </p:nvSpPr>
        <p:spPr>
          <a:xfrm>
            <a:off x="7479792" y="2578608"/>
            <a:ext cx="2459736" cy="310896"/>
          </a:xfrm>
          <a:prstGeom prst="rect">
            <a:avLst/>
          </a:prstGeom>
          <a:noFill/>
          <a:ln/>
        </p:spPr>
        <p:txBody>
          <a:bodyPr wrap="square" lIns="508" tIns="508" rIns="508" bIns="508" rtlCol="0" anchor="t">
            <a:normAutofit/>
          </a:bodyPr>
          <a:lstStyle/>
          <a:p>
            <a:pPr indent="0" marL="0">
              <a:buNone/>
            </a:pPr>
            <a:r>
              <a:rPr lang="en-US" sz="690" dirty="0">
                <a:solidFill>
                  <a:srgbClr val="14211C"/>
                </a:solidFill>
                <a:latin typeface="Arial" pitchFamily="34" charset="0"/>
                <a:ea typeface="Arial" pitchFamily="34" charset="-122"/>
                <a:cs typeface="Arial" pitchFamily="34" charset="-120"/>
              </a:rPr>
              <a:t>Threshold classification</a:t>
            </a:r>
            <a:endParaRPr lang="en-US" sz="690" dirty="0"/>
          </a:p>
        </p:txBody>
      </p:sp>
      <p:sp>
        <p:nvSpPr>
          <p:cNvPr id="35" name="Shape 33"/>
          <p:cNvSpPr/>
          <p:nvPr/>
        </p:nvSpPr>
        <p:spPr>
          <a:xfrm>
            <a:off x="10012680" y="2505456"/>
            <a:ext cx="2103120" cy="438912"/>
          </a:xfrm>
          <a:prstGeom prst="rect">
            <a:avLst/>
          </a:prstGeom>
          <a:solidFill>
            <a:srgbClr val="FFFFFF"/>
          </a:solidFill>
          <a:ln w="8890">
            <a:solidFill>
              <a:srgbClr val="D8D2C4"/>
            </a:solidFill>
            <a:prstDash val="solid"/>
          </a:ln>
        </p:spPr>
      </p:sp>
      <p:sp>
        <p:nvSpPr>
          <p:cNvPr id="36" name="Text 34"/>
          <p:cNvSpPr/>
          <p:nvPr/>
        </p:nvSpPr>
        <p:spPr>
          <a:xfrm>
            <a:off x="10085832" y="2578608"/>
            <a:ext cx="1956816" cy="310896"/>
          </a:xfrm>
          <a:prstGeom prst="rect">
            <a:avLst/>
          </a:prstGeom>
          <a:noFill/>
          <a:ln/>
        </p:spPr>
        <p:txBody>
          <a:bodyPr wrap="square" lIns="508" tIns="508" rIns="508" bIns="508" rtlCol="0" anchor="t">
            <a:normAutofit/>
          </a:bodyPr>
          <a:lstStyle/>
          <a:p>
            <a:pPr indent="0" marL="0">
              <a:buNone/>
            </a:pPr>
            <a:r>
              <a:rPr lang="en-US" sz="690" dirty="0">
                <a:solidFill>
                  <a:srgbClr val="14211C"/>
                </a:solidFill>
                <a:latin typeface="Arial" pitchFamily="34" charset="0"/>
                <a:ea typeface="Arial" pitchFamily="34" charset="-122"/>
                <a:cs typeface="Arial" pitchFamily="34" charset="-120"/>
              </a:rPr>
              <a:t>DRY / OPTIMAL / WET</a:t>
            </a:r>
            <a:endParaRPr lang="en-US" sz="690" dirty="0"/>
          </a:p>
        </p:txBody>
      </p:sp>
      <p:sp>
        <p:nvSpPr>
          <p:cNvPr id="37" name="Shape 35"/>
          <p:cNvSpPr/>
          <p:nvPr/>
        </p:nvSpPr>
        <p:spPr>
          <a:xfrm>
            <a:off x="5669280" y="2944368"/>
            <a:ext cx="1737360" cy="438912"/>
          </a:xfrm>
          <a:prstGeom prst="rect">
            <a:avLst/>
          </a:prstGeom>
          <a:solidFill>
            <a:srgbClr val="FBFAF6"/>
          </a:solidFill>
          <a:ln w="8890">
            <a:solidFill>
              <a:srgbClr val="D8D2C4"/>
            </a:solidFill>
            <a:prstDash val="solid"/>
          </a:ln>
        </p:spPr>
      </p:sp>
      <p:sp>
        <p:nvSpPr>
          <p:cNvPr id="38" name="Text 36"/>
          <p:cNvSpPr/>
          <p:nvPr/>
        </p:nvSpPr>
        <p:spPr>
          <a:xfrm>
            <a:off x="5742432" y="3017520"/>
            <a:ext cx="1591056" cy="310896"/>
          </a:xfrm>
          <a:prstGeom prst="rect">
            <a:avLst/>
          </a:prstGeom>
          <a:noFill/>
          <a:ln/>
        </p:spPr>
        <p:txBody>
          <a:bodyPr wrap="square" lIns="508" tIns="508" rIns="508" bIns="508" rtlCol="0" anchor="t">
            <a:normAutofit/>
          </a:bodyPr>
          <a:lstStyle/>
          <a:p>
            <a:pPr indent="0" marL="0">
              <a:buNone/>
            </a:pPr>
            <a:r>
              <a:rPr lang="en-US" sz="690" dirty="0">
                <a:solidFill>
                  <a:srgbClr val="14211C"/>
                </a:solidFill>
                <a:latin typeface="Arial" pitchFamily="34" charset="0"/>
                <a:ea typeface="Arial" pitchFamily="34" charset="-122"/>
                <a:cs typeface="Arial" pitchFamily="34" charset="-120"/>
              </a:rPr>
              <a:t>Current + previous soil</a:t>
            </a:r>
            <a:endParaRPr lang="en-US" sz="690" dirty="0"/>
          </a:p>
        </p:txBody>
      </p:sp>
      <p:sp>
        <p:nvSpPr>
          <p:cNvPr id="39" name="Shape 37"/>
          <p:cNvSpPr/>
          <p:nvPr/>
        </p:nvSpPr>
        <p:spPr>
          <a:xfrm>
            <a:off x="7406640" y="2944368"/>
            <a:ext cx="2606040" cy="438912"/>
          </a:xfrm>
          <a:prstGeom prst="rect">
            <a:avLst/>
          </a:prstGeom>
          <a:solidFill>
            <a:srgbClr val="FBFAF6"/>
          </a:solidFill>
          <a:ln w="8890">
            <a:solidFill>
              <a:srgbClr val="D8D2C4"/>
            </a:solidFill>
            <a:prstDash val="solid"/>
          </a:ln>
        </p:spPr>
      </p:sp>
      <p:sp>
        <p:nvSpPr>
          <p:cNvPr id="40" name="Text 38"/>
          <p:cNvSpPr/>
          <p:nvPr/>
        </p:nvSpPr>
        <p:spPr>
          <a:xfrm>
            <a:off x="7479792" y="3017520"/>
            <a:ext cx="2459736" cy="310896"/>
          </a:xfrm>
          <a:prstGeom prst="rect">
            <a:avLst/>
          </a:prstGeom>
          <a:noFill/>
          <a:ln/>
        </p:spPr>
        <p:txBody>
          <a:bodyPr wrap="square" lIns="508" tIns="508" rIns="508" bIns="508" rtlCol="0" anchor="t">
            <a:normAutofit/>
          </a:bodyPr>
          <a:lstStyle/>
          <a:p>
            <a:pPr indent="0" marL="0">
              <a:buNone/>
            </a:pPr>
            <a:r>
              <a:rPr lang="en-US" sz="690" dirty="0">
                <a:solidFill>
                  <a:srgbClr val="14211C"/>
                </a:solidFill>
                <a:latin typeface="Arial" pitchFamily="34" charset="0"/>
                <a:ea typeface="Arial" pitchFamily="34" charset="-122"/>
                <a:cs typeface="Arial" pitchFamily="34" charset="-120"/>
              </a:rPr>
              <a:t>Feature extraction</a:t>
            </a:r>
            <a:endParaRPr lang="en-US" sz="690" dirty="0"/>
          </a:p>
        </p:txBody>
      </p:sp>
      <p:sp>
        <p:nvSpPr>
          <p:cNvPr id="41" name="Shape 39"/>
          <p:cNvSpPr/>
          <p:nvPr/>
        </p:nvSpPr>
        <p:spPr>
          <a:xfrm>
            <a:off x="10012680" y="2944368"/>
            <a:ext cx="2103120" cy="438912"/>
          </a:xfrm>
          <a:prstGeom prst="rect">
            <a:avLst/>
          </a:prstGeom>
          <a:solidFill>
            <a:srgbClr val="FBFAF6"/>
          </a:solidFill>
          <a:ln w="8890">
            <a:solidFill>
              <a:srgbClr val="D8D2C4"/>
            </a:solidFill>
            <a:prstDash val="solid"/>
          </a:ln>
        </p:spPr>
      </p:sp>
      <p:sp>
        <p:nvSpPr>
          <p:cNvPr id="42" name="Text 40"/>
          <p:cNvSpPr/>
          <p:nvPr/>
        </p:nvSpPr>
        <p:spPr>
          <a:xfrm>
            <a:off x="10085832" y="3017520"/>
            <a:ext cx="1956816" cy="310896"/>
          </a:xfrm>
          <a:prstGeom prst="rect">
            <a:avLst/>
          </a:prstGeom>
          <a:noFill/>
          <a:ln/>
        </p:spPr>
        <p:txBody>
          <a:bodyPr wrap="square" lIns="508" tIns="508" rIns="508" bIns="508" rtlCol="0" anchor="t">
            <a:normAutofit/>
          </a:bodyPr>
          <a:lstStyle/>
          <a:p>
            <a:pPr indent="0" marL="0">
              <a:buNone/>
            </a:pPr>
            <a:r>
              <a:rPr lang="en-US" sz="690" dirty="0">
                <a:solidFill>
                  <a:srgbClr val="14211C"/>
                </a:solidFill>
                <a:latin typeface="Arial" pitchFamily="34" charset="0"/>
                <a:ea typeface="Arial" pitchFamily="34" charset="-122"/>
                <a:cs typeface="Arial" pitchFamily="34" charset="-120"/>
              </a:rPr>
              <a:t>moisture_change_rate</a:t>
            </a:r>
            <a:endParaRPr lang="en-US" sz="690" dirty="0"/>
          </a:p>
        </p:txBody>
      </p:sp>
      <p:sp>
        <p:nvSpPr>
          <p:cNvPr id="43" name="Shape 41"/>
          <p:cNvSpPr/>
          <p:nvPr/>
        </p:nvSpPr>
        <p:spPr>
          <a:xfrm>
            <a:off x="5669280" y="3383280"/>
            <a:ext cx="1737360" cy="438912"/>
          </a:xfrm>
          <a:prstGeom prst="rect">
            <a:avLst/>
          </a:prstGeom>
          <a:solidFill>
            <a:srgbClr val="FFFFFF"/>
          </a:solidFill>
          <a:ln w="8890">
            <a:solidFill>
              <a:srgbClr val="D8D2C4"/>
            </a:solidFill>
            <a:prstDash val="solid"/>
          </a:ln>
        </p:spPr>
      </p:sp>
      <p:sp>
        <p:nvSpPr>
          <p:cNvPr id="44" name="Text 42"/>
          <p:cNvSpPr/>
          <p:nvPr/>
        </p:nvSpPr>
        <p:spPr>
          <a:xfrm>
            <a:off x="5742432" y="3456432"/>
            <a:ext cx="1591056" cy="310896"/>
          </a:xfrm>
          <a:prstGeom prst="rect">
            <a:avLst/>
          </a:prstGeom>
          <a:noFill/>
          <a:ln/>
        </p:spPr>
        <p:txBody>
          <a:bodyPr wrap="square" lIns="508" tIns="508" rIns="508" bIns="508" rtlCol="0" anchor="t">
            <a:normAutofit/>
          </a:bodyPr>
          <a:lstStyle/>
          <a:p>
            <a:pPr indent="0" marL="0">
              <a:buNone/>
            </a:pPr>
            <a:r>
              <a:rPr lang="en-US" sz="690" dirty="0">
                <a:solidFill>
                  <a:srgbClr val="14211C"/>
                </a:solidFill>
                <a:latin typeface="Arial" pitchFamily="34" charset="0"/>
                <a:ea typeface="Arial" pitchFamily="34" charset="-122"/>
                <a:cs typeface="Arial" pitchFamily="34" charset="-120"/>
              </a:rPr>
              <a:t>Pump ON/OFF text</a:t>
            </a:r>
            <a:endParaRPr lang="en-US" sz="690" dirty="0"/>
          </a:p>
        </p:txBody>
      </p:sp>
      <p:sp>
        <p:nvSpPr>
          <p:cNvPr id="45" name="Shape 43"/>
          <p:cNvSpPr/>
          <p:nvPr/>
        </p:nvSpPr>
        <p:spPr>
          <a:xfrm>
            <a:off x="7406640" y="3383280"/>
            <a:ext cx="2606040" cy="438912"/>
          </a:xfrm>
          <a:prstGeom prst="rect">
            <a:avLst/>
          </a:prstGeom>
          <a:solidFill>
            <a:srgbClr val="FFFFFF"/>
          </a:solidFill>
          <a:ln w="8890">
            <a:solidFill>
              <a:srgbClr val="D8D2C4"/>
            </a:solidFill>
            <a:prstDash val="solid"/>
          </a:ln>
        </p:spPr>
      </p:sp>
      <p:sp>
        <p:nvSpPr>
          <p:cNvPr id="46" name="Text 44"/>
          <p:cNvSpPr/>
          <p:nvPr/>
        </p:nvSpPr>
        <p:spPr>
          <a:xfrm>
            <a:off x="7479792" y="3456432"/>
            <a:ext cx="2459736" cy="310896"/>
          </a:xfrm>
          <a:prstGeom prst="rect">
            <a:avLst/>
          </a:prstGeom>
          <a:noFill/>
          <a:ln/>
        </p:spPr>
        <p:txBody>
          <a:bodyPr wrap="square" lIns="508" tIns="508" rIns="508" bIns="508" rtlCol="0" anchor="t">
            <a:normAutofit/>
          </a:bodyPr>
          <a:lstStyle/>
          <a:p>
            <a:pPr indent="0" marL="0">
              <a:buNone/>
            </a:pPr>
            <a:r>
              <a:rPr lang="en-US" sz="690" dirty="0">
                <a:solidFill>
                  <a:srgbClr val="14211C"/>
                </a:solidFill>
                <a:latin typeface="Arial" pitchFamily="34" charset="0"/>
                <a:ea typeface="Arial" pitchFamily="34" charset="-122"/>
                <a:cs typeface="Arial" pitchFamily="34" charset="-120"/>
              </a:rPr>
              <a:t>Encode for ML feature</a:t>
            </a:r>
            <a:endParaRPr lang="en-US" sz="690" dirty="0"/>
          </a:p>
        </p:txBody>
      </p:sp>
      <p:sp>
        <p:nvSpPr>
          <p:cNvPr id="47" name="Shape 45"/>
          <p:cNvSpPr/>
          <p:nvPr/>
        </p:nvSpPr>
        <p:spPr>
          <a:xfrm>
            <a:off x="10012680" y="3383280"/>
            <a:ext cx="2103120" cy="438912"/>
          </a:xfrm>
          <a:prstGeom prst="rect">
            <a:avLst/>
          </a:prstGeom>
          <a:solidFill>
            <a:srgbClr val="FFFFFF"/>
          </a:solidFill>
          <a:ln w="8890">
            <a:solidFill>
              <a:srgbClr val="D8D2C4"/>
            </a:solidFill>
            <a:prstDash val="solid"/>
          </a:ln>
        </p:spPr>
      </p:sp>
      <p:sp>
        <p:nvSpPr>
          <p:cNvPr id="48" name="Text 46"/>
          <p:cNvSpPr/>
          <p:nvPr/>
        </p:nvSpPr>
        <p:spPr>
          <a:xfrm>
            <a:off x="10085832" y="3456432"/>
            <a:ext cx="1956816" cy="310896"/>
          </a:xfrm>
          <a:prstGeom prst="rect">
            <a:avLst/>
          </a:prstGeom>
          <a:noFill/>
          <a:ln/>
        </p:spPr>
        <p:txBody>
          <a:bodyPr wrap="square" lIns="508" tIns="508" rIns="508" bIns="508" rtlCol="0" anchor="t">
            <a:normAutofit/>
          </a:bodyPr>
          <a:lstStyle/>
          <a:p>
            <a:pPr indent="0" marL="0">
              <a:buNone/>
            </a:pPr>
            <a:r>
              <a:rPr lang="en-US" sz="690" dirty="0">
                <a:solidFill>
                  <a:srgbClr val="14211C"/>
                </a:solidFill>
                <a:latin typeface="Arial" pitchFamily="34" charset="0"/>
                <a:ea typeface="Arial" pitchFamily="34" charset="-122"/>
                <a:cs typeface="Arial" pitchFamily="34" charset="-120"/>
              </a:rPr>
              <a:t>pump_status_code</a:t>
            </a:r>
            <a:endParaRPr lang="en-US" sz="690" dirty="0"/>
          </a:p>
        </p:txBody>
      </p:sp>
      <p:sp>
        <p:nvSpPr>
          <p:cNvPr id="49" name="Shape 47"/>
          <p:cNvSpPr/>
          <p:nvPr/>
        </p:nvSpPr>
        <p:spPr>
          <a:xfrm>
            <a:off x="5669280" y="3822192"/>
            <a:ext cx="1737360" cy="438912"/>
          </a:xfrm>
          <a:prstGeom prst="rect">
            <a:avLst/>
          </a:prstGeom>
          <a:solidFill>
            <a:srgbClr val="FBFAF6"/>
          </a:solidFill>
          <a:ln w="8890">
            <a:solidFill>
              <a:srgbClr val="D8D2C4"/>
            </a:solidFill>
            <a:prstDash val="solid"/>
          </a:ln>
        </p:spPr>
      </p:sp>
      <p:sp>
        <p:nvSpPr>
          <p:cNvPr id="50" name="Text 48"/>
          <p:cNvSpPr/>
          <p:nvPr/>
        </p:nvSpPr>
        <p:spPr>
          <a:xfrm>
            <a:off x="5742432" y="3895344"/>
            <a:ext cx="1591056" cy="310896"/>
          </a:xfrm>
          <a:prstGeom prst="rect">
            <a:avLst/>
          </a:prstGeom>
          <a:noFill/>
          <a:ln/>
        </p:spPr>
        <p:txBody>
          <a:bodyPr wrap="square" lIns="508" tIns="508" rIns="508" bIns="508" rtlCol="0" anchor="t">
            <a:normAutofit/>
          </a:bodyPr>
          <a:lstStyle/>
          <a:p>
            <a:pPr indent="0" marL="0">
              <a:buNone/>
            </a:pPr>
            <a:r>
              <a:rPr lang="en-US" sz="690" dirty="0">
                <a:solidFill>
                  <a:srgbClr val="14211C"/>
                </a:solidFill>
                <a:latin typeface="Arial" pitchFamily="34" charset="0"/>
                <a:ea typeface="Arial" pitchFamily="34" charset="-122"/>
                <a:cs typeface="Arial" pitchFamily="34" charset="-120"/>
              </a:rPr>
              <a:t>Incomplete training row</a:t>
            </a:r>
            <a:endParaRPr lang="en-US" sz="690" dirty="0"/>
          </a:p>
        </p:txBody>
      </p:sp>
      <p:sp>
        <p:nvSpPr>
          <p:cNvPr id="51" name="Shape 49"/>
          <p:cNvSpPr/>
          <p:nvPr/>
        </p:nvSpPr>
        <p:spPr>
          <a:xfrm>
            <a:off x="7406640" y="3822192"/>
            <a:ext cx="2606040" cy="438912"/>
          </a:xfrm>
          <a:prstGeom prst="rect">
            <a:avLst/>
          </a:prstGeom>
          <a:solidFill>
            <a:srgbClr val="FBFAF6"/>
          </a:solidFill>
          <a:ln w="8890">
            <a:solidFill>
              <a:srgbClr val="D8D2C4"/>
            </a:solidFill>
            <a:prstDash val="solid"/>
          </a:ln>
        </p:spPr>
      </p:sp>
      <p:sp>
        <p:nvSpPr>
          <p:cNvPr id="52" name="Text 50"/>
          <p:cNvSpPr/>
          <p:nvPr/>
        </p:nvSpPr>
        <p:spPr>
          <a:xfrm>
            <a:off x="7479792" y="3895344"/>
            <a:ext cx="2459736" cy="310896"/>
          </a:xfrm>
          <a:prstGeom prst="rect">
            <a:avLst/>
          </a:prstGeom>
          <a:noFill/>
          <a:ln/>
        </p:spPr>
        <p:txBody>
          <a:bodyPr wrap="square" lIns="508" tIns="508" rIns="508" bIns="508" rtlCol="0" anchor="t">
            <a:normAutofit/>
          </a:bodyPr>
          <a:lstStyle/>
          <a:p>
            <a:pPr indent="0" marL="0">
              <a:buNone/>
            </a:pPr>
            <a:r>
              <a:rPr lang="en-US" sz="690" dirty="0">
                <a:solidFill>
                  <a:srgbClr val="14211C"/>
                </a:solidFill>
                <a:latin typeface="Arial" pitchFamily="34" charset="0"/>
                <a:ea typeface="Arial" pitchFamily="34" charset="-122"/>
                <a:cs typeface="Arial" pitchFamily="34" charset="-120"/>
              </a:rPr>
              <a:t>Drop before training</a:t>
            </a:r>
            <a:endParaRPr lang="en-US" sz="690" dirty="0"/>
          </a:p>
        </p:txBody>
      </p:sp>
      <p:sp>
        <p:nvSpPr>
          <p:cNvPr id="53" name="Shape 51"/>
          <p:cNvSpPr/>
          <p:nvPr/>
        </p:nvSpPr>
        <p:spPr>
          <a:xfrm>
            <a:off x="10012680" y="3822192"/>
            <a:ext cx="2103120" cy="438912"/>
          </a:xfrm>
          <a:prstGeom prst="rect">
            <a:avLst/>
          </a:prstGeom>
          <a:solidFill>
            <a:srgbClr val="FBFAF6"/>
          </a:solidFill>
          <a:ln w="8890">
            <a:solidFill>
              <a:srgbClr val="D8D2C4"/>
            </a:solidFill>
            <a:prstDash val="solid"/>
          </a:ln>
        </p:spPr>
      </p:sp>
      <p:sp>
        <p:nvSpPr>
          <p:cNvPr id="54" name="Text 52"/>
          <p:cNvSpPr/>
          <p:nvPr/>
        </p:nvSpPr>
        <p:spPr>
          <a:xfrm>
            <a:off x="10085832" y="3895344"/>
            <a:ext cx="1956816" cy="310896"/>
          </a:xfrm>
          <a:prstGeom prst="rect">
            <a:avLst/>
          </a:prstGeom>
          <a:noFill/>
          <a:ln/>
        </p:spPr>
        <p:txBody>
          <a:bodyPr wrap="square" lIns="508" tIns="508" rIns="508" bIns="508" rtlCol="0" anchor="t">
            <a:normAutofit/>
          </a:bodyPr>
          <a:lstStyle/>
          <a:p>
            <a:pPr indent="0" marL="0">
              <a:buNone/>
            </a:pPr>
            <a:r>
              <a:rPr lang="en-US" sz="690" dirty="0">
                <a:solidFill>
                  <a:srgbClr val="14211C"/>
                </a:solidFill>
                <a:latin typeface="Arial" pitchFamily="34" charset="0"/>
                <a:ea typeface="Arial" pitchFamily="34" charset="-122"/>
                <a:cs typeface="Arial" pitchFamily="34" charset="-120"/>
              </a:rPr>
              <a:t>clean dataset</a:t>
            </a:r>
            <a:endParaRPr lang="en-US" sz="690" dirty="0"/>
          </a:p>
        </p:txBody>
      </p:sp>
      <p:sp>
        <p:nvSpPr>
          <p:cNvPr id="55" name="Shape 53"/>
          <p:cNvSpPr/>
          <p:nvPr/>
        </p:nvSpPr>
        <p:spPr>
          <a:xfrm>
            <a:off x="5669280" y="4261104"/>
            <a:ext cx="1737360" cy="438912"/>
          </a:xfrm>
          <a:prstGeom prst="rect">
            <a:avLst/>
          </a:prstGeom>
          <a:solidFill>
            <a:srgbClr val="FFFFFF"/>
          </a:solidFill>
          <a:ln w="8890">
            <a:solidFill>
              <a:srgbClr val="D8D2C4"/>
            </a:solidFill>
            <a:prstDash val="solid"/>
          </a:ln>
        </p:spPr>
      </p:sp>
      <p:sp>
        <p:nvSpPr>
          <p:cNvPr id="56" name="Text 54"/>
          <p:cNvSpPr/>
          <p:nvPr/>
        </p:nvSpPr>
        <p:spPr>
          <a:xfrm>
            <a:off x="5742432" y="4334256"/>
            <a:ext cx="1591056" cy="310896"/>
          </a:xfrm>
          <a:prstGeom prst="rect">
            <a:avLst/>
          </a:prstGeom>
          <a:noFill/>
          <a:ln/>
        </p:spPr>
        <p:txBody>
          <a:bodyPr wrap="square" lIns="508" tIns="508" rIns="508" bIns="508" rtlCol="0" anchor="t">
            <a:normAutofit/>
          </a:bodyPr>
          <a:lstStyle/>
          <a:p>
            <a:pPr indent="0" marL="0">
              <a:buNone/>
            </a:pPr>
            <a:r>
              <a:rPr lang="en-US" sz="690" dirty="0">
                <a:solidFill>
                  <a:srgbClr val="14211C"/>
                </a:solidFill>
                <a:latin typeface="Arial" pitchFamily="34" charset="0"/>
                <a:ea typeface="Arial" pitchFamily="34" charset="-122"/>
                <a:cs typeface="Arial" pitchFamily="34" charset="-120"/>
              </a:rPr>
              <a:t>Missing DHT11 data</a:t>
            </a:r>
            <a:endParaRPr lang="en-US" sz="690" dirty="0"/>
          </a:p>
        </p:txBody>
      </p:sp>
      <p:sp>
        <p:nvSpPr>
          <p:cNvPr id="57" name="Shape 55"/>
          <p:cNvSpPr/>
          <p:nvPr/>
        </p:nvSpPr>
        <p:spPr>
          <a:xfrm>
            <a:off x="7406640" y="4261104"/>
            <a:ext cx="2606040" cy="438912"/>
          </a:xfrm>
          <a:prstGeom prst="rect">
            <a:avLst/>
          </a:prstGeom>
          <a:solidFill>
            <a:srgbClr val="FFFFFF"/>
          </a:solidFill>
          <a:ln w="8890">
            <a:solidFill>
              <a:srgbClr val="D8D2C4"/>
            </a:solidFill>
            <a:prstDash val="solid"/>
          </a:ln>
        </p:spPr>
      </p:sp>
      <p:sp>
        <p:nvSpPr>
          <p:cNvPr id="58" name="Text 56"/>
          <p:cNvSpPr/>
          <p:nvPr/>
        </p:nvSpPr>
        <p:spPr>
          <a:xfrm>
            <a:off x="7479792" y="4334256"/>
            <a:ext cx="2459736" cy="310896"/>
          </a:xfrm>
          <a:prstGeom prst="rect">
            <a:avLst/>
          </a:prstGeom>
          <a:noFill/>
          <a:ln/>
        </p:spPr>
        <p:txBody>
          <a:bodyPr wrap="square" lIns="508" tIns="508" rIns="508" bIns="508" rtlCol="0" anchor="t">
            <a:normAutofit/>
          </a:bodyPr>
          <a:lstStyle/>
          <a:p>
            <a:pPr indent="0" marL="0">
              <a:buNone/>
            </a:pPr>
            <a:r>
              <a:rPr lang="en-US" sz="690" dirty="0">
                <a:solidFill>
                  <a:srgbClr val="14211C"/>
                </a:solidFill>
                <a:latin typeface="Arial" pitchFamily="34" charset="0"/>
                <a:ea typeface="Arial" pitchFamily="34" charset="-122"/>
                <a:cs typeface="Arial" pitchFamily="34" charset="-120"/>
              </a:rPr>
              <a:t>Do not average; return Unknown</a:t>
            </a:r>
            <a:endParaRPr lang="en-US" sz="690" dirty="0"/>
          </a:p>
        </p:txBody>
      </p:sp>
      <p:sp>
        <p:nvSpPr>
          <p:cNvPr id="59" name="Shape 57"/>
          <p:cNvSpPr/>
          <p:nvPr/>
        </p:nvSpPr>
        <p:spPr>
          <a:xfrm>
            <a:off x="10012680" y="4261104"/>
            <a:ext cx="2103120" cy="438912"/>
          </a:xfrm>
          <a:prstGeom prst="rect">
            <a:avLst/>
          </a:prstGeom>
          <a:solidFill>
            <a:srgbClr val="FFFFFF"/>
          </a:solidFill>
          <a:ln w="8890">
            <a:solidFill>
              <a:srgbClr val="D8D2C4"/>
            </a:solidFill>
            <a:prstDash val="solid"/>
          </a:ln>
        </p:spPr>
      </p:sp>
      <p:sp>
        <p:nvSpPr>
          <p:cNvPr id="60" name="Text 58"/>
          <p:cNvSpPr/>
          <p:nvPr/>
        </p:nvSpPr>
        <p:spPr>
          <a:xfrm>
            <a:off x="10085832" y="4334256"/>
            <a:ext cx="1956816" cy="310896"/>
          </a:xfrm>
          <a:prstGeom prst="rect">
            <a:avLst/>
          </a:prstGeom>
          <a:noFill/>
          <a:ln/>
        </p:spPr>
        <p:txBody>
          <a:bodyPr wrap="square" lIns="508" tIns="508" rIns="508" bIns="508" rtlCol="0" anchor="t">
            <a:normAutofit/>
          </a:bodyPr>
          <a:lstStyle/>
          <a:p>
            <a:pPr indent="0" marL="0">
              <a:buNone/>
            </a:pPr>
            <a:r>
              <a:rPr lang="en-US" sz="690" dirty="0">
                <a:solidFill>
                  <a:srgbClr val="14211C"/>
                </a:solidFill>
                <a:latin typeface="Arial" pitchFamily="34" charset="0"/>
                <a:ea typeface="Arial" pitchFamily="34" charset="-122"/>
                <a:cs typeface="Arial" pitchFamily="34" charset="-120"/>
              </a:rPr>
              <a:t>DHT Missing alert</a:t>
            </a:r>
            <a:endParaRPr lang="en-US" sz="690" dirty="0"/>
          </a:p>
        </p:txBody>
      </p:sp>
      <p:sp>
        <p:nvSpPr>
          <p:cNvPr id="61" name="Shape 59"/>
          <p:cNvSpPr/>
          <p:nvPr/>
        </p:nvSpPr>
        <p:spPr>
          <a:xfrm>
            <a:off x="566928" y="3246120"/>
            <a:ext cx="4800600" cy="1645920"/>
          </a:xfrm>
          <a:prstGeom prst="roundRect">
            <a:avLst>
              <a:gd name="adj" fmla="val 4444"/>
            </a:avLst>
          </a:prstGeom>
          <a:solidFill>
            <a:srgbClr val="FFFFFF"/>
          </a:solidFill>
          <a:ln w="8890">
            <a:solidFill>
              <a:srgbClr val="D8D2C4"/>
            </a:solidFill>
            <a:prstDash val="solid"/>
          </a:ln>
        </p:spPr>
      </p:sp>
      <p:sp>
        <p:nvSpPr>
          <p:cNvPr id="62" name="Text 60"/>
          <p:cNvSpPr/>
          <p:nvPr/>
        </p:nvSpPr>
        <p:spPr>
          <a:xfrm>
            <a:off x="786384" y="3447288"/>
            <a:ext cx="4023360" cy="210312"/>
          </a:xfrm>
          <a:prstGeom prst="rect">
            <a:avLst/>
          </a:prstGeom>
          <a:noFill/>
          <a:ln/>
        </p:spPr>
        <p:txBody>
          <a:bodyPr wrap="square" lIns="508" tIns="508" rIns="508" bIns="508" rtlCol="0" anchor="t">
            <a:normAutofit/>
          </a:bodyPr>
          <a:lstStyle/>
          <a:p>
            <a:pPr indent="0" marL="0">
              <a:buNone/>
            </a:pPr>
            <a:r>
              <a:rPr lang="en-US" sz="1000" b="1" dirty="0">
                <a:solidFill>
                  <a:srgbClr val="1F6B4D"/>
                </a:solidFill>
                <a:latin typeface="Arial" pitchFamily="34" charset="0"/>
                <a:ea typeface="Arial" pitchFamily="34" charset="-122"/>
                <a:cs typeface="Arial" pitchFamily="34" charset="-120"/>
              </a:rPr>
              <a:t>Why missing DHT11 is not averaged</a:t>
            </a:r>
            <a:endParaRPr lang="en-US" sz="1000" dirty="0"/>
          </a:p>
        </p:txBody>
      </p:sp>
      <p:sp>
        <p:nvSpPr>
          <p:cNvPr id="63" name="Text 61"/>
          <p:cNvSpPr/>
          <p:nvPr/>
        </p:nvSpPr>
        <p:spPr>
          <a:xfrm>
            <a:off x="786384" y="3785616"/>
            <a:ext cx="4160520" cy="548640"/>
          </a:xfrm>
          <a:prstGeom prst="rect">
            <a:avLst/>
          </a:prstGeom>
          <a:noFill/>
          <a:ln/>
        </p:spPr>
        <p:txBody>
          <a:bodyPr wrap="square" lIns="508" tIns="508" rIns="508" bIns="508" rtlCol="0" anchor="t">
            <a:normAutofit/>
          </a:bodyPr>
          <a:lstStyle/>
          <a:p>
            <a:pPr indent="0" marL="0">
              <a:buNone/>
            </a:pPr>
            <a:r>
              <a:rPr lang="en-US" sz="800" dirty="0">
                <a:solidFill>
                  <a:srgbClr val="5E6B63"/>
                </a:solidFill>
                <a:latin typeface="Arial" pitchFamily="34" charset="0"/>
                <a:ea typeface="Arial" pitchFamily="34" charset="-122"/>
                <a:cs typeface="Arial" pitchFamily="34" charset="-120"/>
              </a:rPr>
              <a:t>In real hardware, missing temperature or humidity may indicate wiring or sensor failure. Filling with an average can hide the fault and create fake weather conditions, so the safer output is ml_prediction = Unknown.</a:t>
            </a:r>
            <a:endParaRPr lang="en-US" sz="800" dirty="0"/>
          </a:p>
        </p:txBody>
      </p:sp>
      <p:sp>
        <p:nvSpPr>
          <p:cNvPr id="64" name="Text 62"/>
          <p:cNvSpPr/>
          <p:nvPr/>
        </p:nvSpPr>
        <p:spPr>
          <a:xfrm>
            <a:off x="786384" y="4553712"/>
            <a:ext cx="4160520" cy="201168"/>
          </a:xfrm>
          <a:prstGeom prst="rect">
            <a:avLst/>
          </a:prstGeom>
          <a:noFill/>
          <a:ln/>
        </p:spPr>
        <p:txBody>
          <a:bodyPr wrap="square" lIns="508" tIns="508" rIns="508" bIns="508" rtlCol="0" anchor="t">
            <a:normAutofit/>
          </a:bodyPr>
          <a:lstStyle/>
          <a:p>
            <a:pPr indent="0" marL="0">
              <a:buNone/>
            </a:pPr>
            <a:r>
              <a:rPr lang="en-US" sz="800" b="1" dirty="0">
                <a:solidFill>
                  <a:srgbClr val="E6A33D"/>
                </a:solidFill>
                <a:latin typeface="Arial" pitchFamily="34" charset="0"/>
                <a:ea typeface="Arial" pitchFamily="34" charset="-122"/>
                <a:cs typeface="Arial" pitchFamily="34" charset="-120"/>
              </a:rPr>
              <a:t>This covers the assignment requirement for at least two data handling or preprocessing steps.</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E"/>
        </a:solidFill>
      </p:bgPr>
    </p:bg>
    <p:spTree>
      <p:nvGrpSpPr>
        <p:cNvPr id="1" name=""/>
        <p:cNvGrpSpPr/>
        <p:nvPr/>
      </p:nvGrpSpPr>
      <p:grpSpPr>
        <a:xfrm>
          <a:off x="0" y="0"/>
          <a:ext cx="0" cy="0"/>
          <a:chOff x="0" y="0"/>
          <a:chExt cx="0" cy="0"/>
        </a:xfrm>
      </p:grpSpPr>
      <p:sp>
        <p:nvSpPr>
          <p:cNvPr id="2" name="Shape 0"/>
          <p:cNvSpPr/>
          <p:nvPr/>
        </p:nvSpPr>
        <p:spPr>
          <a:xfrm>
            <a:off x="502920" y="530352"/>
            <a:ext cx="320040" cy="0"/>
          </a:xfrm>
          <a:prstGeom prst="line">
            <a:avLst/>
          </a:prstGeom>
          <a:noFill/>
          <a:ln w="25400">
            <a:solidFill>
              <a:srgbClr val="1F6B4D"/>
            </a:solidFill>
            <a:prstDash val="solid"/>
          </a:ln>
        </p:spPr>
      </p:sp>
      <p:sp>
        <p:nvSpPr>
          <p:cNvPr id="3" name="Text 1"/>
          <p:cNvSpPr/>
          <p:nvPr/>
        </p:nvSpPr>
        <p:spPr>
          <a:xfrm>
            <a:off x="932688" y="420624"/>
            <a:ext cx="3840480" cy="228600"/>
          </a:xfrm>
          <a:prstGeom prst="rect">
            <a:avLst/>
          </a:prstGeom>
          <a:noFill/>
          <a:ln/>
        </p:spPr>
        <p:txBody>
          <a:bodyPr wrap="square" lIns="508" tIns="508" rIns="508" bIns="508" rtlCol="0" anchor="t">
            <a:normAutofit/>
          </a:bodyPr>
          <a:lstStyle/>
          <a:p>
            <a:pPr indent="0" marL="0">
              <a:buNone/>
            </a:pPr>
            <a:r>
              <a:rPr lang="en-US" sz="760" b="1" dirty="0">
                <a:solidFill>
                  <a:srgbClr val="1F6B4D"/>
                </a:solidFill>
                <a:latin typeface="Arial" pitchFamily="34" charset="0"/>
                <a:ea typeface="Arial" pitchFamily="34" charset="-122"/>
                <a:cs typeface="Arial" pitchFamily="34" charset="-120"/>
              </a:rPr>
              <a:t>INTELLIGENCE</a:t>
            </a:r>
            <a:endParaRPr lang="en-US" sz="760" dirty="0"/>
          </a:p>
        </p:txBody>
      </p:sp>
      <p:sp>
        <p:nvSpPr>
          <p:cNvPr id="4" name="Text 2"/>
          <p:cNvSpPr/>
          <p:nvPr/>
        </p:nvSpPr>
        <p:spPr>
          <a:xfrm>
            <a:off x="502920" y="758952"/>
            <a:ext cx="9692640" cy="658368"/>
          </a:xfrm>
          <a:prstGeom prst="rect">
            <a:avLst/>
          </a:prstGeom>
          <a:noFill/>
          <a:ln/>
        </p:spPr>
        <p:txBody>
          <a:bodyPr wrap="square" lIns="508" tIns="508" rIns="508" bIns="508" rtlCol="0" anchor="t">
            <a:normAutofit/>
          </a:bodyPr>
          <a:lstStyle/>
          <a:p>
            <a:pPr indent="0" marL="0">
              <a:buNone/>
            </a:pPr>
            <a:r>
              <a:rPr lang="en-US" sz="2200" b="1" dirty="0">
                <a:solidFill>
                  <a:srgbClr val="14211C"/>
                </a:solidFill>
                <a:latin typeface="Georgia" pitchFamily="34" charset="0"/>
                <a:ea typeface="Georgia" pitchFamily="34" charset="-122"/>
                <a:cs typeface="Georgia" pitchFamily="34" charset="-120"/>
              </a:rPr>
              <a:t>The ML layer predicts future dryness instead of replacing the safe baseline.</a:t>
            </a:r>
            <a:endParaRPr lang="en-US" sz="2200" dirty="0"/>
          </a:p>
        </p:txBody>
      </p:sp>
      <p:sp>
        <p:nvSpPr>
          <p:cNvPr id="5" name="Shape 3"/>
          <p:cNvSpPr/>
          <p:nvPr/>
        </p:nvSpPr>
        <p:spPr>
          <a:xfrm>
            <a:off x="502920" y="6428232"/>
            <a:ext cx="10835640" cy="0"/>
          </a:xfrm>
          <a:prstGeom prst="line">
            <a:avLst/>
          </a:prstGeom>
          <a:noFill/>
          <a:ln w="6350">
            <a:solidFill>
              <a:srgbClr val="D8D2C4"/>
            </a:solidFill>
            <a:prstDash val="solid"/>
          </a:ln>
        </p:spPr>
      </p:sp>
      <p:sp>
        <p:nvSpPr>
          <p:cNvPr id="6" name="Text 4"/>
          <p:cNvSpPr/>
          <p:nvPr/>
        </p:nvSpPr>
        <p:spPr>
          <a:xfrm>
            <a:off x="502920" y="6510528"/>
            <a:ext cx="7680960" cy="164592"/>
          </a:xfrm>
          <a:prstGeom prst="rect">
            <a:avLst/>
          </a:prstGeom>
          <a:noFill/>
          <a:ln/>
        </p:spPr>
        <p:txBody>
          <a:bodyPr wrap="square" lIns="508" tIns="508" rIns="508" bIns="508" rtlCol="0" anchor="t">
            <a:normAutofit/>
          </a:bodyPr>
          <a:lstStyle/>
          <a:p>
            <a:pPr indent="0" marL="0">
              <a:buNone/>
            </a:pPr>
            <a:r>
              <a:rPr lang="en-US" sz="680" dirty="0">
                <a:solidFill>
                  <a:srgbClr val="5E6B63"/>
                </a:solidFill>
                <a:latin typeface="Arial" pitchFamily="34" charset="0"/>
                <a:ea typeface="Arial" pitchFamily="34" charset="-122"/>
                <a:cs typeface="Arial" pitchFamily="34" charset="-120"/>
              </a:rPr>
              <a:t>Source: project README, Student Guide, and SRTA3353 Project 2 criteria</a:t>
            </a:r>
            <a:endParaRPr lang="en-US" sz="680" dirty="0"/>
          </a:p>
        </p:txBody>
      </p:sp>
      <p:sp>
        <p:nvSpPr>
          <p:cNvPr id="7" name="Text 5"/>
          <p:cNvSpPr/>
          <p:nvPr/>
        </p:nvSpPr>
        <p:spPr>
          <a:xfrm>
            <a:off x="11064240" y="6510528"/>
            <a:ext cx="457200" cy="164592"/>
          </a:xfrm>
          <a:prstGeom prst="rect">
            <a:avLst/>
          </a:prstGeom>
          <a:noFill/>
          <a:ln/>
        </p:spPr>
        <p:txBody>
          <a:bodyPr wrap="square" lIns="508" tIns="508" rIns="508" bIns="508" rtlCol="0" anchor="t">
            <a:normAutofit/>
          </a:bodyPr>
          <a:lstStyle/>
          <a:p>
            <a:pPr indent="0" marL="0">
              <a:buNone/>
            </a:pPr>
            <a:r>
              <a:rPr lang="en-US" sz="680" b="1" dirty="0">
                <a:solidFill>
                  <a:srgbClr val="5E6B63"/>
                </a:solidFill>
                <a:latin typeface="Arial" pitchFamily="34" charset="0"/>
                <a:ea typeface="Arial" pitchFamily="34" charset="-122"/>
                <a:cs typeface="Arial" pitchFamily="34" charset="-120"/>
              </a:rPr>
              <a:t>07</a:t>
            </a:r>
            <a:endParaRPr lang="en-US" sz="680" dirty="0"/>
          </a:p>
        </p:txBody>
      </p:sp>
      <p:sp>
        <p:nvSpPr>
          <p:cNvPr id="8" name="Shape 6"/>
          <p:cNvSpPr/>
          <p:nvPr/>
        </p:nvSpPr>
        <p:spPr>
          <a:xfrm>
            <a:off x="594360" y="1737360"/>
            <a:ext cx="1645920" cy="566928"/>
          </a:xfrm>
          <a:prstGeom prst="rect">
            <a:avLst/>
          </a:prstGeom>
          <a:solidFill>
            <a:srgbClr val="10251D"/>
          </a:solidFill>
          <a:ln w="8890">
            <a:solidFill>
              <a:srgbClr val="D8D2C4"/>
            </a:solidFill>
            <a:prstDash val="solid"/>
          </a:ln>
        </p:spPr>
      </p:sp>
      <p:sp>
        <p:nvSpPr>
          <p:cNvPr id="9" name="Text 7"/>
          <p:cNvSpPr/>
          <p:nvPr/>
        </p:nvSpPr>
        <p:spPr>
          <a:xfrm>
            <a:off x="667512" y="1810512"/>
            <a:ext cx="1499616" cy="438912"/>
          </a:xfrm>
          <a:prstGeom prst="rect">
            <a:avLst/>
          </a:prstGeom>
          <a:noFill/>
          <a:ln/>
        </p:spPr>
        <p:txBody>
          <a:bodyPr wrap="square" lIns="508" tIns="508" rIns="508" bIns="508" rtlCol="0" anchor="t">
            <a:normAutofit/>
          </a:bodyPr>
          <a:lstStyle/>
          <a:p>
            <a:pPr indent="0" marL="0">
              <a:buNone/>
            </a:pPr>
            <a:r>
              <a:rPr lang="en-US" sz="760" b="1" dirty="0">
                <a:solidFill>
                  <a:srgbClr val="FFFFFF"/>
                </a:solidFill>
                <a:latin typeface="Arial" pitchFamily="34" charset="0"/>
                <a:ea typeface="Arial" pitchFamily="34" charset="-122"/>
                <a:cs typeface="Arial" pitchFamily="34" charset="-120"/>
              </a:rPr>
              <a:t>Item</a:t>
            </a:r>
            <a:endParaRPr lang="en-US" sz="760" dirty="0"/>
          </a:p>
        </p:txBody>
      </p:sp>
      <p:sp>
        <p:nvSpPr>
          <p:cNvPr id="10" name="Shape 8"/>
          <p:cNvSpPr/>
          <p:nvPr/>
        </p:nvSpPr>
        <p:spPr>
          <a:xfrm>
            <a:off x="2240280" y="1737360"/>
            <a:ext cx="3108960" cy="566928"/>
          </a:xfrm>
          <a:prstGeom prst="rect">
            <a:avLst/>
          </a:prstGeom>
          <a:solidFill>
            <a:srgbClr val="10251D"/>
          </a:solidFill>
          <a:ln w="8890">
            <a:solidFill>
              <a:srgbClr val="D8D2C4"/>
            </a:solidFill>
            <a:prstDash val="solid"/>
          </a:ln>
        </p:spPr>
      </p:sp>
      <p:sp>
        <p:nvSpPr>
          <p:cNvPr id="11" name="Text 9"/>
          <p:cNvSpPr/>
          <p:nvPr/>
        </p:nvSpPr>
        <p:spPr>
          <a:xfrm>
            <a:off x="2313432" y="1810512"/>
            <a:ext cx="2962656" cy="438912"/>
          </a:xfrm>
          <a:prstGeom prst="rect">
            <a:avLst/>
          </a:prstGeom>
          <a:noFill/>
          <a:ln/>
        </p:spPr>
        <p:txBody>
          <a:bodyPr wrap="square" lIns="508" tIns="508" rIns="508" bIns="508" rtlCol="0" anchor="t">
            <a:normAutofit/>
          </a:bodyPr>
          <a:lstStyle/>
          <a:p>
            <a:pPr indent="0" marL="0">
              <a:buNone/>
            </a:pPr>
            <a:r>
              <a:rPr lang="en-US" sz="760" b="1" dirty="0">
                <a:solidFill>
                  <a:srgbClr val="FFFFFF"/>
                </a:solidFill>
                <a:latin typeface="Arial" pitchFamily="34" charset="0"/>
                <a:ea typeface="Arial" pitchFamily="34" charset="-122"/>
                <a:cs typeface="Arial" pitchFamily="34" charset="-120"/>
              </a:rPr>
              <a:t>Baseline logic</a:t>
            </a:r>
            <a:endParaRPr lang="en-US" sz="760" dirty="0"/>
          </a:p>
        </p:txBody>
      </p:sp>
      <p:sp>
        <p:nvSpPr>
          <p:cNvPr id="12" name="Shape 10"/>
          <p:cNvSpPr/>
          <p:nvPr/>
        </p:nvSpPr>
        <p:spPr>
          <a:xfrm>
            <a:off x="5349240" y="1737360"/>
            <a:ext cx="4937760" cy="566928"/>
          </a:xfrm>
          <a:prstGeom prst="rect">
            <a:avLst/>
          </a:prstGeom>
          <a:solidFill>
            <a:srgbClr val="10251D"/>
          </a:solidFill>
          <a:ln w="8890">
            <a:solidFill>
              <a:srgbClr val="D8D2C4"/>
            </a:solidFill>
            <a:prstDash val="solid"/>
          </a:ln>
        </p:spPr>
      </p:sp>
      <p:sp>
        <p:nvSpPr>
          <p:cNvPr id="13" name="Text 11"/>
          <p:cNvSpPr/>
          <p:nvPr/>
        </p:nvSpPr>
        <p:spPr>
          <a:xfrm>
            <a:off x="5422392" y="1810512"/>
            <a:ext cx="4791456" cy="438912"/>
          </a:xfrm>
          <a:prstGeom prst="rect">
            <a:avLst/>
          </a:prstGeom>
          <a:noFill/>
          <a:ln/>
        </p:spPr>
        <p:txBody>
          <a:bodyPr wrap="square" lIns="508" tIns="508" rIns="508" bIns="508" rtlCol="0" anchor="t">
            <a:normAutofit/>
          </a:bodyPr>
          <a:lstStyle/>
          <a:p>
            <a:pPr indent="0" marL="0">
              <a:buNone/>
            </a:pPr>
            <a:r>
              <a:rPr lang="en-US" sz="760" b="1" dirty="0">
                <a:solidFill>
                  <a:srgbClr val="FFFFFF"/>
                </a:solidFill>
                <a:latin typeface="Arial" pitchFamily="34" charset="0"/>
                <a:ea typeface="Arial" pitchFamily="34" charset="-122"/>
                <a:cs typeface="Arial" pitchFamily="34" charset="-120"/>
              </a:rPr>
              <a:t>ML intelligent logic</a:t>
            </a:r>
            <a:endParaRPr lang="en-US" sz="760" dirty="0"/>
          </a:p>
        </p:txBody>
      </p:sp>
      <p:sp>
        <p:nvSpPr>
          <p:cNvPr id="14" name="Shape 12"/>
          <p:cNvSpPr/>
          <p:nvPr/>
        </p:nvSpPr>
        <p:spPr>
          <a:xfrm>
            <a:off x="594360" y="2304288"/>
            <a:ext cx="1645920" cy="566928"/>
          </a:xfrm>
          <a:prstGeom prst="rect">
            <a:avLst/>
          </a:prstGeom>
          <a:solidFill>
            <a:srgbClr val="FBFAF6"/>
          </a:solidFill>
          <a:ln w="8890">
            <a:solidFill>
              <a:srgbClr val="D8D2C4"/>
            </a:solidFill>
            <a:prstDash val="solid"/>
          </a:ln>
        </p:spPr>
      </p:sp>
      <p:sp>
        <p:nvSpPr>
          <p:cNvPr id="15" name="Text 13"/>
          <p:cNvSpPr/>
          <p:nvPr/>
        </p:nvSpPr>
        <p:spPr>
          <a:xfrm>
            <a:off x="667512" y="2377440"/>
            <a:ext cx="1499616" cy="438912"/>
          </a:xfrm>
          <a:prstGeom prst="rect">
            <a:avLst/>
          </a:prstGeom>
          <a:noFill/>
          <a:ln/>
        </p:spPr>
        <p:txBody>
          <a:bodyPr wrap="square" lIns="508" tIns="508" rIns="508" bIns="508" rtlCol="0" anchor="t">
            <a:normAutofit/>
          </a:bodyPr>
          <a:lstStyle/>
          <a:p>
            <a:pPr indent="0" marL="0">
              <a:buNone/>
            </a:pPr>
            <a:r>
              <a:rPr lang="en-US" sz="760" dirty="0">
                <a:solidFill>
                  <a:srgbClr val="14211C"/>
                </a:solidFill>
                <a:latin typeface="Arial" pitchFamily="34" charset="0"/>
                <a:ea typeface="Arial" pitchFamily="34" charset="-122"/>
                <a:cs typeface="Arial" pitchFamily="34" charset="-120"/>
              </a:rPr>
              <a:t>Main input</a:t>
            </a:r>
            <a:endParaRPr lang="en-US" sz="760" dirty="0"/>
          </a:p>
        </p:txBody>
      </p:sp>
      <p:sp>
        <p:nvSpPr>
          <p:cNvPr id="16" name="Shape 14"/>
          <p:cNvSpPr/>
          <p:nvPr/>
        </p:nvSpPr>
        <p:spPr>
          <a:xfrm>
            <a:off x="2240280" y="2304288"/>
            <a:ext cx="3108960" cy="566928"/>
          </a:xfrm>
          <a:prstGeom prst="rect">
            <a:avLst/>
          </a:prstGeom>
          <a:solidFill>
            <a:srgbClr val="FBFAF6"/>
          </a:solidFill>
          <a:ln w="8890">
            <a:solidFill>
              <a:srgbClr val="D8D2C4"/>
            </a:solidFill>
            <a:prstDash val="solid"/>
          </a:ln>
        </p:spPr>
      </p:sp>
      <p:sp>
        <p:nvSpPr>
          <p:cNvPr id="17" name="Text 15"/>
          <p:cNvSpPr/>
          <p:nvPr/>
        </p:nvSpPr>
        <p:spPr>
          <a:xfrm>
            <a:off x="2313432" y="2377440"/>
            <a:ext cx="2962656" cy="438912"/>
          </a:xfrm>
          <a:prstGeom prst="rect">
            <a:avLst/>
          </a:prstGeom>
          <a:noFill/>
          <a:ln/>
        </p:spPr>
        <p:txBody>
          <a:bodyPr wrap="square" lIns="508" tIns="508" rIns="508" bIns="508" rtlCol="0" anchor="t">
            <a:normAutofit/>
          </a:bodyPr>
          <a:lstStyle/>
          <a:p>
            <a:pPr indent="0" marL="0">
              <a:buNone/>
            </a:pPr>
            <a:r>
              <a:rPr lang="en-US" sz="760" dirty="0">
                <a:solidFill>
                  <a:srgbClr val="14211C"/>
                </a:solidFill>
                <a:latin typeface="Arial" pitchFamily="34" charset="0"/>
                <a:ea typeface="Arial" pitchFamily="34" charset="-122"/>
                <a:cs typeface="Arial" pitchFamily="34" charset="-120"/>
              </a:rPr>
              <a:t>Current soil only</a:t>
            </a:r>
            <a:endParaRPr lang="en-US" sz="760" dirty="0"/>
          </a:p>
        </p:txBody>
      </p:sp>
      <p:sp>
        <p:nvSpPr>
          <p:cNvPr id="18" name="Shape 16"/>
          <p:cNvSpPr/>
          <p:nvPr/>
        </p:nvSpPr>
        <p:spPr>
          <a:xfrm>
            <a:off x="5349240" y="2304288"/>
            <a:ext cx="4937760" cy="566928"/>
          </a:xfrm>
          <a:prstGeom prst="rect">
            <a:avLst/>
          </a:prstGeom>
          <a:solidFill>
            <a:srgbClr val="FBFAF6"/>
          </a:solidFill>
          <a:ln w="8890">
            <a:solidFill>
              <a:srgbClr val="D8D2C4"/>
            </a:solidFill>
            <a:prstDash val="solid"/>
          </a:ln>
        </p:spPr>
      </p:sp>
      <p:sp>
        <p:nvSpPr>
          <p:cNvPr id="19" name="Text 17"/>
          <p:cNvSpPr/>
          <p:nvPr/>
        </p:nvSpPr>
        <p:spPr>
          <a:xfrm>
            <a:off x="5422392" y="2377440"/>
            <a:ext cx="4791456" cy="438912"/>
          </a:xfrm>
          <a:prstGeom prst="rect">
            <a:avLst/>
          </a:prstGeom>
          <a:noFill/>
          <a:ln/>
        </p:spPr>
        <p:txBody>
          <a:bodyPr wrap="square" lIns="508" tIns="508" rIns="508" bIns="508" rtlCol="0" anchor="t">
            <a:normAutofit/>
          </a:bodyPr>
          <a:lstStyle/>
          <a:p>
            <a:pPr indent="0" marL="0">
              <a:buNone/>
            </a:pPr>
            <a:r>
              <a:rPr lang="en-US" sz="760" dirty="0">
                <a:solidFill>
                  <a:srgbClr val="14211C"/>
                </a:solidFill>
                <a:latin typeface="Arial" pitchFamily="34" charset="0"/>
                <a:ea typeface="Arial" pitchFamily="34" charset="-122"/>
                <a:cs typeface="Arial" pitchFamily="34" charset="-120"/>
              </a:rPr>
              <a:t>Soil, temp, humidity, previous soil, trend, pump</a:t>
            </a:r>
            <a:endParaRPr lang="en-US" sz="760" dirty="0"/>
          </a:p>
        </p:txBody>
      </p:sp>
      <p:sp>
        <p:nvSpPr>
          <p:cNvPr id="20" name="Shape 18"/>
          <p:cNvSpPr/>
          <p:nvPr/>
        </p:nvSpPr>
        <p:spPr>
          <a:xfrm>
            <a:off x="594360" y="2871216"/>
            <a:ext cx="1645920" cy="566928"/>
          </a:xfrm>
          <a:prstGeom prst="rect">
            <a:avLst/>
          </a:prstGeom>
          <a:solidFill>
            <a:srgbClr val="FFFFFF"/>
          </a:solidFill>
          <a:ln w="8890">
            <a:solidFill>
              <a:srgbClr val="D8D2C4"/>
            </a:solidFill>
            <a:prstDash val="solid"/>
          </a:ln>
        </p:spPr>
      </p:sp>
      <p:sp>
        <p:nvSpPr>
          <p:cNvPr id="21" name="Text 19"/>
          <p:cNvSpPr/>
          <p:nvPr/>
        </p:nvSpPr>
        <p:spPr>
          <a:xfrm>
            <a:off x="667512" y="2944368"/>
            <a:ext cx="1499616" cy="438912"/>
          </a:xfrm>
          <a:prstGeom prst="rect">
            <a:avLst/>
          </a:prstGeom>
          <a:noFill/>
          <a:ln/>
        </p:spPr>
        <p:txBody>
          <a:bodyPr wrap="square" lIns="508" tIns="508" rIns="508" bIns="508" rtlCol="0" anchor="t">
            <a:normAutofit/>
          </a:bodyPr>
          <a:lstStyle/>
          <a:p>
            <a:pPr indent="0" marL="0">
              <a:buNone/>
            </a:pPr>
            <a:r>
              <a:rPr lang="en-US" sz="760" dirty="0">
                <a:solidFill>
                  <a:srgbClr val="14211C"/>
                </a:solidFill>
                <a:latin typeface="Arial" pitchFamily="34" charset="0"/>
                <a:ea typeface="Arial" pitchFamily="34" charset="-122"/>
                <a:cs typeface="Arial" pitchFamily="34" charset="-120"/>
              </a:rPr>
              <a:t>Decision</a:t>
            </a:r>
            <a:endParaRPr lang="en-US" sz="760" dirty="0"/>
          </a:p>
        </p:txBody>
      </p:sp>
      <p:sp>
        <p:nvSpPr>
          <p:cNvPr id="22" name="Shape 20"/>
          <p:cNvSpPr/>
          <p:nvPr/>
        </p:nvSpPr>
        <p:spPr>
          <a:xfrm>
            <a:off x="2240280" y="2871216"/>
            <a:ext cx="3108960" cy="566928"/>
          </a:xfrm>
          <a:prstGeom prst="rect">
            <a:avLst/>
          </a:prstGeom>
          <a:solidFill>
            <a:srgbClr val="FFFFFF"/>
          </a:solidFill>
          <a:ln w="8890">
            <a:solidFill>
              <a:srgbClr val="D8D2C4"/>
            </a:solidFill>
            <a:prstDash val="solid"/>
          </a:ln>
        </p:spPr>
      </p:sp>
      <p:sp>
        <p:nvSpPr>
          <p:cNvPr id="23" name="Text 21"/>
          <p:cNvSpPr/>
          <p:nvPr/>
        </p:nvSpPr>
        <p:spPr>
          <a:xfrm>
            <a:off x="2313432" y="2944368"/>
            <a:ext cx="2962656" cy="438912"/>
          </a:xfrm>
          <a:prstGeom prst="rect">
            <a:avLst/>
          </a:prstGeom>
          <a:noFill/>
          <a:ln/>
        </p:spPr>
        <p:txBody>
          <a:bodyPr wrap="square" lIns="508" tIns="508" rIns="508" bIns="508" rtlCol="0" anchor="t">
            <a:normAutofit/>
          </a:bodyPr>
          <a:lstStyle/>
          <a:p>
            <a:pPr indent="0" marL="0">
              <a:buNone/>
            </a:pPr>
            <a:r>
              <a:rPr lang="en-US" sz="760" dirty="0">
                <a:solidFill>
                  <a:srgbClr val="14211C"/>
                </a:solidFill>
                <a:latin typeface="Arial" pitchFamily="34" charset="0"/>
                <a:ea typeface="Arial" pitchFamily="34" charset="-122"/>
                <a:cs typeface="Arial" pitchFamily="34" charset="-120"/>
              </a:rPr>
              <a:t>soil &lt; 30% -&gt; pump ON</a:t>
            </a:r>
            <a:endParaRPr lang="en-US" sz="760" dirty="0"/>
          </a:p>
        </p:txBody>
      </p:sp>
      <p:sp>
        <p:nvSpPr>
          <p:cNvPr id="24" name="Shape 22"/>
          <p:cNvSpPr/>
          <p:nvPr/>
        </p:nvSpPr>
        <p:spPr>
          <a:xfrm>
            <a:off x="5349240" y="2871216"/>
            <a:ext cx="4937760" cy="566928"/>
          </a:xfrm>
          <a:prstGeom prst="rect">
            <a:avLst/>
          </a:prstGeom>
          <a:solidFill>
            <a:srgbClr val="FFFFFF"/>
          </a:solidFill>
          <a:ln w="8890">
            <a:solidFill>
              <a:srgbClr val="D8D2C4"/>
            </a:solidFill>
            <a:prstDash val="solid"/>
          </a:ln>
        </p:spPr>
      </p:sp>
      <p:sp>
        <p:nvSpPr>
          <p:cNvPr id="25" name="Text 23"/>
          <p:cNvSpPr/>
          <p:nvPr/>
        </p:nvSpPr>
        <p:spPr>
          <a:xfrm>
            <a:off x="5422392" y="2944368"/>
            <a:ext cx="4791456" cy="438912"/>
          </a:xfrm>
          <a:prstGeom prst="rect">
            <a:avLst/>
          </a:prstGeom>
          <a:noFill/>
          <a:ln/>
        </p:spPr>
        <p:txBody>
          <a:bodyPr wrap="square" lIns="508" tIns="508" rIns="508" bIns="508" rtlCol="0" anchor="t">
            <a:normAutofit/>
          </a:bodyPr>
          <a:lstStyle/>
          <a:p>
            <a:pPr indent="0" marL="0">
              <a:buNone/>
            </a:pPr>
            <a:r>
              <a:rPr lang="en-US" sz="760" dirty="0">
                <a:solidFill>
                  <a:srgbClr val="14211C"/>
                </a:solidFill>
                <a:latin typeface="Arial" pitchFamily="34" charset="0"/>
                <a:ea typeface="Arial" pitchFamily="34" charset="-122"/>
                <a:cs typeface="Arial" pitchFamily="34" charset="-120"/>
              </a:rPr>
              <a:t>Predict Dry Soon / Not Dry Soon</a:t>
            </a:r>
            <a:endParaRPr lang="en-US" sz="760" dirty="0"/>
          </a:p>
        </p:txBody>
      </p:sp>
      <p:sp>
        <p:nvSpPr>
          <p:cNvPr id="26" name="Shape 24"/>
          <p:cNvSpPr/>
          <p:nvPr/>
        </p:nvSpPr>
        <p:spPr>
          <a:xfrm>
            <a:off x="594360" y="3438144"/>
            <a:ext cx="1645920" cy="566928"/>
          </a:xfrm>
          <a:prstGeom prst="rect">
            <a:avLst/>
          </a:prstGeom>
          <a:solidFill>
            <a:srgbClr val="FBFAF6"/>
          </a:solidFill>
          <a:ln w="8890">
            <a:solidFill>
              <a:srgbClr val="D8D2C4"/>
            </a:solidFill>
            <a:prstDash val="solid"/>
          </a:ln>
        </p:spPr>
      </p:sp>
      <p:sp>
        <p:nvSpPr>
          <p:cNvPr id="27" name="Text 25"/>
          <p:cNvSpPr/>
          <p:nvPr/>
        </p:nvSpPr>
        <p:spPr>
          <a:xfrm>
            <a:off x="667512" y="3511296"/>
            <a:ext cx="1499616" cy="438912"/>
          </a:xfrm>
          <a:prstGeom prst="rect">
            <a:avLst/>
          </a:prstGeom>
          <a:noFill/>
          <a:ln/>
        </p:spPr>
        <p:txBody>
          <a:bodyPr wrap="square" lIns="508" tIns="508" rIns="508" bIns="508" rtlCol="0" anchor="t">
            <a:normAutofit/>
          </a:bodyPr>
          <a:lstStyle/>
          <a:p>
            <a:pPr indent="0" marL="0">
              <a:buNone/>
            </a:pPr>
            <a:r>
              <a:rPr lang="en-US" sz="760" dirty="0">
                <a:solidFill>
                  <a:srgbClr val="14211C"/>
                </a:solidFill>
                <a:latin typeface="Arial" pitchFamily="34" charset="0"/>
                <a:ea typeface="Arial" pitchFamily="34" charset="-122"/>
                <a:cs typeface="Arial" pitchFamily="34" charset="-120"/>
              </a:rPr>
              <a:t>Behavior</a:t>
            </a:r>
            <a:endParaRPr lang="en-US" sz="760" dirty="0"/>
          </a:p>
        </p:txBody>
      </p:sp>
      <p:sp>
        <p:nvSpPr>
          <p:cNvPr id="28" name="Shape 26"/>
          <p:cNvSpPr/>
          <p:nvPr/>
        </p:nvSpPr>
        <p:spPr>
          <a:xfrm>
            <a:off x="2240280" y="3438144"/>
            <a:ext cx="3108960" cy="566928"/>
          </a:xfrm>
          <a:prstGeom prst="rect">
            <a:avLst/>
          </a:prstGeom>
          <a:solidFill>
            <a:srgbClr val="FBFAF6"/>
          </a:solidFill>
          <a:ln w="8890">
            <a:solidFill>
              <a:srgbClr val="D8D2C4"/>
            </a:solidFill>
            <a:prstDash val="solid"/>
          </a:ln>
        </p:spPr>
      </p:sp>
      <p:sp>
        <p:nvSpPr>
          <p:cNvPr id="29" name="Text 27"/>
          <p:cNvSpPr/>
          <p:nvPr/>
        </p:nvSpPr>
        <p:spPr>
          <a:xfrm>
            <a:off x="2313432" y="3511296"/>
            <a:ext cx="2962656" cy="438912"/>
          </a:xfrm>
          <a:prstGeom prst="rect">
            <a:avLst/>
          </a:prstGeom>
          <a:noFill/>
          <a:ln/>
        </p:spPr>
        <p:txBody>
          <a:bodyPr wrap="square" lIns="508" tIns="508" rIns="508" bIns="508" rtlCol="0" anchor="t">
            <a:normAutofit/>
          </a:bodyPr>
          <a:lstStyle/>
          <a:p>
            <a:pPr indent="0" marL="0">
              <a:buNone/>
            </a:pPr>
            <a:r>
              <a:rPr lang="en-US" sz="760" dirty="0">
                <a:solidFill>
                  <a:srgbClr val="14211C"/>
                </a:solidFill>
                <a:latin typeface="Arial" pitchFamily="34" charset="0"/>
                <a:ea typeface="Arial" pitchFamily="34" charset="-122"/>
                <a:cs typeface="Arial" pitchFamily="34" charset="-120"/>
              </a:rPr>
              <a:t>Reactive</a:t>
            </a:r>
            <a:endParaRPr lang="en-US" sz="760" dirty="0"/>
          </a:p>
        </p:txBody>
      </p:sp>
      <p:sp>
        <p:nvSpPr>
          <p:cNvPr id="30" name="Shape 28"/>
          <p:cNvSpPr/>
          <p:nvPr/>
        </p:nvSpPr>
        <p:spPr>
          <a:xfrm>
            <a:off x="5349240" y="3438144"/>
            <a:ext cx="4937760" cy="566928"/>
          </a:xfrm>
          <a:prstGeom prst="rect">
            <a:avLst/>
          </a:prstGeom>
          <a:solidFill>
            <a:srgbClr val="FBFAF6"/>
          </a:solidFill>
          <a:ln w="8890">
            <a:solidFill>
              <a:srgbClr val="D8D2C4"/>
            </a:solidFill>
            <a:prstDash val="solid"/>
          </a:ln>
        </p:spPr>
      </p:sp>
      <p:sp>
        <p:nvSpPr>
          <p:cNvPr id="31" name="Text 29"/>
          <p:cNvSpPr/>
          <p:nvPr/>
        </p:nvSpPr>
        <p:spPr>
          <a:xfrm>
            <a:off x="5422392" y="3511296"/>
            <a:ext cx="4791456" cy="438912"/>
          </a:xfrm>
          <a:prstGeom prst="rect">
            <a:avLst/>
          </a:prstGeom>
          <a:noFill/>
          <a:ln/>
        </p:spPr>
        <p:txBody>
          <a:bodyPr wrap="square" lIns="508" tIns="508" rIns="508" bIns="508" rtlCol="0" anchor="t">
            <a:normAutofit/>
          </a:bodyPr>
          <a:lstStyle/>
          <a:p>
            <a:pPr indent="0" marL="0">
              <a:buNone/>
            </a:pPr>
            <a:r>
              <a:rPr lang="en-US" sz="760" dirty="0">
                <a:solidFill>
                  <a:srgbClr val="14211C"/>
                </a:solidFill>
                <a:latin typeface="Arial" pitchFamily="34" charset="0"/>
                <a:ea typeface="Arial" pitchFamily="34" charset="-122"/>
                <a:cs typeface="Arial" pitchFamily="34" charset="-120"/>
              </a:rPr>
              <a:t>Predictive</a:t>
            </a:r>
            <a:endParaRPr lang="en-US" sz="760" dirty="0"/>
          </a:p>
        </p:txBody>
      </p:sp>
      <p:sp>
        <p:nvSpPr>
          <p:cNvPr id="32" name="Shape 30"/>
          <p:cNvSpPr/>
          <p:nvPr/>
        </p:nvSpPr>
        <p:spPr>
          <a:xfrm>
            <a:off x="594360" y="4005072"/>
            <a:ext cx="1645920" cy="566928"/>
          </a:xfrm>
          <a:prstGeom prst="rect">
            <a:avLst/>
          </a:prstGeom>
          <a:solidFill>
            <a:srgbClr val="FFFFFF"/>
          </a:solidFill>
          <a:ln w="8890">
            <a:solidFill>
              <a:srgbClr val="D8D2C4"/>
            </a:solidFill>
            <a:prstDash val="solid"/>
          </a:ln>
        </p:spPr>
      </p:sp>
      <p:sp>
        <p:nvSpPr>
          <p:cNvPr id="33" name="Text 31"/>
          <p:cNvSpPr/>
          <p:nvPr/>
        </p:nvSpPr>
        <p:spPr>
          <a:xfrm>
            <a:off x="667512" y="4078224"/>
            <a:ext cx="1499616" cy="438912"/>
          </a:xfrm>
          <a:prstGeom prst="rect">
            <a:avLst/>
          </a:prstGeom>
          <a:noFill/>
          <a:ln/>
        </p:spPr>
        <p:txBody>
          <a:bodyPr wrap="square" lIns="508" tIns="508" rIns="508" bIns="508" rtlCol="0" anchor="t">
            <a:normAutofit/>
          </a:bodyPr>
          <a:lstStyle/>
          <a:p>
            <a:pPr indent="0" marL="0">
              <a:buNone/>
            </a:pPr>
            <a:r>
              <a:rPr lang="en-US" sz="760" dirty="0">
                <a:solidFill>
                  <a:srgbClr val="14211C"/>
                </a:solidFill>
                <a:latin typeface="Arial" pitchFamily="34" charset="0"/>
                <a:ea typeface="Arial" pitchFamily="34" charset="-122"/>
                <a:cs typeface="Arial" pitchFamily="34" charset="-120"/>
              </a:rPr>
              <a:t>Example</a:t>
            </a:r>
            <a:endParaRPr lang="en-US" sz="760" dirty="0"/>
          </a:p>
        </p:txBody>
      </p:sp>
      <p:sp>
        <p:nvSpPr>
          <p:cNvPr id="34" name="Shape 32"/>
          <p:cNvSpPr/>
          <p:nvPr/>
        </p:nvSpPr>
        <p:spPr>
          <a:xfrm>
            <a:off x="2240280" y="4005072"/>
            <a:ext cx="3108960" cy="566928"/>
          </a:xfrm>
          <a:prstGeom prst="rect">
            <a:avLst/>
          </a:prstGeom>
          <a:solidFill>
            <a:srgbClr val="FFFFFF"/>
          </a:solidFill>
          <a:ln w="8890">
            <a:solidFill>
              <a:srgbClr val="D8D2C4"/>
            </a:solidFill>
            <a:prstDash val="solid"/>
          </a:ln>
        </p:spPr>
      </p:sp>
      <p:sp>
        <p:nvSpPr>
          <p:cNvPr id="35" name="Text 33"/>
          <p:cNvSpPr/>
          <p:nvPr/>
        </p:nvSpPr>
        <p:spPr>
          <a:xfrm>
            <a:off x="2313432" y="4078224"/>
            <a:ext cx="2962656" cy="438912"/>
          </a:xfrm>
          <a:prstGeom prst="rect">
            <a:avLst/>
          </a:prstGeom>
          <a:noFill/>
          <a:ln/>
        </p:spPr>
        <p:txBody>
          <a:bodyPr wrap="square" lIns="508" tIns="508" rIns="508" bIns="508" rtlCol="0" anchor="t">
            <a:normAutofit/>
          </a:bodyPr>
          <a:lstStyle/>
          <a:p>
            <a:pPr indent="0" marL="0">
              <a:buNone/>
            </a:pPr>
            <a:r>
              <a:rPr lang="en-US" sz="760" dirty="0">
                <a:solidFill>
                  <a:srgbClr val="14211C"/>
                </a:solidFill>
                <a:latin typeface="Arial" pitchFamily="34" charset="0"/>
                <a:ea typeface="Arial" pitchFamily="34" charset="-122"/>
                <a:cs typeface="Arial" pitchFamily="34" charset="-120"/>
              </a:rPr>
              <a:t>45% soil means pump OFF</a:t>
            </a:r>
            <a:endParaRPr lang="en-US" sz="760" dirty="0"/>
          </a:p>
        </p:txBody>
      </p:sp>
      <p:sp>
        <p:nvSpPr>
          <p:cNvPr id="36" name="Shape 34"/>
          <p:cNvSpPr/>
          <p:nvPr/>
        </p:nvSpPr>
        <p:spPr>
          <a:xfrm>
            <a:off x="5349240" y="4005072"/>
            <a:ext cx="4937760" cy="566928"/>
          </a:xfrm>
          <a:prstGeom prst="rect">
            <a:avLst/>
          </a:prstGeom>
          <a:solidFill>
            <a:srgbClr val="FFFFFF"/>
          </a:solidFill>
          <a:ln w="8890">
            <a:solidFill>
              <a:srgbClr val="D8D2C4"/>
            </a:solidFill>
            <a:prstDash val="solid"/>
          </a:ln>
        </p:spPr>
      </p:sp>
      <p:sp>
        <p:nvSpPr>
          <p:cNvPr id="37" name="Text 35"/>
          <p:cNvSpPr/>
          <p:nvPr/>
        </p:nvSpPr>
        <p:spPr>
          <a:xfrm>
            <a:off x="5422392" y="4078224"/>
            <a:ext cx="4791456" cy="438912"/>
          </a:xfrm>
          <a:prstGeom prst="rect">
            <a:avLst/>
          </a:prstGeom>
          <a:noFill/>
          <a:ln/>
        </p:spPr>
        <p:txBody>
          <a:bodyPr wrap="square" lIns="508" tIns="508" rIns="508" bIns="508" rtlCol="0" anchor="t">
            <a:normAutofit/>
          </a:bodyPr>
          <a:lstStyle/>
          <a:p>
            <a:pPr indent="0" marL="0">
              <a:buNone/>
            </a:pPr>
            <a:r>
              <a:rPr lang="en-US" sz="760" dirty="0">
                <a:solidFill>
                  <a:srgbClr val="14211C"/>
                </a:solidFill>
                <a:latin typeface="Arial" pitchFamily="34" charset="0"/>
                <a:ea typeface="Arial" pitchFamily="34" charset="-122"/>
                <a:cs typeface="Arial" pitchFamily="34" charset="-120"/>
              </a:rPr>
              <a:t>45% + hot/dry/falling trend can mean Dry Soon</a:t>
            </a:r>
            <a:endParaRPr lang="en-US" sz="760" dirty="0"/>
          </a:p>
        </p:txBody>
      </p:sp>
      <p:sp>
        <p:nvSpPr>
          <p:cNvPr id="38" name="Shape 36"/>
          <p:cNvSpPr/>
          <p:nvPr/>
        </p:nvSpPr>
        <p:spPr>
          <a:xfrm>
            <a:off x="731520" y="4983480"/>
            <a:ext cx="3017520" cy="685800"/>
          </a:xfrm>
          <a:prstGeom prst="roundRect">
            <a:avLst>
              <a:gd name="adj" fmla="val 10667"/>
            </a:avLst>
          </a:prstGeom>
          <a:solidFill>
            <a:srgbClr val="F5FBF6"/>
          </a:solidFill>
          <a:ln w="8890">
            <a:solidFill>
              <a:srgbClr val="D8D2C4"/>
            </a:solidFill>
            <a:prstDash val="solid"/>
          </a:ln>
        </p:spPr>
      </p:sp>
      <p:sp>
        <p:nvSpPr>
          <p:cNvPr id="39" name="Shape 37"/>
          <p:cNvSpPr/>
          <p:nvPr/>
        </p:nvSpPr>
        <p:spPr>
          <a:xfrm>
            <a:off x="731520" y="4983480"/>
            <a:ext cx="64008" cy="685800"/>
          </a:xfrm>
          <a:prstGeom prst="rect">
            <a:avLst/>
          </a:prstGeom>
          <a:solidFill>
            <a:srgbClr val="1F6B4D"/>
          </a:solidFill>
          <a:ln w="12700">
            <a:solidFill>
              <a:srgbClr val="1F6B4D"/>
            </a:solidFill>
            <a:prstDash val="solid"/>
          </a:ln>
        </p:spPr>
      </p:sp>
      <p:sp>
        <p:nvSpPr>
          <p:cNvPr id="40" name="Text 38"/>
          <p:cNvSpPr/>
          <p:nvPr/>
        </p:nvSpPr>
        <p:spPr>
          <a:xfrm>
            <a:off x="877824" y="5111496"/>
            <a:ext cx="2761488" cy="201168"/>
          </a:xfrm>
          <a:prstGeom prst="rect">
            <a:avLst/>
          </a:prstGeom>
          <a:noFill/>
          <a:ln/>
        </p:spPr>
        <p:txBody>
          <a:bodyPr wrap="square" lIns="508" tIns="508" rIns="508" bIns="508" rtlCol="0" anchor="t">
            <a:normAutofit/>
          </a:bodyPr>
          <a:lstStyle/>
          <a:p>
            <a:pPr indent="0" marL="0">
              <a:buNone/>
            </a:pPr>
            <a:r>
              <a:rPr lang="en-US" sz="950" b="1" dirty="0">
                <a:solidFill>
                  <a:srgbClr val="14211C"/>
                </a:solidFill>
                <a:latin typeface="Arial" pitchFamily="34" charset="0"/>
                <a:ea typeface="Arial" pitchFamily="34" charset="-122"/>
                <a:cs typeface="Arial" pitchFamily="34" charset="-120"/>
              </a:rPr>
              <a:t>Default: recommend mode</a:t>
            </a:r>
            <a:endParaRPr lang="en-US" sz="950" dirty="0"/>
          </a:p>
        </p:txBody>
      </p:sp>
      <p:sp>
        <p:nvSpPr>
          <p:cNvPr id="41" name="Text 39"/>
          <p:cNvSpPr/>
          <p:nvPr/>
        </p:nvSpPr>
        <p:spPr>
          <a:xfrm>
            <a:off x="877824" y="5376672"/>
            <a:ext cx="2761488" cy="228600"/>
          </a:xfrm>
          <a:prstGeom prst="rect">
            <a:avLst/>
          </a:prstGeom>
          <a:noFill/>
          <a:ln/>
        </p:spPr>
        <p:txBody>
          <a:bodyPr wrap="square" lIns="508" tIns="508" rIns="508" bIns="508" rtlCol="0" anchor="t">
            <a:normAutofit/>
          </a:bodyPr>
          <a:lstStyle/>
          <a:p>
            <a:pPr indent="0" marL="0">
              <a:buNone/>
            </a:pPr>
            <a:r>
              <a:rPr lang="en-US" sz="750" dirty="0">
                <a:solidFill>
                  <a:srgbClr val="5E6B63"/>
                </a:solidFill>
                <a:latin typeface="Arial" pitchFamily="34" charset="0"/>
                <a:ea typeface="Arial" pitchFamily="34" charset="-122"/>
                <a:cs typeface="Arial" pitchFamily="34" charset="-120"/>
              </a:rPr>
              <a:t>ML warns early, but threshold keeps direct pump control safer for demos.</a:t>
            </a:r>
            <a:endParaRPr lang="en-US" sz="750" dirty="0"/>
          </a:p>
        </p:txBody>
      </p:sp>
      <p:sp>
        <p:nvSpPr>
          <p:cNvPr id="42" name="Shape 40"/>
          <p:cNvSpPr/>
          <p:nvPr/>
        </p:nvSpPr>
        <p:spPr>
          <a:xfrm>
            <a:off x="4160520" y="4983480"/>
            <a:ext cx="3017520" cy="685800"/>
          </a:xfrm>
          <a:prstGeom prst="roundRect">
            <a:avLst>
              <a:gd name="adj" fmla="val 10667"/>
            </a:avLst>
          </a:prstGeom>
          <a:solidFill>
            <a:srgbClr val="FFF8F0"/>
          </a:solidFill>
          <a:ln w="8890">
            <a:solidFill>
              <a:srgbClr val="D8D2C4"/>
            </a:solidFill>
            <a:prstDash val="solid"/>
          </a:ln>
        </p:spPr>
      </p:sp>
      <p:sp>
        <p:nvSpPr>
          <p:cNvPr id="43" name="Shape 41"/>
          <p:cNvSpPr/>
          <p:nvPr/>
        </p:nvSpPr>
        <p:spPr>
          <a:xfrm>
            <a:off x="4160520" y="4983480"/>
            <a:ext cx="64008" cy="685800"/>
          </a:xfrm>
          <a:prstGeom prst="rect">
            <a:avLst/>
          </a:prstGeom>
          <a:solidFill>
            <a:srgbClr val="E6A33D"/>
          </a:solidFill>
          <a:ln w="12700">
            <a:solidFill>
              <a:srgbClr val="E6A33D"/>
            </a:solidFill>
            <a:prstDash val="solid"/>
          </a:ln>
        </p:spPr>
      </p:sp>
      <p:sp>
        <p:nvSpPr>
          <p:cNvPr id="44" name="Text 42"/>
          <p:cNvSpPr/>
          <p:nvPr/>
        </p:nvSpPr>
        <p:spPr>
          <a:xfrm>
            <a:off x="4306824" y="5111496"/>
            <a:ext cx="2761488" cy="201168"/>
          </a:xfrm>
          <a:prstGeom prst="rect">
            <a:avLst/>
          </a:prstGeom>
          <a:noFill/>
          <a:ln/>
        </p:spPr>
        <p:txBody>
          <a:bodyPr wrap="square" lIns="508" tIns="508" rIns="508" bIns="508" rtlCol="0" anchor="t">
            <a:normAutofit/>
          </a:bodyPr>
          <a:lstStyle/>
          <a:p>
            <a:pPr indent="0" marL="0">
              <a:buNone/>
            </a:pPr>
            <a:r>
              <a:rPr lang="en-US" sz="950" b="1" dirty="0">
                <a:solidFill>
                  <a:srgbClr val="14211C"/>
                </a:solidFill>
                <a:latin typeface="Arial" pitchFamily="34" charset="0"/>
                <a:ea typeface="Arial" pitchFamily="34" charset="-122"/>
                <a:cs typeface="Arial" pitchFamily="34" charset="-120"/>
              </a:rPr>
              <a:t>Optional: control mode</a:t>
            </a:r>
            <a:endParaRPr lang="en-US" sz="950" dirty="0"/>
          </a:p>
        </p:txBody>
      </p:sp>
      <p:sp>
        <p:nvSpPr>
          <p:cNvPr id="45" name="Text 43"/>
          <p:cNvSpPr/>
          <p:nvPr/>
        </p:nvSpPr>
        <p:spPr>
          <a:xfrm>
            <a:off x="4306824" y="5376672"/>
            <a:ext cx="2761488" cy="228600"/>
          </a:xfrm>
          <a:prstGeom prst="rect">
            <a:avLst/>
          </a:prstGeom>
          <a:noFill/>
          <a:ln/>
        </p:spPr>
        <p:txBody>
          <a:bodyPr wrap="square" lIns="508" tIns="508" rIns="508" bIns="508" rtlCol="0" anchor="t">
            <a:normAutofit/>
          </a:bodyPr>
          <a:lstStyle/>
          <a:p>
            <a:pPr indent="0" marL="0">
              <a:buNone/>
            </a:pPr>
            <a:r>
              <a:rPr lang="en-US" sz="750" dirty="0">
                <a:solidFill>
                  <a:srgbClr val="5E6B63"/>
                </a:solidFill>
                <a:latin typeface="Arial" pitchFamily="34" charset="0"/>
                <a:ea typeface="Arial" pitchFamily="34" charset="-122"/>
                <a:cs typeface="Arial" pitchFamily="34" charset="-120"/>
              </a:rPr>
              <a:t>OPTIMAL + ML Dry Soon can turn pump ON early.</a:t>
            </a:r>
            <a:endParaRPr lang="en-US" sz="750" dirty="0"/>
          </a:p>
        </p:txBody>
      </p:sp>
      <p:sp>
        <p:nvSpPr>
          <p:cNvPr id="46" name="Shape 44"/>
          <p:cNvSpPr/>
          <p:nvPr/>
        </p:nvSpPr>
        <p:spPr>
          <a:xfrm>
            <a:off x="7589520" y="4983480"/>
            <a:ext cx="3017520" cy="685800"/>
          </a:xfrm>
          <a:prstGeom prst="roundRect">
            <a:avLst>
              <a:gd name="adj" fmla="val 10667"/>
            </a:avLst>
          </a:prstGeom>
          <a:solidFill>
            <a:srgbClr val="F5F8FB"/>
          </a:solidFill>
          <a:ln w="8890">
            <a:solidFill>
              <a:srgbClr val="D8D2C4"/>
            </a:solidFill>
            <a:prstDash val="solid"/>
          </a:ln>
        </p:spPr>
      </p:sp>
      <p:sp>
        <p:nvSpPr>
          <p:cNvPr id="47" name="Shape 45"/>
          <p:cNvSpPr/>
          <p:nvPr/>
        </p:nvSpPr>
        <p:spPr>
          <a:xfrm>
            <a:off x="7589520" y="4983480"/>
            <a:ext cx="64008" cy="685800"/>
          </a:xfrm>
          <a:prstGeom prst="rect">
            <a:avLst/>
          </a:prstGeom>
          <a:solidFill>
            <a:srgbClr val="256A7B"/>
          </a:solidFill>
          <a:ln w="12700">
            <a:solidFill>
              <a:srgbClr val="256A7B"/>
            </a:solidFill>
            <a:prstDash val="solid"/>
          </a:ln>
        </p:spPr>
      </p:sp>
      <p:sp>
        <p:nvSpPr>
          <p:cNvPr id="48" name="Text 46"/>
          <p:cNvSpPr/>
          <p:nvPr/>
        </p:nvSpPr>
        <p:spPr>
          <a:xfrm>
            <a:off x="7735824" y="5111496"/>
            <a:ext cx="2761488" cy="201168"/>
          </a:xfrm>
          <a:prstGeom prst="rect">
            <a:avLst/>
          </a:prstGeom>
          <a:noFill/>
          <a:ln/>
        </p:spPr>
        <p:txBody>
          <a:bodyPr wrap="square" lIns="508" tIns="508" rIns="508" bIns="508" rtlCol="0" anchor="t">
            <a:normAutofit/>
          </a:bodyPr>
          <a:lstStyle/>
          <a:p>
            <a:pPr indent="0" marL="0">
              <a:buNone/>
            </a:pPr>
            <a:r>
              <a:rPr lang="en-US" sz="950" b="1" dirty="0">
                <a:solidFill>
                  <a:srgbClr val="14211C"/>
                </a:solidFill>
                <a:latin typeface="Arial" pitchFamily="34" charset="0"/>
                <a:ea typeface="Arial" pitchFamily="34" charset="-122"/>
                <a:cs typeface="Arial" pitchFamily="34" charset="-120"/>
              </a:rPr>
              <a:t>Model</a:t>
            </a:r>
            <a:endParaRPr lang="en-US" sz="950" dirty="0"/>
          </a:p>
        </p:txBody>
      </p:sp>
      <p:sp>
        <p:nvSpPr>
          <p:cNvPr id="49" name="Text 47"/>
          <p:cNvSpPr/>
          <p:nvPr/>
        </p:nvSpPr>
        <p:spPr>
          <a:xfrm>
            <a:off x="7735824" y="5376672"/>
            <a:ext cx="2761488" cy="228600"/>
          </a:xfrm>
          <a:prstGeom prst="rect">
            <a:avLst/>
          </a:prstGeom>
          <a:noFill/>
          <a:ln/>
        </p:spPr>
        <p:txBody>
          <a:bodyPr wrap="square" lIns="508" tIns="508" rIns="508" bIns="508" rtlCol="0" anchor="t">
            <a:normAutofit/>
          </a:bodyPr>
          <a:lstStyle/>
          <a:p>
            <a:pPr indent="0" marL="0">
              <a:buNone/>
            </a:pPr>
            <a:r>
              <a:rPr lang="en-US" sz="750" dirty="0">
                <a:solidFill>
                  <a:srgbClr val="5E6B63"/>
                </a:solidFill>
                <a:latin typeface="Arial" pitchFamily="34" charset="0"/>
                <a:ea typeface="Arial" pitchFamily="34" charset="-122"/>
                <a:cs typeface="Arial" pitchFamily="34" charset="-120"/>
              </a:rPr>
              <a:t>DecisionTreeClassifier saved as models/dryness_model.joblib.</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E"/>
        </a:solidFill>
      </p:bgPr>
    </p:bg>
    <p:spTree>
      <p:nvGrpSpPr>
        <p:cNvPr id="1" name=""/>
        <p:cNvGrpSpPr/>
        <p:nvPr/>
      </p:nvGrpSpPr>
      <p:grpSpPr>
        <a:xfrm>
          <a:off x="0" y="0"/>
          <a:ext cx="0" cy="0"/>
          <a:chOff x="0" y="0"/>
          <a:chExt cx="0" cy="0"/>
        </a:xfrm>
      </p:grpSpPr>
      <p:sp>
        <p:nvSpPr>
          <p:cNvPr id="2" name="Shape 0"/>
          <p:cNvSpPr/>
          <p:nvPr/>
        </p:nvSpPr>
        <p:spPr>
          <a:xfrm>
            <a:off x="502920" y="530352"/>
            <a:ext cx="320040" cy="0"/>
          </a:xfrm>
          <a:prstGeom prst="line">
            <a:avLst/>
          </a:prstGeom>
          <a:noFill/>
          <a:ln w="25400">
            <a:solidFill>
              <a:srgbClr val="1F6B4D"/>
            </a:solidFill>
            <a:prstDash val="solid"/>
          </a:ln>
        </p:spPr>
      </p:sp>
      <p:sp>
        <p:nvSpPr>
          <p:cNvPr id="3" name="Text 1"/>
          <p:cNvSpPr/>
          <p:nvPr/>
        </p:nvSpPr>
        <p:spPr>
          <a:xfrm>
            <a:off x="932688" y="420624"/>
            <a:ext cx="3840480" cy="228600"/>
          </a:xfrm>
          <a:prstGeom prst="rect">
            <a:avLst/>
          </a:prstGeom>
          <a:noFill/>
          <a:ln/>
        </p:spPr>
        <p:txBody>
          <a:bodyPr wrap="square" lIns="508" tIns="508" rIns="508" bIns="508" rtlCol="0" anchor="t">
            <a:normAutofit/>
          </a:bodyPr>
          <a:lstStyle/>
          <a:p>
            <a:pPr indent="0" marL="0">
              <a:buNone/>
            </a:pPr>
            <a:r>
              <a:rPr lang="en-US" sz="760" b="1" dirty="0">
                <a:solidFill>
                  <a:srgbClr val="1F6B4D"/>
                </a:solidFill>
                <a:latin typeface="Arial" pitchFamily="34" charset="0"/>
                <a:ea typeface="Arial" pitchFamily="34" charset="-122"/>
                <a:cs typeface="Arial" pitchFamily="34" charset="-120"/>
              </a:rPr>
              <a:t>MODEL DATA</a:t>
            </a:r>
            <a:endParaRPr lang="en-US" sz="760" dirty="0"/>
          </a:p>
        </p:txBody>
      </p:sp>
      <p:sp>
        <p:nvSpPr>
          <p:cNvPr id="4" name="Text 2"/>
          <p:cNvSpPr/>
          <p:nvPr/>
        </p:nvSpPr>
        <p:spPr>
          <a:xfrm>
            <a:off x="502920" y="758952"/>
            <a:ext cx="9692640" cy="658368"/>
          </a:xfrm>
          <a:prstGeom prst="rect">
            <a:avLst/>
          </a:prstGeom>
          <a:noFill/>
          <a:ln/>
        </p:spPr>
        <p:txBody>
          <a:bodyPr wrap="square" lIns="508" tIns="508" rIns="508" bIns="508" rtlCol="0" anchor="t">
            <a:normAutofit/>
          </a:bodyPr>
          <a:lstStyle/>
          <a:p>
            <a:pPr indent="0" marL="0">
              <a:buNone/>
            </a:pPr>
            <a:r>
              <a:rPr lang="en-US" sz="2200" b="1" dirty="0">
                <a:solidFill>
                  <a:srgbClr val="14211C"/>
                </a:solidFill>
                <a:latin typeface="Georgia" pitchFamily="34" charset="0"/>
                <a:ea typeface="Georgia" pitchFamily="34" charset="-122"/>
                <a:cs typeface="Georgia" pitchFamily="34" charset="-120"/>
              </a:rPr>
              <a:t>Kaggle starts the model; real Raspberry Pi data improves it later.</a:t>
            </a:r>
            <a:endParaRPr lang="en-US" sz="2200" dirty="0"/>
          </a:p>
        </p:txBody>
      </p:sp>
      <p:sp>
        <p:nvSpPr>
          <p:cNvPr id="5" name="Shape 3"/>
          <p:cNvSpPr/>
          <p:nvPr/>
        </p:nvSpPr>
        <p:spPr>
          <a:xfrm>
            <a:off x="502920" y="6428232"/>
            <a:ext cx="10835640" cy="0"/>
          </a:xfrm>
          <a:prstGeom prst="line">
            <a:avLst/>
          </a:prstGeom>
          <a:noFill/>
          <a:ln w="6350">
            <a:solidFill>
              <a:srgbClr val="D8D2C4"/>
            </a:solidFill>
            <a:prstDash val="solid"/>
          </a:ln>
        </p:spPr>
      </p:sp>
      <p:sp>
        <p:nvSpPr>
          <p:cNvPr id="6" name="Text 4"/>
          <p:cNvSpPr/>
          <p:nvPr/>
        </p:nvSpPr>
        <p:spPr>
          <a:xfrm>
            <a:off x="502920" y="6510528"/>
            <a:ext cx="7680960" cy="164592"/>
          </a:xfrm>
          <a:prstGeom prst="rect">
            <a:avLst/>
          </a:prstGeom>
          <a:noFill/>
          <a:ln/>
        </p:spPr>
        <p:txBody>
          <a:bodyPr wrap="square" lIns="508" tIns="508" rIns="508" bIns="508" rtlCol="0" anchor="t">
            <a:normAutofit/>
          </a:bodyPr>
          <a:lstStyle/>
          <a:p>
            <a:pPr indent="0" marL="0">
              <a:buNone/>
            </a:pPr>
            <a:r>
              <a:rPr lang="en-US" sz="680" dirty="0">
                <a:solidFill>
                  <a:srgbClr val="5E6B63"/>
                </a:solidFill>
                <a:latin typeface="Arial" pitchFamily="34" charset="0"/>
                <a:ea typeface="Arial" pitchFamily="34" charset="-122"/>
                <a:cs typeface="Arial" pitchFamily="34" charset="-120"/>
              </a:rPr>
              <a:t>Source: project README, Student Guide, and SRTA3353 Project 2 criteria</a:t>
            </a:r>
            <a:endParaRPr lang="en-US" sz="680" dirty="0"/>
          </a:p>
        </p:txBody>
      </p:sp>
      <p:sp>
        <p:nvSpPr>
          <p:cNvPr id="7" name="Text 5"/>
          <p:cNvSpPr/>
          <p:nvPr/>
        </p:nvSpPr>
        <p:spPr>
          <a:xfrm>
            <a:off x="11064240" y="6510528"/>
            <a:ext cx="457200" cy="164592"/>
          </a:xfrm>
          <a:prstGeom prst="rect">
            <a:avLst/>
          </a:prstGeom>
          <a:noFill/>
          <a:ln/>
        </p:spPr>
        <p:txBody>
          <a:bodyPr wrap="square" lIns="508" tIns="508" rIns="508" bIns="508" rtlCol="0" anchor="t">
            <a:normAutofit/>
          </a:bodyPr>
          <a:lstStyle/>
          <a:p>
            <a:pPr indent="0" marL="0">
              <a:buNone/>
            </a:pPr>
            <a:r>
              <a:rPr lang="en-US" sz="680" b="1" dirty="0">
                <a:solidFill>
                  <a:srgbClr val="5E6B63"/>
                </a:solidFill>
                <a:latin typeface="Arial" pitchFamily="34" charset="0"/>
                <a:ea typeface="Arial" pitchFamily="34" charset="-122"/>
                <a:cs typeface="Arial" pitchFamily="34" charset="-120"/>
              </a:rPr>
              <a:t>08</a:t>
            </a:r>
            <a:endParaRPr lang="en-US" sz="680" dirty="0"/>
          </a:p>
        </p:txBody>
      </p:sp>
      <p:sp>
        <p:nvSpPr>
          <p:cNvPr id="8" name="Shape 6"/>
          <p:cNvSpPr/>
          <p:nvPr/>
        </p:nvSpPr>
        <p:spPr>
          <a:xfrm>
            <a:off x="731520" y="2057400"/>
            <a:ext cx="2331720" cy="1280160"/>
          </a:xfrm>
          <a:prstGeom prst="roundRect">
            <a:avLst>
              <a:gd name="adj" fmla="val 5714"/>
            </a:avLst>
          </a:prstGeom>
          <a:solidFill>
            <a:srgbClr val="F5F8FB"/>
          </a:solidFill>
          <a:ln w="8890">
            <a:solidFill>
              <a:srgbClr val="D8D2C4"/>
            </a:solidFill>
            <a:prstDash val="solid"/>
          </a:ln>
        </p:spPr>
      </p:sp>
      <p:sp>
        <p:nvSpPr>
          <p:cNvPr id="9" name="Shape 7"/>
          <p:cNvSpPr/>
          <p:nvPr/>
        </p:nvSpPr>
        <p:spPr>
          <a:xfrm>
            <a:off x="731520" y="2057400"/>
            <a:ext cx="64008" cy="1280160"/>
          </a:xfrm>
          <a:prstGeom prst="rect">
            <a:avLst/>
          </a:prstGeom>
          <a:solidFill>
            <a:srgbClr val="2D4F73"/>
          </a:solidFill>
          <a:ln w="12700">
            <a:solidFill>
              <a:srgbClr val="2D4F73"/>
            </a:solidFill>
            <a:prstDash val="solid"/>
          </a:ln>
        </p:spPr>
      </p:sp>
      <p:sp>
        <p:nvSpPr>
          <p:cNvPr id="10" name="Text 8"/>
          <p:cNvSpPr/>
          <p:nvPr/>
        </p:nvSpPr>
        <p:spPr>
          <a:xfrm>
            <a:off x="877824" y="2185416"/>
            <a:ext cx="2075688" cy="201168"/>
          </a:xfrm>
          <a:prstGeom prst="rect">
            <a:avLst/>
          </a:prstGeom>
          <a:noFill/>
          <a:ln/>
        </p:spPr>
        <p:txBody>
          <a:bodyPr wrap="square" lIns="508" tIns="508" rIns="508" bIns="508" rtlCol="0" anchor="t">
            <a:normAutofit/>
          </a:bodyPr>
          <a:lstStyle/>
          <a:p>
            <a:pPr indent="0" marL="0">
              <a:buNone/>
            </a:pPr>
            <a:r>
              <a:rPr lang="en-US" sz="950" b="1" dirty="0">
                <a:solidFill>
                  <a:srgbClr val="14211C"/>
                </a:solidFill>
                <a:latin typeface="Arial" pitchFamily="34" charset="0"/>
                <a:ea typeface="Arial" pitchFamily="34" charset="-122"/>
                <a:cs typeface="Arial" pitchFamily="34" charset="-120"/>
              </a:rPr>
              <a:t>1. Starter training</a:t>
            </a:r>
            <a:endParaRPr lang="en-US" sz="950" dirty="0"/>
          </a:p>
        </p:txBody>
      </p:sp>
      <p:sp>
        <p:nvSpPr>
          <p:cNvPr id="11" name="Text 9"/>
          <p:cNvSpPr/>
          <p:nvPr/>
        </p:nvSpPr>
        <p:spPr>
          <a:xfrm>
            <a:off x="877824" y="2450592"/>
            <a:ext cx="2075688" cy="822960"/>
          </a:xfrm>
          <a:prstGeom prst="rect">
            <a:avLst/>
          </a:prstGeom>
          <a:noFill/>
          <a:ln/>
        </p:spPr>
        <p:txBody>
          <a:bodyPr wrap="square" lIns="508" tIns="508" rIns="508" bIns="508" rtlCol="0" anchor="t">
            <a:normAutofit/>
          </a:bodyPr>
          <a:lstStyle/>
          <a:p>
            <a:pPr indent="0" marL="0">
              <a:buNone/>
            </a:pPr>
            <a:r>
              <a:rPr lang="en-US" sz="750" dirty="0">
                <a:solidFill>
                  <a:srgbClr val="5E6B63"/>
                </a:solidFill>
                <a:latin typeface="Arial" pitchFamily="34" charset="0"/>
                <a:ea typeface="Arial" pitchFamily="34" charset="-122"/>
                <a:cs typeface="Arial" pitchFamily="34" charset="-120"/>
              </a:rPr>
              <a:t>Use data/training_smart_agriculture.csv.</a:t>
            </a:r>
            <a:endParaRPr lang="en-US" sz="750" dirty="0"/>
          </a:p>
          <a:p>
            <a:pPr indent="0" marL="0">
              <a:buNone/>
            </a:pPr>
            <a:r>
              <a:rPr lang="en-US" sz="750" dirty="0">
                <a:solidFill>
                  <a:srgbClr val="5E6B63"/>
                </a:solidFill>
                <a:latin typeface="Arial" pitchFamily="34" charset="0"/>
                <a:ea typeface="Arial" pitchFamily="34" charset="-122"/>
                <a:cs typeface="Arial" pitchFamily="34" charset="-120"/>
              </a:rPr>
              <a:t>MOI -&gt; soil_value; temp/humidity retained.</a:t>
            </a:r>
            <a:endParaRPr lang="en-US" sz="750" dirty="0"/>
          </a:p>
        </p:txBody>
      </p:sp>
      <p:sp>
        <p:nvSpPr>
          <p:cNvPr id="12" name="Shape 10"/>
          <p:cNvSpPr/>
          <p:nvPr/>
        </p:nvSpPr>
        <p:spPr>
          <a:xfrm>
            <a:off x="3182112" y="2697480"/>
            <a:ext cx="658368" cy="0"/>
          </a:xfrm>
          <a:prstGeom prst="line">
            <a:avLst/>
          </a:prstGeom>
          <a:noFill/>
          <a:ln w="15240">
            <a:solidFill>
              <a:srgbClr val="2D4F73"/>
            </a:solidFill>
            <a:prstDash val="solid"/>
            <a:tailEnd type="triangle"/>
          </a:ln>
        </p:spPr>
      </p:sp>
      <p:sp>
        <p:nvSpPr>
          <p:cNvPr id="13" name="Shape 11"/>
          <p:cNvSpPr/>
          <p:nvPr/>
        </p:nvSpPr>
        <p:spPr>
          <a:xfrm>
            <a:off x="3977640" y="2057400"/>
            <a:ext cx="2240280" cy="1280160"/>
          </a:xfrm>
          <a:prstGeom prst="roundRect">
            <a:avLst>
              <a:gd name="adj" fmla="val 5714"/>
            </a:avLst>
          </a:prstGeom>
          <a:solidFill>
            <a:srgbClr val="F5FBF6"/>
          </a:solidFill>
          <a:ln w="8890">
            <a:solidFill>
              <a:srgbClr val="D8D2C4"/>
            </a:solidFill>
            <a:prstDash val="solid"/>
          </a:ln>
        </p:spPr>
      </p:sp>
      <p:sp>
        <p:nvSpPr>
          <p:cNvPr id="14" name="Shape 12"/>
          <p:cNvSpPr/>
          <p:nvPr/>
        </p:nvSpPr>
        <p:spPr>
          <a:xfrm>
            <a:off x="3977640" y="2057400"/>
            <a:ext cx="64008" cy="1280160"/>
          </a:xfrm>
          <a:prstGeom prst="rect">
            <a:avLst/>
          </a:prstGeom>
          <a:solidFill>
            <a:srgbClr val="1F6B4D"/>
          </a:solidFill>
          <a:ln w="12700">
            <a:solidFill>
              <a:srgbClr val="1F6B4D"/>
            </a:solidFill>
            <a:prstDash val="solid"/>
          </a:ln>
        </p:spPr>
      </p:sp>
      <p:sp>
        <p:nvSpPr>
          <p:cNvPr id="15" name="Text 13"/>
          <p:cNvSpPr/>
          <p:nvPr/>
        </p:nvSpPr>
        <p:spPr>
          <a:xfrm>
            <a:off x="4123944" y="2185416"/>
            <a:ext cx="1984248" cy="201168"/>
          </a:xfrm>
          <a:prstGeom prst="rect">
            <a:avLst/>
          </a:prstGeom>
          <a:noFill/>
          <a:ln/>
        </p:spPr>
        <p:txBody>
          <a:bodyPr wrap="square" lIns="508" tIns="508" rIns="508" bIns="508" rtlCol="0" anchor="t">
            <a:normAutofit/>
          </a:bodyPr>
          <a:lstStyle/>
          <a:p>
            <a:pPr indent="0" marL="0">
              <a:buNone/>
            </a:pPr>
            <a:r>
              <a:rPr lang="en-US" sz="950" b="1" dirty="0">
                <a:solidFill>
                  <a:srgbClr val="14211C"/>
                </a:solidFill>
                <a:latin typeface="Arial" pitchFamily="34" charset="0"/>
                <a:ea typeface="Arial" pitchFamily="34" charset="-122"/>
                <a:cs typeface="Arial" pitchFamily="34" charset="-120"/>
              </a:rPr>
              <a:t>2. Saved model</a:t>
            </a:r>
            <a:endParaRPr lang="en-US" sz="950" dirty="0"/>
          </a:p>
        </p:txBody>
      </p:sp>
      <p:sp>
        <p:nvSpPr>
          <p:cNvPr id="16" name="Text 14"/>
          <p:cNvSpPr/>
          <p:nvPr/>
        </p:nvSpPr>
        <p:spPr>
          <a:xfrm>
            <a:off x="4123944" y="2450592"/>
            <a:ext cx="1984248" cy="822960"/>
          </a:xfrm>
          <a:prstGeom prst="rect">
            <a:avLst/>
          </a:prstGeom>
          <a:noFill/>
          <a:ln/>
        </p:spPr>
        <p:txBody>
          <a:bodyPr wrap="square" lIns="508" tIns="508" rIns="508" bIns="508" rtlCol="0" anchor="t">
            <a:normAutofit/>
          </a:bodyPr>
          <a:lstStyle/>
          <a:p>
            <a:pPr indent="0" marL="0">
              <a:buNone/>
            </a:pPr>
            <a:r>
              <a:rPr lang="en-US" sz="750" dirty="0">
                <a:solidFill>
                  <a:srgbClr val="5E6B63"/>
                </a:solidFill>
                <a:latin typeface="Arial" pitchFamily="34" charset="0"/>
                <a:ea typeface="Arial" pitchFamily="34" charset="-122"/>
                <a:cs typeface="Arial" pitchFamily="34" charset="-120"/>
              </a:rPr>
              <a:t>Train Decision Tree and save models/dryness_model.joblib.</a:t>
            </a:r>
            <a:endParaRPr lang="en-US" sz="750" dirty="0"/>
          </a:p>
        </p:txBody>
      </p:sp>
      <p:sp>
        <p:nvSpPr>
          <p:cNvPr id="17" name="Shape 15"/>
          <p:cNvSpPr/>
          <p:nvPr/>
        </p:nvSpPr>
        <p:spPr>
          <a:xfrm>
            <a:off x="6355080" y="2697480"/>
            <a:ext cx="658368" cy="0"/>
          </a:xfrm>
          <a:prstGeom prst="line">
            <a:avLst/>
          </a:prstGeom>
          <a:noFill/>
          <a:ln w="15240">
            <a:solidFill>
              <a:srgbClr val="1F6B4D"/>
            </a:solidFill>
            <a:prstDash val="solid"/>
            <a:tailEnd type="triangle"/>
          </a:ln>
        </p:spPr>
      </p:sp>
      <p:sp>
        <p:nvSpPr>
          <p:cNvPr id="18" name="Shape 16"/>
          <p:cNvSpPr/>
          <p:nvPr/>
        </p:nvSpPr>
        <p:spPr>
          <a:xfrm>
            <a:off x="7178040" y="2057400"/>
            <a:ext cx="2240280" cy="1280160"/>
          </a:xfrm>
          <a:prstGeom prst="roundRect">
            <a:avLst>
              <a:gd name="adj" fmla="val 5714"/>
            </a:avLst>
          </a:prstGeom>
          <a:solidFill>
            <a:srgbClr val="FFFFFF"/>
          </a:solidFill>
          <a:ln w="8890">
            <a:solidFill>
              <a:srgbClr val="D8D2C4"/>
            </a:solidFill>
            <a:prstDash val="solid"/>
          </a:ln>
        </p:spPr>
      </p:sp>
      <p:sp>
        <p:nvSpPr>
          <p:cNvPr id="19" name="Shape 17"/>
          <p:cNvSpPr/>
          <p:nvPr/>
        </p:nvSpPr>
        <p:spPr>
          <a:xfrm>
            <a:off x="7178040" y="2057400"/>
            <a:ext cx="64008" cy="1280160"/>
          </a:xfrm>
          <a:prstGeom prst="rect">
            <a:avLst/>
          </a:prstGeom>
          <a:solidFill>
            <a:srgbClr val="256A7B"/>
          </a:solidFill>
          <a:ln w="12700">
            <a:solidFill>
              <a:srgbClr val="256A7B"/>
            </a:solidFill>
            <a:prstDash val="solid"/>
          </a:ln>
        </p:spPr>
      </p:sp>
      <p:sp>
        <p:nvSpPr>
          <p:cNvPr id="20" name="Text 18"/>
          <p:cNvSpPr/>
          <p:nvPr/>
        </p:nvSpPr>
        <p:spPr>
          <a:xfrm>
            <a:off x="7324344" y="2185416"/>
            <a:ext cx="1984248" cy="201168"/>
          </a:xfrm>
          <a:prstGeom prst="rect">
            <a:avLst/>
          </a:prstGeom>
          <a:noFill/>
          <a:ln/>
        </p:spPr>
        <p:txBody>
          <a:bodyPr wrap="square" lIns="508" tIns="508" rIns="508" bIns="508" rtlCol="0" anchor="t">
            <a:normAutofit/>
          </a:bodyPr>
          <a:lstStyle/>
          <a:p>
            <a:pPr indent="0" marL="0">
              <a:buNone/>
            </a:pPr>
            <a:r>
              <a:rPr lang="en-US" sz="950" b="1" dirty="0">
                <a:solidFill>
                  <a:srgbClr val="14211C"/>
                </a:solidFill>
                <a:latin typeface="Arial" pitchFamily="34" charset="0"/>
                <a:ea typeface="Arial" pitchFamily="34" charset="-122"/>
                <a:cs typeface="Arial" pitchFamily="34" charset="-120"/>
              </a:rPr>
              <a:t>3. Real-time prediction</a:t>
            </a:r>
            <a:endParaRPr lang="en-US" sz="950" dirty="0"/>
          </a:p>
        </p:txBody>
      </p:sp>
      <p:sp>
        <p:nvSpPr>
          <p:cNvPr id="21" name="Text 19"/>
          <p:cNvSpPr/>
          <p:nvPr/>
        </p:nvSpPr>
        <p:spPr>
          <a:xfrm>
            <a:off x="7324344" y="2450592"/>
            <a:ext cx="1984248" cy="822960"/>
          </a:xfrm>
          <a:prstGeom prst="rect">
            <a:avLst/>
          </a:prstGeom>
          <a:noFill/>
          <a:ln/>
        </p:spPr>
        <p:txBody>
          <a:bodyPr wrap="square" lIns="508" tIns="508" rIns="508" bIns="508" rtlCol="0" anchor="t">
            <a:normAutofit/>
          </a:bodyPr>
          <a:lstStyle/>
          <a:p>
            <a:pPr indent="0" marL="0">
              <a:buNone/>
            </a:pPr>
            <a:r>
              <a:rPr lang="en-US" sz="750" dirty="0">
                <a:solidFill>
                  <a:srgbClr val="5E6B63"/>
                </a:solidFill>
                <a:latin typeface="Arial" pitchFamily="34" charset="0"/>
                <a:ea typeface="Arial" pitchFamily="34" charset="-122"/>
                <a:cs typeface="Arial" pitchFamily="34" charset="-120"/>
              </a:rPr>
              <a:t>full_monitor.py loads model and predicts every sensor cycle.</a:t>
            </a:r>
            <a:endParaRPr lang="en-US" sz="750" dirty="0"/>
          </a:p>
        </p:txBody>
      </p:sp>
      <p:sp>
        <p:nvSpPr>
          <p:cNvPr id="22" name="Shape 20"/>
          <p:cNvSpPr/>
          <p:nvPr/>
        </p:nvSpPr>
        <p:spPr>
          <a:xfrm>
            <a:off x="9555480" y="2697480"/>
            <a:ext cx="502920" cy="0"/>
          </a:xfrm>
          <a:prstGeom prst="line">
            <a:avLst/>
          </a:prstGeom>
          <a:noFill/>
          <a:ln w="15240">
            <a:solidFill>
              <a:srgbClr val="256A7B"/>
            </a:solidFill>
            <a:prstDash val="solid"/>
            <a:tailEnd type="triangle"/>
          </a:ln>
        </p:spPr>
      </p:sp>
      <p:sp>
        <p:nvSpPr>
          <p:cNvPr id="23" name="Shape 21"/>
          <p:cNvSpPr/>
          <p:nvPr/>
        </p:nvSpPr>
        <p:spPr>
          <a:xfrm>
            <a:off x="10149840" y="2057400"/>
            <a:ext cx="1325880" cy="1280160"/>
          </a:xfrm>
          <a:prstGeom prst="roundRect">
            <a:avLst>
              <a:gd name="adj" fmla="val 5714"/>
            </a:avLst>
          </a:prstGeom>
          <a:solidFill>
            <a:srgbClr val="FFF8F0"/>
          </a:solidFill>
          <a:ln w="8890">
            <a:solidFill>
              <a:srgbClr val="D8D2C4"/>
            </a:solidFill>
            <a:prstDash val="solid"/>
          </a:ln>
        </p:spPr>
      </p:sp>
      <p:sp>
        <p:nvSpPr>
          <p:cNvPr id="24" name="Shape 22"/>
          <p:cNvSpPr/>
          <p:nvPr/>
        </p:nvSpPr>
        <p:spPr>
          <a:xfrm>
            <a:off x="10149840" y="2057400"/>
            <a:ext cx="64008" cy="1280160"/>
          </a:xfrm>
          <a:prstGeom prst="rect">
            <a:avLst/>
          </a:prstGeom>
          <a:solidFill>
            <a:srgbClr val="E6A33D"/>
          </a:solidFill>
          <a:ln w="12700">
            <a:solidFill>
              <a:srgbClr val="E6A33D"/>
            </a:solidFill>
            <a:prstDash val="solid"/>
          </a:ln>
        </p:spPr>
      </p:sp>
      <p:sp>
        <p:nvSpPr>
          <p:cNvPr id="25" name="Text 23"/>
          <p:cNvSpPr/>
          <p:nvPr/>
        </p:nvSpPr>
        <p:spPr>
          <a:xfrm>
            <a:off x="10296144" y="2185416"/>
            <a:ext cx="1069848" cy="201168"/>
          </a:xfrm>
          <a:prstGeom prst="rect">
            <a:avLst/>
          </a:prstGeom>
          <a:noFill/>
          <a:ln/>
        </p:spPr>
        <p:txBody>
          <a:bodyPr wrap="square" lIns="508" tIns="508" rIns="508" bIns="508" rtlCol="0" anchor="t">
            <a:normAutofit/>
          </a:bodyPr>
          <a:lstStyle/>
          <a:p>
            <a:pPr indent="0" marL="0">
              <a:buNone/>
            </a:pPr>
            <a:r>
              <a:rPr lang="en-US" sz="950" b="1" dirty="0">
                <a:solidFill>
                  <a:srgbClr val="14211C"/>
                </a:solidFill>
                <a:latin typeface="Arial" pitchFamily="34" charset="0"/>
                <a:ea typeface="Arial" pitchFamily="34" charset="-122"/>
                <a:cs typeface="Arial" pitchFamily="34" charset="-120"/>
              </a:rPr>
              <a:t>4. Retrain later</a:t>
            </a:r>
            <a:endParaRPr lang="en-US" sz="950" dirty="0"/>
          </a:p>
        </p:txBody>
      </p:sp>
      <p:sp>
        <p:nvSpPr>
          <p:cNvPr id="26" name="Text 24"/>
          <p:cNvSpPr/>
          <p:nvPr/>
        </p:nvSpPr>
        <p:spPr>
          <a:xfrm>
            <a:off x="10296144" y="2450592"/>
            <a:ext cx="1069848" cy="822960"/>
          </a:xfrm>
          <a:prstGeom prst="rect">
            <a:avLst/>
          </a:prstGeom>
          <a:noFill/>
          <a:ln/>
        </p:spPr>
        <p:txBody>
          <a:bodyPr wrap="square" lIns="508" tIns="508" rIns="508" bIns="508" rtlCol="0" anchor="t">
            <a:normAutofit/>
          </a:bodyPr>
          <a:lstStyle/>
          <a:p>
            <a:pPr indent="0" marL="0">
              <a:buNone/>
            </a:pPr>
            <a:r>
              <a:rPr lang="en-US" sz="750" dirty="0">
                <a:solidFill>
                  <a:srgbClr val="5E6B63"/>
                </a:solidFill>
                <a:latin typeface="Arial" pitchFamily="34" charset="0"/>
                <a:ea typeface="Arial" pitchFamily="34" charset="-122"/>
                <a:cs typeface="Arial" pitchFamily="34" charset="-120"/>
              </a:rPr>
              <a:t>Use collected plant_data.csv after enough real rows.</a:t>
            </a:r>
            <a:endParaRPr lang="en-US" sz="750" dirty="0"/>
          </a:p>
        </p:txBody>
      </p:sp>
      <p:sp>
        <p:nvSpPr>
          <p:cNvPr id="27" name="Shape 25"/>
          <p:cNvSpPr/>
          <p:nvPr/>
        </p:nvSpPr>
        <p:spPr>
          <a:xfrm>
            <a:off x="822960" y="4069080"/>
            <a:ext cx="4572000" cy="1005840"/>
          </a:xfrm>
          <a:prstGeom prst="roundRect">
            <a:avLst>
              <a:gd name="adj" fmla="val 7273"/>
            </a:avLst>
          </a:prstGeom>
          <a:solidFill>
            <a:srgbClr val="FFFFFF"/>
          </a:solidFill>
          <a:ln w="8890">
            <a:solidFill>
              <a:srgbClr val="D8D2C4"/>
            </a:solidFill>
            <a:prstDash val="solid"/>
          </a:ln>
        </p:spPr>
      </p:sp>
      <p:sp>
        <p:nvSpPr>
          <p:cNvPr id="28" name="Shape 26"/>
          <p:cNvSpPr/>
          <p:nvPr/>
        </p:nvSpPr>
        <p:spPr>
          <a:xfrm>
            <a:off x="822960" y="4069080"/>
            <a:ext cx="64008" cy="1005840"/>
          </a:xfrm>
          <a:prstGeom prst="rect">
            <a:avLst/>
          </a:prstGeom>
          <a:solidFill>
            <a:srgbClr val="1F6B4D"/>
          </a:solidFill>
          <a:ln w="12700">
            <a:solidFill>
              <a:srgbClr val="1F6B4D"/>
            </a:solidFill>
            <a:prstDash val="solid"/>
          </a:ln>
        </p:spPr>
      </p:sp>
      <p:sp>
        <p:nvSpPr>
          <p:cNvPr id="29" name="Text 27"/>
          <p:cNvSpPr/>
          <p:nvPr/>
        </p:nvSpPr>
        <p:spPr>
          <a:xfrm>
            <a:off x="969264" y="4197096"/>
            <a:ext cx="4315968" cy="201168"/>
          </a:xfrm>
          <a:prstGeom prst="rect">
            <a:avLst/>
          </a:prstGeom>
          <a:noFill/>
          <a:ln/>
        </p:spPr>
        <p:txBody>
          <a:bodyPr wrap="square" lIns="508" tIns="508" rIns="508" bIns="508" rtlCol="0" anchor="t">
            <a:normAutofit/>
          </a:bodyPr>
          <a:lstStyle/>
          <a:p>
            <a:pPr indent="0" marL="0">
              <a:buNone/>
            </a:pPr>
            <a:r>
              <a:rPr lang="en-US" sz="950" b="1" dirty="0">
                <a:solidFill>
                  <a:srgbClr val="14211C"/>
                </a:solidFill>
                <a:latin typeface="Arial" pitchFamily="34" charset="0"/>
                <a:ea typeface="Arial" pitchFamily="34" charset="-122"/>
                <a:cs typeface="Arial" pitchFamily="34" charset="-120"/>
              </a:rPr>
              <a:t>Current behavior</a:t>
            </a:r>
            <a:endParaRPr lang="en-US" sz="950" dirty="0"/>
          </a:p>
        </p:txBody>
      </p:sp>
      <p:sp>
        <p:nvSpPr>
          <p:cNvPr id="30" name="Text 28"/>
          <p:cNvSpPr/>
          <p:nvPr/>
        </p:nvSpPr>
        <p:spPr>
          <a:xfrm>
            <a:off x="969264" y="4462272"/>
            <a:ext cx="4315968" cy="548640"/>
          </a:xfrm>
          <a:prstGeom prst="rect">
            <a:avLst/>
          </a:prstGeom>
          <a:noFill/>
          <a:ln/>
        </p:spPr>
        <p:txBody>
          <a:bodyPr wrap="square" lIns="508" tIns="508" rIns="508" bIns="508" rtlCol="0" anchor="t">
            <a:normAutofit/>
          </a:bodyPr>
          <a:lstStyle/>
          <a:p>
            <a:pPr indent="0" marL="0">
              <a:buNone/>
            </a:pPr>
            <a:r>
              <a:rPr lang="en-US" sz="750" dirty="0">
                <a:solidFill>
                  <a:srgbClr val="5E6B63"/>
                </a:solidFill>
                <a:latin typeface="Arial" pitchFamily="34" charset="0"/>
                <a:ea typeface="Arial" pitchFamily="34" charset="-122"/>
                <a:cs typeface="Arial" pitchFamily="34" charset="-120"/>
              </a:rPr>
              <a:t>The model loads or trains at startup. It does not automatically retrain every 10 minutes.</a:t>
            </a:r>
            <a:endParaRPr lang="en-US" sz="750" dirty="0"/>
          </a:p>
        </p:txBody>
      </p:sp>
      <p:sp>
        <p:nvSpPr>
          <p:cNvPr id="31" name="Shape 29"/>
          <p:cNvSpPr/>
          <p:nvPr/>
        </p:nvSpPr>
        <p:spPr>
          <a:xfrm>
            <a:off x="6400800" y="4069080"/>
            <a:ext cx="4572000" cy="1005840"/>
          </a:xfrm>
          <a:prstGeom prst="roundRect">
            <a:avLst>
              <a:gd name="adj" fmla="val 7273"/>
            </a:avLst>
          </a:prstGeom>
          <a:solidFill>
            <a:srgbClr val="FFFFFF"/>
          </a:solidFill>
          <a:ln w="8890">
            <a:solidFill>
              <a:srgbClr val="D8D2C4"/>
            </a:solidFill>
            <a:prstDash val="solid"/>
          </a:ln>
        </p:spPr>
      </p:sp>
      <p:sp>
        <p:nvSpPr>
          <p:cNvPr id="32" name="Shape 30"/>
          <p:cNvSpPr/>
          <p:nvPr/>
        </p:nvSpPr>
        <p:spPr>
          <a:xfrm>
            <a:off x="6400800" y="4069080"/>
            <a:ext cx="64008" cy="1005840"/>
          </a:xfrm>
          <a:prstGeom prst="rect">
            <a:avLst/>
          </a:prstGeom>
          <a:solidFill>
            <a:srgbClr val="256A7B"/>
          </a:solidFill>
          <a:ln w="12700">
            <a:solidFill>
              <a:srgbClr val="256A7B"/>
            </a:solidFill>
            <a:prstDash val="solid"/>
          </a:ln>
        </p:spPr>
      </p:sp>
      <p:sp>
        <p:nvSpPr>
          <p:cNvPr id="33" name="Text 31"/>
          <p:cNvSpPr/>
          <p:nvPr/>
        </p:nvSpPr>
        <p:spPr>
          <a:xfrm>
            <a:off x="6547104" y="4197096"/>
            <a:ext cx="4315968" cy="201168"/>
          </a:xfrm>
          <a:prstGeom prst="rect">
            <a:avLst/>
          </a:prstGeom>
          <a:noFill/>
          <a:ln/>
        </p:spPr>
        <p:txBody>
          <a:bodyPr wrap="square" lIns="508" tIns="508" rIns="508" bIns="508" rtlCol="0" anchor="t">
            <a:normAutofit/>
          </a:bodyPr>
          <a:lstStyle/>
          <a:p>
            <a:pPr indent="0" marL="0">
              <a:buNone/>
            </a:pPr>
            <a:r>
              <a:rPr lang="en-US" sz="950" b="1" dirty="0">
                <a:solidFill>
                  <a:srgbClr val="14211C"/>
                </a:solidFill>
                <a:latin typeface="Arial" pitchFamily="34" charset="0"/>
                <a:ea typeface="Arial" pitchFamily="34" charset="-122"/>
                <a:cs typeface="Arial" pitchFamily="34" charset="-120"/>
              </a:rPr>
              <a:t>Retraining explanation for lecturer</a:t>
            </a:r>
            <a:endParaRPr lang="en-US" sz="950" dirty="0"/>
          </a:p>
        </p:txBody>
      </p:sp>
      <p:sp>
        <p:nvSpPr>
          <p:cNvPr id="34" name="Text 32"/>
          <p:cNvSpPr/>
          <p:nvPr/>
        </p:nvSpPr>
        <p:spPr>
          <a:xfrm>
            <a:off x="6547104" y="4462272"/>
            <a:ext cx="4315968" cy="548640"/>
          </a:xfrm>
          <a:prstGeom prst="rect">
            <a:avLst/>
          </a:prstGeom>
          <a:noFill/>
          <a:ln/>
        </p:spPr>
        <p:txBody>
          <a:bodyPr wrap="square" lIns="508" tIns="508" rIns="508" bIns="508" rtlCol="0" anchor="t">
            <a:normAutofit/>
          </a:bodyPr>
          <a:lstStyle/>
          <a:p>
            <a:pPr indent="0" marL="0">
              <a:buNone/>
            </a:pPr>
            <a:r>
              <a:rPr lang="en-US" sz="750" dirty="0">
                <a:solidFill>
                  <a:srgbClr val="5E6B63"/>
                </a:solidFill>
                <a:latin typeface="Arial" pitchFamily="34" charset="0"/>
                <a:ea typeface="Arial" pitchFamily="34" charset="-122"/>
                <a:cs typeface="Arial" pitchFamily="34" charset="-120"/>
              </a:rPr>
              <a:t>If 20 days of real data exists in plant_data.csv, retraining uses the whole 20-day file unless manually filtered.</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E"/>
        </a:solidFill>
      </p:bgPr>
    </p:bg>
    <p:spTree>
      <p:nvGrpSpPr>
        <p:cNvPr id="1" name=""/>
        <p:cNvGrpSpPr/>
        <p:nvPr/>
      </p:nvGrpSpPr>
      <p:grpSpPr>
        <a:xfrm>
          <a:off x="0" y="0"/>
          <a:ext cx="0" cy="0"/>
          <a:chOff x="0" y="0"/>
          <a:chExt cx="0" cy="0"/>
        </a:xfrm>
      </p:grpSpPr>
      <p:sp>
        <p:nvSpPr>
          <p:cNvPr id="2" name="Shape 0"/>
          <p:cNvSpPr/>
          <p:nvPr/>
        </p:nvSpPr>
        <p:spPr>
          <a:xfrm>
            <a:off x="502920" y="530352"/>
            <a:ext cx="320040" cy="0"/>
          </a:xfrm>
          <a:prstGeom prst="line">
            <a:avLst/>
          </a:prstGeom>
          <a:noFill/>
          <a:ln w="25400">
            <a:solidFill>
              <a:srgbClr val="1F6B4D"/>
            </a:solidFill>
            <a:prstDash val="solid"/>
          </a:ln>
        </p:spPr>
      </p:sp>
      <p:sp>
        <p:nvSpPr>
          <p:cNvPr id="3" name="Text 1"/>
          <p:cNvSpPr/>
          <p:nvPr/>
        </p:nvSpPr>
        <p:spPr>
          <a:xfrm>
            <a:off x="932688" y="420624"/>
            <a:ext cx="3840480" cy="228600"/>
          </a:xfrm>
          <a:prstGeom prst="rect">
            <a:avLst/>
          </a:prstGeom>
          <a:noFill/>
          <a:ln/>
        </p:spPr>
        <p:txBody>
          <a:bodyPr wrap="square" lIns="508" tIns="508" rIns="508" bIns="508" rtlCol="0" anchor="t">
            <a:normAutofit/>
          </a:bodyPr>
          <a:lstStyle/>
          <a:p>
            <a:pPr indent="0" marL="0">
              <a:buNone/>
            </a:pPr>
            <a:r>
              <a:rPr lang="en-US" sz="760" b="1" dirty="0">
                <a:solidFill>
                  <a:srgbClr val="1F6B4D"/>
                </a:solidFill>
                <a:latin typeface="Arial" pitchFamily="34" charset="0"/>
                <a:ea typeface="Arial" pitchFamily="34" charset="-122"/>
                <a:cs typeface="Arial" pitchFamily="34" charset="-120"/>
              </a:rPr>
              <a:t>DASHBOARD</a:t>
            </a:r>
            <a:endParaRPr lang="en-US" sz="760" dirty="0"/>
          </a:p>
        </p:txBody>
      </p:sp>
      <p:sp>
        <p:nvSpPr>
          <p:cNvPr id="4" name="Text 2"/>
          <p:cNvSpPr/>
          <p:nvPr/>
        </p:nvSpPr>
        <p:spPr>
          <a:xfrm>
            <a:off x="502920" y="758952"/>
            <a:ext cx="9692640" cy="658368"/>
          </a:xfrm>
          <a:prstGeom prst="rect">
            <a:avLst/>
          </a:prstGeom>
          <a:noFill/>
          <a:ln/>
        </p:spPr>
        <p:txBody>
          <a:bodyPr wrap="square" lIns="508" tIns="508" rIns="508" bIns="508" rtlCol="0" anchor="t">
            <a:normAutofit/>
          </a:bodyPr>
          <a:lstStyle/>
          <a:p>
            <a:pPr indent="0" marL="0">
              <a:buNone/>
            </a:pPr>
            <a:r>
              <a:rPr lang="en-US" sz="2200" b="1" dirty="0">
                <a:solidFill>
                  <a:srgbClr val="14211C"/>
                </a:solidFill>
                <a:latin typeface="Georgia" pitchFamily="34" charset="0"/>
                <a:ea typeface="Georgia" pitchFamily="34" charset="-122"/>
                <a:cs typeface="Georgia" pitchFamily="34" charset="-120"/>
              </a:rPr>
              <a:t>Streamlit is the main live dashboard; Favoriot remains the IoT cloud path.</a:t>
            </a:r>
            <a:endParaRPr lang="en-US" sz="2200" dirty="0"/>
          </a:p>
        </p:txBody>
      </p:sp>
      <p:sp>
        <p:nvSpPr>
          <p:cNvPr id="5" name="Shape 3"/>
          <p:cNvSpPr/>
          <p:nvPr/>
        </p:nvSpPr>
        <p:spPr>
          <a:xfrm>
            <a:off x="502920" y="6428232"/>
            <a:ext cx="10835640" cy="0"/>
          </a:xfrm>
          <a:prstGeom prst="line">
            <a:avLst/>
          </a:prstGeom>
          <a:noFill/>
          <a:ln w="6350">
            <a:solidFill>
              <a:srgbClr val="D8D2C4"/>
            </a:solidFill>
            <a:prstDash val="solid"/>
          </a:ln>
        </p:spPr>
      </p:sp>
      <p:sp>
        <p:nvSpPr>
          <p:cNvPr id="6" name="Text 4"/>
          <p:cNvSpPr/>
          <p:nvPr/>
        </p:nvSpPr>
        <p:spPr>
          <a:xfrm>
            <a:off x="502920" y="6510528"/>
            <a:ext cx="7680960" cy="164592"/>
          </a:xfrm>
          <a:prstGeom prst="rect">
            <a:avLst/>
          </a:prstGeom>
          <a:noFill/>
          <a:ln/>
        </p:spPr>
        <p:txBody>
          <a:bodyPr wrap="square" lIns="508" tIns="508" rIns="508" bIns="508" rtlCol="0" anchor="t">
            <a:normAutofit/>
          </a:bodyPr>
          <a:lstStyle/>
          <a:p>
            <a:pPr indent="0" marL="0">
              <a:buNone/>
            </a:pPr>
            <a:r>
              <a:rPr lang="en-US" sz="680" dirty="0">
                <a:solidFill>
                  <a:srgbClr val="5E6B63"/>
                </a:solidFill>
                <a:latin typeface="Arial" pitchFamily="34" charset="0"/>
                <a:ea typeface="Arial" pitchFamily="34" charset="-122"/>
                <a:cs typeface="Arial" pitchFamily="34" charset="-120"/>
              </a:rPr>
              <a:t>Source: project README, Student Guide, and SRTA3353 Project 2 criteria</a:t>
            </a:r>
            <a:endParaRPr lang="en-US" sz="680" dirty="0"/>
          </a:p>
        </p:txBody>
      </p:sp>
      <p:sp>
        <p:nvSpPr>
          <p:cNvPr id="7" name="Text 5"/>
          <p:cNvSpPr/>
          <p:nvPr/>
        </p:nvSpPr>
        <p:spPr>
          <a:xfrm>
            <a:off x="11064240" y="6510528"/>
            <a:ext cx="457200" cy="164592"/>
          </a:xfrm>
          <a:prstGeom prst="rect">
            <a:avLst/>
          </a:prstGeom>
          <a:noFill/>
          <a:ln/>
        </p:spPr>
        <p:txBody>
          <a:bodyPr wrap="square" lIns="508" tIns="508" rIns="508" bIns="508" rtlCol="0" anchor="t">
            <a:normAutofit/>
          </a:bodyPr>
          <a:lstStyle/>
          <a:p>
            <a:pPr indent="0" marL="0">
              <a:buNone/>
            </a:pPr>
            <a:r>
              <a:rPr lang="en-US" sz="680" b="1" dirty="0">
                <a:solidFill>
                  <a:srgbClr val="5E6B63"/>
                </a:solidFill>
                <a:latin typeface="Arial" pitchFamily="34" charset="0"/>
                <a:ea typeface="Arial" pitchFamily="34" charset="-122"/>
                <a:cs typeface="Arial" pitchFamily="34" charset="-120"/>
              </a:rPr>
              <a:t>09</a:t>
            </a:r>
            <a:endParaRPr lang="en-US" sz="680" dirty="0"/>
          </a:p>
        </p:txBody>
      </p:sp>
      <p:sp>
        <p:nvSpPr>
          <p:cNvPr id="8" name="Shape 6"/>
          <p:cNvSpPr/>
          <p:nvPr/>
        </p:nvSpPr>
        <p:spPr>
          <a:xfrm>
            <a:off x="640080" y="1645920"/>
            <a:ext cx="6583680" cy="3977640"/>
          </a:xfrm>
          <a:prstGeom prst="roundRect">
            <a:avLst>
              <a:gd name="adj" fmla="val 1839"/>
            </a:avLst>
          </a:prstGeom>
          <a:solidFill>
            <a:srgbClr val="FFFFFF"/>
          </a:solidFill>
          <a:ln w="8890">
            <a:solidFill>
              <a:srgbClr val="D8D2C4"/>
            </a:solidFill>
            <a:prstDash val="solid"/>
          </a:ln>
        </p:spPr>
      </p:sp>
      <p:sp>
        <p:nvSpPr>
          <p:cNvPr id="9" name="Text 7"/>
          <p:cNvSpPr/>
          <p:nvPr/>
        </p:nvSpPr>
        <p:spPr>
          <a:xfrm>
            <a:off x="868680" y="1856232"/>
            <a:ext cx="2743200" cy="201168"/>
          </a:xfrm>
          <a:prstGeom prst="rect">
            <a:avLst/>
          </a:prstGeom>
          <a:noFill/>
          <a:ln/>
        </p:spPr>
        <p:txBody>
          <a:bodyPr wrap="square" lIns="508" tIns="508" rIns="508" bIns="508" rtlCol="0" anchor="t">
            <a:normAutofit/>
          </a:bodyPr>
          <a:lstStyle/>
          <a:p>
            <a:pPr indent="0" marL="0">
              <a:buNone/>
            </a:pPr>
            <a:r>
              <a:rPr lang="en-US" sz="1000" b="1" dirty="0">
                <a:solidFill>
                  <a:srgbClr val="1F6B4D"/>
                </a:solidFill>
                <a:latin typeface="Arial" pitchFamily="34" charset="0"/>
                <a:ea typeface="Arial" pitchFamily="34" charset="-122"/>
                <a:cs typeface="Arial" pitchFamily="34" charset="-120"/>
              </a:rPr>
              <a:t>Streamlit dashboard mock</a:t>
            </a:r>
            <a:endParaRPr lang="en-US" sz="1000" dirty="0"/>
          </a:p>
        </p:txBody>
      </p:sp>
      <p:sp>
        <p:nvSpPr>
          <p:cNvPr id="10" name="Shape 8"/>
          <p:cNvSpPr/>
          <p:nvPr/>
        </p:nvSpPr>
        <p:spPr>
          <a:xfrm>
            <a:off x="868680" y="2240280"/>
            <a:ext cx="1325880" cy="960120"/>
          </a:xfrm>
          <a:prstGeom prst="roundRect">
            <a:avLst>
              <a:gd name="adj" fmla="val 7619"/>
            </a:avLst>
          </a:prstGeom>
          <a:solidFill>
            <a:srgbClr val="F5FBF6"/>
          </a:solidFill>
          <a:ln w="8890">
            <a:solidFill>
              <a:srgbClr val="D8D2C4"/>
            </a:solidFill>
            <a:prstDash val="solid"/>
          </a:ln>
        </p:spPr>
      </p:sp>
      <p:sp>
        <p:nvSpPr>
          <p:cNvPr id="11" name="Text 9"/>
          <p:cNvSpPr/>
          <p:nvPr/>
        </p:nvSpPr>
        <p:spPr>
          <a:xfrm>
            <a:off x="1014984" y="2377440"/>
            <a:ext cx="1033272" cy="256032"/>
          </a:xfrm>
          <a:prstGeom prst="rect">
            <a:avLst/>
          </a:prstGeom>
          <a:noFill/>
          <a:ln/>
        </p:spPr>
        <p:txBody>
          <a:bodyPr wrap="square" lIns="508" tIns="508" rIns="508" bIns="508" rtlCol="0" anchor="t">
            <a:normAutofit/>
          </a:bodyPr>
          <a:lstStyle/>
          <a:p>
            <a:pPr indent="0" marL="0">
              <a:buNone/>
            </a:pPr>
            <a:r>
              <a:rPr lang="en-US" sz="1800" b="1" dirty="0">
                <a:solidFill>
                  <a:srgbClr val="1F6B4D"/>
                </a:solidFill>
                <a:latin typeface="Arial" pitchFamily="34" charset="0"/>
                <a:ea typeface="Arial" pitchFamily="34" charset="-122"/>
                <a:cs typeface="Arial" pitchFamily="34" charset="-120"/>
              </a:rPr>
              <a:t>45%</a:t>
            </a:r>
            <a:endParaRPr lang="en-US" sz="1800" dirty="0"/>
          </a:p>
        </p:txBody>
      </p:sp>
      <p:sp>
        <p:nvSpPr>
          <p:cNvPr id="12" name="Text 10"/>
          <p:cNvSpPr/>
          <p:nvPr/>
        </p:nvSpPr>
        <p:spPr>
          <a:xfrm>
            <a:off x="1014984" y="2697480"/>
            <a:ext cx="1033272" cy="182880"/>
          </a:xfrm>
          <a:prstGeom prst="rect">
            <a:avLst/>
          </a:prstGeom>
          <a:noFill/>
          <a:ln/>
        </p:spPr>
        <p:txBody>
          <a:bodyPr wrap="square" lIns="508" tIns="508" rIns="508" bIns="508" rtlCol="0" anchor="t">
            <a:normAutofit/>
          </a:bodyPr>
          <a:lstStyle/>
          <a:p>
            <a:pPr indent="0" marL="0">
              <a:buNone/>
            </a:pPr>
            <a:r>
              <a:rPr lang="en-US" sz="950" b="1" dirty="0">
                <a:solidFill>
                  <a:srgbClr val="14211C"/>
                </a:solidFill>
                <a:latin typeface="Arial" pitchFamily="34" charset="0"/>
                <a:ea typeface="Arial" pitchFamily="34" charset="-122"/>
                <a:cs typeface="Arial" pitchFamily="34" charset="-120"/>
              </a:rPr>
              <a:t>soil moisture</a:t>
            </a:r>
            <a:endParaRPr lang="en-US" sz="950" dirty="0"/>
          </a:p>
        </p:txBody>
      </p:sp>
      <p:sp>
        <p:nvSpPr>
          <p:cNvPr id="13" name="Text 11"/>
          <p:cNvSpPr/>
          <p:nvPr/>
        </p:nvSpPr>
        <p:spPr>
          <a:xfrm>
            <a:off x="1014984" y="2926080"/>
            <a:ext cx="1033272" cy="201168"/>
          </a:xfrm>
          <a:prstGeom prst="rect">
            <a:avLst/>
          </a:prstGeom>
          <a:noFill/>
          <a:ln/>
        </p:spPr>
        <p:txBody>
          <a:bodyPr wrap="square" lIns="508" tIns="508" rIns="508" bIns="508" rtlCol="0" anchor="t">
            <a:normAutofit/>
          </a:bodyPr>
          <a:lstStyle/>
          <a:p>
            <a:pPr indent="0" marL="0">
              <a:buNone/>
            </a:pPr>
            <a:r>
              <a:rPr lang="en-US" sz="780" dirty="0">
                <a:solidFill>
                  <a:srgbClr val="5E6B63"/>
                </a:solidFill>
                <a:latin typeface="Arial" pitchFamily="34" charset="0"/>
                <a:ea typeface="Arial" pitchFamily="34" charset="-122"/>
                <a:cs typeface="Arial" pitchFamily="34" charset="-120"/>
              </a:rPr>
              <a:t>latest CSV reading</a:t>
            </a:r>
            <a:endParaRPr lang="en-US" sz="780" dirty="0"/>
          </a:p>
        </p:txBody>
      </p:sp>
      <p:sp>
        <p:nvSpPr>
          <p:cNvPr id="14" name="Shape 12"/>
          <p:cNvSpPr/>
          <p:nvPr/>
        </p:nvSpPr>
        <p:spPr>
          <a:xfrm>
            <a:off x="2395728" y="2240280"/>
            <a:ext cx="1325880" cy="960120"/>
          </a:xfrm>
          <a:prstGeom prst="roundRect">
            <a:avLst>
              <a:gd name="adj" fmla="val 7619"/>
            </a:avLst>
          </a:prstGeom>
          <a:solidFill>
            <a:srgbClr val="FFF8F0"/>
          </a:solidFill>
          <a:ln w="8890">
            <a:solidFill>
              <a:srgbClr val="D8D2C4"/>
            </a:solidFill>
            <a:prstDash val="solid"/>
          </a:ln>
        </p:spPr>
      </p:sp>
      <p:sp>
        <p:nvSpPr>
          <p:cNvPr id="15" name="Text 13"/>
          <p:cNvSpPr/>
          <p:nvPr/>
        </p:nvSpPr>
        <p:spPr>
          <a:xfrm>
            <a:off x="2542032" y="2377440"/>
            <a:ext cx="1033272" cy="256032"/>
          </a:xfrm>
          <a:prstGeom prst="rect">
            <a:avLst/>
          </a:prstGeom>
          <a:noFill/>
          <a:ln/>
        </p:spPr>
        <p:txBody>
          <a:bodyPr wrap="square" lIns="508" tIns="508" rIns="508" bIns="508" rtlCol="0" anchor="t">
            <a:normAutofit/>
          </a:bodyPr>
          <a:lstStyle/>
          <a:p>
            <a:pPr indent="0" marL="0">
              <a:buNone/>
            </a:pPr>
            <a:r>
              <a:rPr lang="en-US" sz="1800" b="1" dirty="0">
                <a:solidFill>
                  <a:srgbClr val="1F6B4D"/>
                </a:solidFill>
                <a:latin typeface="Arial" pitchFamily="34" charset="0"/>
                <a:ea typeface="Arial" pitchFamily="34" charset="-122"/>
                <a:cs typeface="Arial" pitchFamily="34" charset="-120"/>
              </a:rPr>
              <a:t>32 C</a:t>
            </a:r>
            <a:endParaRPr lang="en-US" sz="1800" dirty="0"/>
          </a:p>
        </p:txBody>
      </p:sp>
      <p:sp>
        <p:nvSpPr>
          <p:cNvPr id="16" name="Text 14"/>
          <p:cNvSpPr/>
          <p:nvPr/>
        </p:nvSpPr>
        <p:spPr>
          <a:xfrm>
            <a:off x="2542032" y="2697480"/>
            <a:ext cx="1033272" cy="182880"/>
          </a:xfrm>
          <a:prstGeom prst="rect">
            <a:avLst/>
          </a:prstGeom>
          <a:noFill/>
          <a:ln/>
        </p:spPr>
        <p:txBody>
          <a:bodyPr wrap="square" lIns="508" tIns="508" rIns="508" bIns="508" rtlCol="0" anchor="t">
            <a:normAutofit/>
          </a:bodyPr>
          <a:lstStyle/>
          <a:p>
            <a:pPr indent="0" marL="0">
              <a:buNone/>
            </a:pPr>
            <a:r>
              <a:rPr lang="en-US" sz="950" b="1" dirty="0">
                <a:solidFill>
                  <a:srgbClr val="14211C"/>
                </a:solidFill>
                <a:latin typeface="Arial" pitchFamily="34" charset="0"/>
                <a:ea typeface="Arial" pitchFamily="34" charset="-122"/>
                <a:cs typeface="Arial" pitchFamily="34" charset="-120"/>
              </a:rPr>
              <a:t>temperature</a:t>
            </a:r>
            <a:endParaRPr lang="en-US" sz="950" dirty="0"/>
          </a:p>
        </p:txBody>
      </p:sp>
      <p:sp>
        <p:nvSpPr>
          <p:cNvPr id="17" name="Text 15"/>
          <p:cNvSpPr/>
          <p:nvPr/>
        </p:nvSpPr>
        <p:spPr>
          <a:xfrm>
            <a:off x="2542032" y="2926080"/>
            <a:ext cx="1033272" cy="201168"/>
          </a:xfrm>
          <a:prstGeom prst="rect">
            <a:avLst/>
          </a:prstGeom>
          <a:noFill/>
          <a:ln/>
        </p:spPr>
        <p:txBody>
          <a:bodyPr wrap="square" lIns="508" tIns="508" rIns="508" bIns="508" rtlCol="0" anchor="t">
            <a:normAutofit/>
          </a:bodyPr>
          <a:lstStyle/>
          <a:p>
            <a:pPr indent="0" marL="0">
              <a:buNone/>
            </a:pPr>
            <a:r>
              <a:rPr lang="en-US" sz="780" dirty="0">
                <a:solidFill>
                  <a:srgbClr val="5E6B63"/>
                </a:solidFill>
                <a:latin typeface="Arial" pitchFamily="34" charset="0"/>
                <a:ea typeface="Arial" pitchFamily="34" charset="-122"/>
                <a:cs typeface="Arial" pitchFamily="34" charset="-120"/>
              </a:rPr>
              <a:t>DHT11</a:t>
            </a:r>
            <a:endParaRPr lang="en-US" sz="780" dirty="0"/>
          </a:p>
        </p:txBody>
      </p:sp>
      <p:sp>
        <p:nvSpPr>
          <p:cNvPr id="18" name="Shape 16"/>
          <p:cNvSpPr/>
          <p:nvPr/>
        </p:nvSpPr>
        <p:spPr>
          <a:xfrm>
            <a:off x="3931920" y="2240280"/>
            <a:ext cx="1325880" cy="960120"/>
          </a:xfrm>
          <a:prstGeom prst="roundRect">
            <a:avLst>
              <a:gd name="adj" fmla="val 7619"/>
            </a:avLst>
          </a:prstGeom>
          <a:solidFill>
            <a:srgbClr val="F5F8FB"/>
          </a:solidFill>
          <a:ln w="8890">
            <a:solidFill>
              <a:srgbClr val="D8D2C4"/>
            </a:solidFill>
            <a:prstDash val="solid"/>
          </a:ln>
        </p:spPr>
      </p:sp>
      <p:sp>
        <p:nvSpPr>
          <p:cNvPr id="19" name="Text 17"/>
          <p:cNvSpPr/>
          <p:nvPr/>
        </p:nvSpPr>
        <p:spPr>
          <a:xfrm>
            <a:off x="4078224" y="2377440"/>
            <a:ext cx="1033272" cy="256032"/>
          </a:xfrm>
          <a:prstGeom prst="rect">
            <a:avLst/>
          </a:prstGeom>
          <a:noFill/>
          <a:ln/>
        </p:spPr>
        <p:txBody>
          <a:bodyPr wrap="square" lIns="508" tIns="508" rIns="508" bIns="508" rtlCol="0" anchor="t">
            <a:normAutofit/>
          </a:bodyPr>
          <a:lstStyle/>
          <a:p>
            <a:pPr indent="0" marL="0">
              <a:buNone/>
            </a:pPr>
            <a:r>
              <a:rPr lang="en-US" sz="1800" b="1" dirty="0">
                <a:solidFill>
                  <a:srgbClr val="1F6B4D"/>
                </a:solidFill>
                <a:latin typeface="Arial" pitchFamily="34" charset="0"/>
                <a:ea typeface="Arial" pitchFamily="34" charset="-122"/>
                <a:cs typeface="Arial" pitchFamily="34" charset="-120"/>
              </a:rPr>
              <a:t>55%</a:t>
            </a:r>
            <a:endParaRPr lang="en-US" sz="1800" dirty="0"/>
          </a:p>
        </p:txBody>
      </p:sp>
      <p:sp>
        <p:nvSpPr>
          <p:cNvPr id="20" name="Text 18"/>
          <p:cNvSpPr/>
          <p:nvPr/>
        </p:nvSpPr>
        <p:spPr>
          <a:xfrm>
            <a:off x="4078224" y="2697480"/>
            <a:ext cx="1033272" cy="182880"/>
          </a:xfrm>
          <a:prstGeom prst="rect">
            <a:avLst/>
          </a:prstGeom>
          <a:noFill/>
          <a:ln/>
        </p:spPr>
        <p:txBody>
          <a:bodyPr wrap="square" lIns="508" tIns="508" rIns="508" bIns="508" rtlCol="0" anchor="t">
            <a:normAutofit/>
          </a:bodyPr>
          <a:lstStyle/>
          <a:p>
            <a:pPr indent="0" marL="0">
              <a:buNone/>
            </a:pPr>
            <a:r>
              <a:rPr lang="en-US" sz="950" b="1" dirty="0">
                <a:solidFill>
                  <a:srgbClr val="14211C"/>
                </a:solidFill>
                <a:latin typeface="Arial" pitchFamily="34" charset="0"/>
                <a:ea typeface="Arial" pitchFamily="34" charset="-122"/>
                <a:cs typeface="Arial" pitchFamily="34" charset="-120"/>
              </a:rPr>
              <a:t>humidity</a:t>
            </a:r>
            <a:endParaRPr lang="en-US" sz="950" dirty="0"/>
          </a:p>
        </p:txBody>
      </p:sp>
      <p:sp>
        <p:nvSpPr>
          <p:cNvPr id="21" name="Text 19"/>
          <p:cNvSpPr/>
          <p:nvPr/>
        </p:nvSpPr>
        <p:spPr>
          <a:xfrm>
            <a:off x="4078224" y="2926080"/>
            <a:ext cx="1033272" cy="201168"/>
          </a:xfrm>
          <a:prstGeom prst="rect">
            <a:avLst/>
          </a:prstGeom>
          <a:noFill/>
          <a:ln/>
        </p:spPr>
        <p:txBody>
          <a:bodyPr wrap="square" lIns="508" tIns="508" rIns="508" bIns="508" rtlCol="0" anchor="t">
            <a:normAutofit/>
          </a:bodyPr>
          <a:lstStyle/>
          <a:p>
            <a:pPr indent="0" marL="0">
              <a:buNone/>
            </a:pPr>
            <a:r>
              <a:rPr lang="en-US" sz="780" dirty="0">
                <a:solidFill>
                  <a:srgbClr val="5E6B63"/>
                </a:solidFill>
                <a:latin typeface="Arial" pitchFamily="34" charset="0"/>
                <a:ea typeface="Arial" pitchFamily="34" charset="-122"/>
                <a:cs typeface="Arial" pitchFamily="34" charset="-120"/>
              </a:rPr>
              <a:t>DHT11</a:t>
            </a:r>
            <a:endParaRPr lang="en-US" sz="780" dirty="0"/>
          </a:p>
        </p:txBody>
      </p:sp>
      <p:sp>
        <p:nvSpPr>
          <p:cNvPr id="22" name="Shape 20"/>
          <p:cNvSpPr/>
          <p:nvPr/>
        </p:nvSpPr>
        <p:spPr>
          <a:xfrm>
            <a:off x="5468112" y="2240280"/>
            <a:ext cx="1207008" cy="960120"/>
          </a:xfrm>
          <a:prstGeom prst="roundRect">
            <a:avLst>
              <a:gd name="adj" fmla="val 7619"/>
            </a:avLst>
          </a:prstGeom>
          <a:solidFill>
            <a:srgbClr val="FBFAF6"/>
          </a:solidFill>
          <a:ln w="8890">
            <a:solidFill>
              <a:srgbClr val="D8D2C4"/>
            </a:solidFill>
            <a:prstDash val="solid"/>
          </a:ln>
        </p:spPr>
      </p:sp>
      <p:sp>
        <p:nvSpPr>
          <p:cNvPr id="23" name="Text 21"/>
          <p:cNvSpPr/>
          <p:nvPr/>
        </p:nvSpPr>
        <p:spPr>
          <a:xfrm>
            <a:off x="5614416" y="2377440"/>
            <a:ext cx="914400" cy="256032"/>
          </a:xfrm>
          <a:prstGeom prst="rect">
            <a:avLst/>
          </a:prstGeom>
          <a:noFill/>
          <a:ln/>
        </p:spPr>
        <p:txBody>
          <a:bodyPr wrap="square" lIns="508" tIns="508" rIns="508" bIns="508" rtlCol="0" anchor="t">
            <a:normAutofit/>
          </a:bodyPr>
          <a:lstStyle/>
          <a:p>
            <a:pPr indent="0" marL="0">
              <a:buNone/>
            </a:pPr>
            <a:r>
              <a:rPr lang="en-US" sz="1800" b="1" dirty="0">
                <a:solidFill>
                  <a:srgbClr val="1F6B4D"/>
                </a:solidFill>
                <a:latin typeface="Arial" pitchFamily="34" charset="0"/>
                <a:ea typeface="Arial" pitchFamily="34" charset="-122"/>
                <a:cs typeface="Arial" pitchFamily="34" charset="-120"/>
              </a:rPr>
              <a:t>OFF</a:t>
            </a:r>
            <a:endParaRPr lang="en-US" sz="1800" dirty="0"/>
          </a:p>
        </p:txBody>
      </p:sp>
      <p:sp>
        <p:nvSpPr>
          <p:cNvPr id="24" name="Text 22"/>
          <p:cNvSpPr/>
          <p:nvPr/>
        </p:nvSpPr>
        <p:spPr>
          <a:xfrm>
            <a:off x="5614416" y="2697480"/>
            <a:ext cx="914400" cy="182880"/>
          </a:xfrm>
          <a:prstGeom prst="rect">
            <a:avLst/>
          </a:prstGeom>
          <a:noFill/>
          <a:ln/>
        </p:spPr>
        <p:txBody>
          <a:bodyPr wrap="square" lIns="508" tIns="508" rIns="508" bIns="508" rtlCol="0" anchor="t">
            <a:normAutofit/>
          </a:bodyPr>
          <a:lstStyle/>
          <a:p>
            <a:pPr indent="0" marL="0">
              <a:buNone/>
            </a:pPr>
            <a:r>
              <a:rPr lang="en-US" sz="950" b="1" dirty="0">
                <a:solidFill>
                  <a:srgbClr val="14211C"/>
                </a:solidFill>
                <a:latin typeface="Arial" pitchFamily="34" charset="0"/>
                <a:ea typeface="Arial" pitchFamily="34" charset="-122"/>
                <a:cs typeface="Arial" pitchFamily="34" charset="-120"/>
              </a:rPr>
              <a:t>pump</a:t>
            </a:r>
            <a:endParaRPr lang="en-US" sz="950" dirty="0"/>
          </a:p>
        </p:txBody>
      </p:sp>
      <p:sp>
        <p:nvSpPr>
          <p:cNvPr id="25" name="Text 23"/>
          <p:cNvSpPr/>
          <p:nvPr/>
        </p:nvSpPr>
        <p:spPr>
          <a:xfrm>
            <a:off x="5614416" y="2926080"/>
            <a:ext cx="914400" cy="201168"/>
          </a:xfrm>
          <a:prstGeom prst="rect">
            <a:avLst/>
          </a:prstGeom>
          <a:noFill/>
          <a:ln/>
        </p:spPr>
        <p:txBody>
          <a:bodyPr wrap="square" lIns="508" tIns="508" rIns="508" bIns="508" rtlCol="0" anchor="t">
            <a:normAutofit/>
          </a:bodyPr>
          <a:lstStyle/>
          <a:p>
            <a:pPr indent="0" marL="0">
              <a:buNone/>
            </a:pPr>
            <a:r>
              <a:rPr lang="en-US" sz="780" dirty="0">
                <a:solidFill>
                  <a:srgbClr val="5E6B63"/>
                </a:solidFill>
                <a:latin typeface="Arial" pitchFamily="34" charset="0"/>
                <a:ea typeface="Arial" pitchFamily="34" charset="-122"/>
                <a:cs typeface="Arial" pitchFamily="34" charset="-120"/>
              </a:rPr>
              <a:t>safe state</a:t>
            </a:r>
            <a:endParaRPr lang="en-US" sz="780" dirty="0"/>
          </a:p>
        </p:txBody>
      </p:sp>
      <p:sp>
        <p:nvSpPr>
          <p:cNvPr id="26" name="Shape 24"/>
          <p:cNvSpPr/>
          <p:nvPr/>
        </p:nvSpPr>
        <p:spPr>
          <a:xfrm>
            <a:off x="960120" y="4910328"/>
            <a:ext cx="5394960" cy="0"/>
          </a:xfrm>
          <a:prstGeom prst="line">
            <a:avLst/>
          </a:prstGeom>
          <a:noFill/>
          <a:ln w="6350">
            <a:solidFill>
              <a:srgbClr val="D8D2C4"/>
            </a:solidFill>
            <a:prstDash val="solid"/>
          </a:ln>
        </p:spPr>
      </p:sp>
      <p:sp>
        <p:nvSpPr>
          <p:cNvPr id="27" name="Shape 25"/>
          <p:cNvSpPr/>
          <p:nvPr/>
        </p:nvSpPr>
        <p:spPr>
          <a:xfrm>
            <a:off x="960120" y="4386626"/>
            <a:ext cx="1239012" cy="523702"/>
          </a:xfrm>
          <a:prstGeom prst="roundRect">
            <a:avLst>
              <a:gd name="adj" fmla="val 13968"/>
            </a:avLst>
          </a:prstGeom>
          <a:solidFill>
            <a:srgbClr val="1F6B4D"/>
          </a:solidFill>
          <a:ln w="8890">
            <a:solidFill>
              <a:srgbClr val="1F6B4D"/>
            </a:solidFill>
            <a:prstDash val="solid"/>
          </a:ln>
        </p:spPr>
      </p:sp>
      <p:sp>
        <p:nvSpPr>
          <p:cNvPr id="28" name="Text 26"/>
          <p:cNvSpPr/>
          <p:nvPr/>
        </p:nvSpPr>
        <p:spPr>
          <a:xfrm>
            <a:off x="960120" y="4139738"/>
            <a:ext cx="1239012" cy="164592"/>
          </a:xfrm>
          <a:prstGeom prst="rect">
            <a:avLst/>
          </a:prstGeom>
          <a:noFill/>
          <a:ln/>
        </p:spPr>
        <p:txBody>
          <a:bodyPr wrap="square" lIns="508" tIns="508" rIns="508" bIns="508" rtlCol="0" anchor="t">
            <a:normAutofit/>
          </a:bodyPr>
          <a:lstStyle/>
          <a:p>
            <a:pPr indent="0" marL="0">
              <a:buNone/>
            </a:pPr>
            <a:r>
              <a:rPr lang="en-US" sz="700" b="1" dirty="0">
                <a:solidFill>
                  <a:srgbClr val="14211C"/>
                </a:solidFill>
                <a:latin typeface="Arial" pitchFamily="34" charset="0"/>
                <a:ea typeface="Arial" pitchFamily="34" charset="-122"/>
                <a:cs typeface="Arial" pitchFamily="34" charset="-120"/>
              </a:rPr>
              <a:t>45%</a:t>
            </a:r>
            <a:endParaRPr lang="en-US" sz="700" dirty="0"/>
          </a:p>
        </p:txBody>
      </p:sp>
      <p:sp>
        <p:nvSpPr>
          <p:cNvPr id="29" name="Text 27"/>
          <p:cNvSpPr/>
          <p:nvPr/>
        </p:nvSpPr>
        <p:spPr>
          <a:xfrm>
            <a:off x="941832" y="4983480"/>
            <a:ext cx="1275588" cy="228600"/>
          </a:xfrm>
          <a:prstGeom prst="rect">
            <a:avLst/>
          </a:prstGeom>
          <a:noFill/>
          <a:ln/>
        </p:spPr>
        <p:txBody>
          <a:bodyPr wrap="square" lIns="508" tIns="508" rIns="508" bIns="508" rtlCol="0" anchor="t">
            <a:normAutofit/>
          </a:bodyPr>
          <a:lstStyle/>
          <a:p>
            <a:pPr indent="0" marL="0">
              <a:buNone/>
            </a:pPr>
            <a:r>
              <a:rPr lang="en-US" sz="650" dirty="0">
                <a:solidFill>
                  <a:srgbClr val="5E6B63"/>
                </a:solidFill>
                <a:latin typeface="Arial" pitchFamily="34" charset="0"/>
                <a:ea typeface="Arial" pitchFamily="34" charset="-122"/>
                <a:cs typeface="Arial" pitchFamily="34" charset="-120"/>
              </a:rPr>
              <a:t>soil</a:t>
            </a:r>
            <a:endParaRPr lang="en-US" sz="650" dirty="0"/>
          </a:p>
        </p:txBody>
      </p:sp>
      <p:sp>
        <p:nvSpPr>
          <p:cNvPr id="30" name="Shape 28"/>
          <p:cNvSpPr/>
          <p:nvPr/>
        </p:nvSpPr>
        <p:spPr>
          <a:xfrm>
            <a:off x="2345436" y="4537918"/>
            <a:ext cx="1239012" cy="372410"/>
          </a:xfrm>
          <a:prstGeom prst="roundRect">
            <a:avLst>
              <a:gd name="adj" fmla="val 19643"/>
            </a:avLst>
          </a:prstGeom>
          <a:solidFill>
            <a:srgbClr val="E6A33D"/>
          </a:solidFill>
          <a:ln w="8890">
            <a:solidFill>
              <a:srgbClr val="E6A33D"/>
            </a:solidFill>
            <a:prstDash val="solid"/>
          </a:ln>
        </p:spPr>
      </p:sp>
      <p:sp>
        <p:nvSpPr>
          <p:cNvPr id="31" name="Text 29"/>
          <p:cNvSpPr/>
          <p:nvPr/>
        </p:nvSpPr>
        <p:spPr>
          <a:xfrm>
            <a:off x="2345436" y="4291030"/>
            <a:ext cx="1239012" cy="164592"/>
          </a:xfrm>
          <a:prstGeom prst="rect">
            <a:avLst/>
          </a:prstGeom>
          <a:noFill/>
          <a:ln/>
        </p:spPr>
        <p:txBody>
          <a:bodyPr wrap="square" lIns="508" tIns="508" rIns="508" bIns="508" rtlCol="0" anchor="t">
            <a:normAutofit/>
          </a:bodyPr>
          <a:lstStyle/>
          <a:p>
            <a:pPr indent="0" marL="0">
              <a:buNone/>
            </a:pPr>
            <a:r>
              <a:rPr lang="en-US" sz="700" b="1" dirty="0">
                <a:solidFill>
                  <a:srgbClr val="14211C"/>
                </a:solidFill>
                <a:latin typeface="Arial" pitchFamily="34" charset="0"/>
                <a:ea typeface="Arial" pitchFamily="34" charset="-122"/>
                <a:cs typeface="Arial" pitchFamily="34" charset="-120"/>
              </a:rPr>
              <a:t>32 C</a:t>
            </a:r>
            <a:endParaRPr lang="en-US" sz="700" dirty="0"/>
          </a:p>
        </p:txBody>
      </p:sp>
      <p:sp>
        <p:nvSpPr>
          <p:cNvPr id="32" name="Text 30"/>
          <p:cNvSpPr/>
          <p:nvPr/>
        </p:nvSpPr>
        <p:spPr>
          <a:xfrm>
            <a:off x="2327148" y="4983480"/>
            <a:ext cx="1275588" cy="228600"/>
          </a:xfrm>
          <a:prstGeom prst="rect">
            <a:avLst/>
          </a:prstGeom>
          <a:noFill/>
          <a:ln/>
        </p:spPr>
        <p:txBody>
          <a:bodyPr wrap="square" lIns="508" tIns="508" rIns="508" bIns="508" rtlCol="0" anchor="t">
            <a:normAutofit/>
          </a:bodyPr>
          <a:lstStyle/>
          <a:p>
            <a:pPr indent="0" marL="0">
              <a:buNone/>
            </a:pPr>
            <a:r>
              <a:rPr lang="en-US" sz="650" dirty="0">
                <a:solidFill>
                  <a:srgbClr val="5E6B63"/>
                </a:solidFill>
                <a:latin typeface="Arial" pitchFamily="34" charset="0"/>
                <a:ea typeface="Arial" pitchFamily="34" charset="-122"/>
                <a:cs typeface="Arial" pitchFamily="34" charset="-120"/>
              </a:rPr>
              <a:t>temp</a:t>
            </a:r>
            <a:endParaRPr lang="en-US" sz="650" dirty="0"/>
          </a:p>
        </p:txBody>
      </p:sp>
      <p:sp>
        <p:nvSpPr>
          <p:cNvPr id="33" name="Shape 31"/>
          <p:cNvSpPr/>
          <p:nvPr/>
        </p:nvSpPr>
        <p:spPr>
          <a:xfrm>
            <a:off x="3730752" y="4270248"/>
            <a:ext cx="1239012" cy="640080"/>
          </a:xfrm>
          <a:prstGeom prst="roundRect">
            <a:avLst>
              <a:gd name="adj" fmla="val 11429"/>
            </a:avLst>
          </a:prstGeom>
          <a:solidFill>
            <a:srgbClr val="256A7B"/>
          </a:solidFill>
          <a:ln w="8890">
            <a:solidFill>
              <a:srgbClr val="256A7B"/>
            </a:solidFill>
            <a:prstDash val="solid"/>
          </a:ln>
        </p:spPr>
      </p:sp>
      <p:sp>
        <p:nvSpPr>
          <p:cNvPr id="34" name="Text 32"/>
          <p:cNvSpPr/>
          <p:nvPr/>
        </p:nvSpPr>
        <p:spPr>
          <a:xfrm>
            <a:off x="3730752" y="4023360"/>
            <a:ext cx="1239012" cy="164592"/>
          </a:xfrm>
          <a:prstGeom prst="rect">
            <a:avLst/>
          </a:prstGeom>
          <a:noFill/>
          <a:ln/>
        </p:spPr>
        <p:txBody>
          <a:bodyPr wrap="square" lIns="508" tIns="508" rIns="508" bIns="508" rtlCol="0" anchor="t">
            <a:normAutofit/>
          </a:bodyPr>
          <a:lstStyle/>
          <a:p>
            <a:pPr indent="0" marL="0">
              <a:buNone/>
            </a:pPr>
            <a:r>
              <a:rPr lang="en-US" sz="700" b="1" dirty="0">
                <a:solidFill>
                  <a:srgbClr val="14211C"/>
                </a:solidFill>
                <a:latin typeface="Arial" pitchFamily="34" charset="0"/>
                <a:ea typeface="Arial" pitchFamily="34" charset="-122"/>
                <a:cs typeface="Arial" pitchFamily="34" charset="-120"/>
              </a:rPr>
              <a:t>55%</a:t>
            </a:r>
            <a:endParaRPr lang="en-US" sz="700" dirty="0"/>
          </a:p>
        </p:txBody>
      </p:sp>
      <p:sp>
        <p:nvSpPr>
          <p:cNvPr id="35" name="Text 33"/>
          <p:cNvSpPr/>
          <p:nvPr/>
        </p:nvSpPr>
        <p:spPr>
          <a:xfrm>
            <a:off x="3712464" y="4983480"/>
            <a:ext cx="1275588" cy="228600"/>
          </a:xfrm>
          <a:prstGeom prst="rect">
            <a:avLst/>
          </a:prstGeom>
          <a:noFill/>
          <a:ln/>
        </p:spPr>
        <p:txBody>
          <a:bodyPr wrap="square" lIns="508" tIns="508" rIns="508" bIns="508" rtlCol="0" anchor="t">
            <a:normAutofit/>
          </a:bodyPr>
          <a:lstStyle/>
          <a:p>
            <a:pPr indent="0" marL="0">
              <a:buNone/>
            </a:pPr>
            <a:r>
              <a:rPr lang="en-US" sz="650" dirty="0">
                <a:solidFill>
                  <a:srgbClr val="5E6B63"/>
                </a:solidFill>
                <a:latin typeface="Arial" pitchFamily="34" charset="0"/>
                <a:ea typeface="Arial" pitchFamily="34" charset="-122"/>
                <a:cs typeface="Arial" pitchFamily="34" charset="-120"/>
              </a:rPr>
              <a:t>humidity</a:t>
            </a:r>
            <a:endParaRPr lang="en-US" sz="650" dirty="0"/>
          </a:p>
        </p:txBody>
      </p:sp>
      <p:sp>
        <p:nvSpPr>
          <p:cNvPr id="36" name="Shape 34"/>
          <p:cNvSpPr/>
          <p:nvPr/>
        </p:nvSpPr>
        <p:spPr>
          <a:xfrm>
            <a:off x="5116068" y="4817225"/>
            <a:ext cx="1239012" cy="93103"/>
          </a:xfrm>
          <a:prstGeom prst="roundRect">
            <a:avLst>
              <a:gd name="adj" fmla="val 78571"/>
            </a:avLst>
          </a:prstGeom>
          <a:solidFill>
            <a:srgbClr val="2D4F73"/>
          </a:solidFill>
          <a:ln w="8890">
            <a:solidFill>
              <a:srgbClr val="2D4F73"/>
            </a:solidFill>
            <a:prstDash val="solid"/>
          </a:ln>
        </p:spPr>
      </p:sp>
      <p:sp>
        <p:nvSpPr>
          <p:cNvPr id="37" name="Text 35"/>
          <p:cNvSpPr/>
          <p:nvPr/>
        </p:nvSpPr>
        <p:spPr>
          <a:xfrm>
            <a:off x="5116068" y="4570337"/>
            <a:ext cx="1239012" cy="164592"/>
          </a:xfrm>
          <a:prstGeom prst="rect">
            <a:avLst/>
          </a:prstGeom>
          <a:noFill/>
          <a:ln/>
        </p:spPr>
        <p:txBody>
          <a:bodyPr wrap="square" lIns="508" tIns="508" rIns="508" bIns="508" rtlCol="0" anchor="t">
            <a:normAutofit/>
          </a:bodyPr>
          <a:lstStyle/>
          <a:p>
            <a:pPr indent="0" marL="0">
              <a:buNone/>
            </a:pPr>
            <a:r>
              <a:rPr lang="en-US" sz="700" b="1" dirty="0">
                <a:solidFill>
                  <a:srgbClr val="14211C"/>
                </a:solidFill>
                <a:latin typeface="Arial" pitchFamily="34" charset="0"/>
                <a:ea typeface="Arial" pitchFamily="34" charset="-122"/>
                <a:cs typeface="Arial" pitchFamily="34" charset="-120"/>
              </a:rPr>
              <a:t>rate</a:t>
            </a:r>
            <a:endParaRPr lang="en-US" sz="700" dirty="0"/>
          </a:p>
        </p:txBody>
      </p:sp>
      <p:sp>
        <p:nvSpPr>
          <p:cNvPr id="38" name="Text 36"/>
          <p:cNvSpPr/>
          <p:nvPr/>
        </p:nvSpPr>
        <p:spPr>
          <a:xfrm>
            <a:off x="5097780" y="4983480"/>
            <a:ext cx="1275588" cy="228600"/>
          </a:xfrm>
          <a:prstGeom prst="rect">
            <a:avLst/>
          </a:prstGeom>
          <a:noFill/>
          <a:ln/>
        </p:spPr>
        <p:txBody>
          <a:bodyPr wrap="square" lIns="508" tIns="508" rIns="508" bIns="508" rtlCol="0" anchor="t">
            <a:normAutofit/>
          </a:bodyPr>
          <a:lstStyle/>
          <a:p>
            <a:pPr indent="0" marL="0">
              <a:buNone/>
            </a:pPr>
            <a:r>
              <a:rPr lang="en-US" sz="650" dirty="0">
                <a:solidFill>
                  <a:srgbClr val="5E6B63"/>
                </a:solidFill>
                <a:latin typeface="Arial" pitchFamily="34" charset="0"/>
                <a:ea typeface="Arial" pitchFamily="34" charset="-122"/>
                <a:cs typeface="Arial" pitchFamily="34" charset="-120"/>
              </a:rPr>
              <a:t>trend</a:t>
            </a:r>
            <a:endParaRPr lang="en-US" sz="650" dirty="0"/>
          </a:p>
        </p:txBody>
      </p:sp>
      <p:sp>
        <p:nvSpPr>
          <p:cNvPr id="39" name="Text 37"/>
          <p:cNvSpPr/>
          <p:nvPr/>
        </p:nvSpPr>
        <p:spPr>
          <a:xfrm>
            <a:off x="868680" y="5230368"/>
            <a:ext cx="5394960" cy="201168"/>
          </a:xfrm>
          <a:prstGeom prst="rect">
            <a:avLst/>
          </a:prstGeom>
          <a:noFill/>
          <a:ln/>
        </p:spPr>
        <p:txBody>
          <a:bodyPr wrap="square" lIns="508" tIns="508" rIns="508" bIns="508" rtlCol="0" anchor="t">
            <a:normAutofit/>
          </a:bodyPr>
          <a:lstStyle/>
          <a:p>
            <a:pPr indent="0" marL="0">
              <a:buNone/>
            </a:pPr>
            <a:r>
              <a:rPr lang="en-US" sz="750" dirty="0">
                <a:solidFill>
                  <a:srgbClr val="5E6B63"/>
                </a:solidFill>
                <a:latin typeface="Arial" pitchFamily="34" charset="0"/>
                <a:ea typeface="Arial" pitchFamily="34" charset="-122"/>
                <a:cs typeface="Arial" pitchFamily="34" charset="-120"/>
              </a:rPr>
              <a:t>Charts are separated by unit: soil %, temperature C, humidity %, and moisture change rate.</a:t>
            </a:r>
            <a:endParaRPr lang="en-US" sz="750" dirty="0"/>
          </a:p>
        </p:txBody>
      </p:sp>
      <p:sp>
        <p:nvSpPr>
          <p:cNvPr id="40" name="Shape 38"/>
          <p:cNvSpPr/>
          <p:nvPr/>
        </p:nvSpPr>
        <p:spPr>
          <a:xfrm>
            <a:off x="7818120" y="1828800"/>
            <a:ext cx="2926080" cy="868680"/>
          </a:xfrm>
          <a:prstGeom prst="roundRect">
            <a:avLst>
              <a:gd name="adj" fmla="val 8421"/>
            </a:avLst>
          </a:prstGeom>
          <a:solidFill>
            <a:srgbClr val="FFF8F0"/>
          </a:solidFill>
          <a:ln w="8890">
            <a:solidFill>
              <a:srgbClr val="D8D2C4"/>
            </a:solidFill>
            <a:prstDash val="solid"/>
          </a:ln>
        </p:spPr>
      </p:sp>
      <p:sp>
        <p:nvSpPr>
          <p:cNvPr id="41" name="Shape 39"/>
          <p:cNvSpPr/>
          <p:nvPr/>
        </p:nvSpPr>
        <p:spPr>
          <a:xfrm>
            <a:off x="7818120" y="1828800"/>
            <a:ext cx="64008" cy="868680"/>
          </a:xfrm>
          <a:prstGeom prst="rect">
            <a:avLst/>
          </a:prstGeom>
          <a:solidFill>
            <a:srgbClr val="E6A33D"/>
          </a:solidFill>
          <a:ln w="12700">
            <a:solidFill>
              <a:srgbClr val="E6A33D"/>
            </a:solidFill>
            <a:prstDash val="solid"/>
          </a:ln>
        </p:spPr>
      </p:sp>
      <p:sp>
        <p:nvSpPr>
          <p:cNvPr id="42" name="Text 40"/>
          <p:cNvSpPr/>
          <p:nvPr/>
        </p:nvSpPr>
        <p:spPr>
          <a:xfrm>
            <a:off x="7964424" y="1956816"/>
            <a:ext cx="2670048" cy="201168"/>
          </a:xfrm>
          <a:prstGeom prst="rect">
            <a:avLst/>
          </a:prstGeom>
          <a:noFill/>
          <a:ln/>
        </p:spPr>
        <p:txBody>
          <a:bodyPr wrap="square" lIns="508" tIns="508" rIns="508" bIns="508" rtlCol="0" anchor="t">
            <a:normAutofit/>
          </a:bodyPr>
          <a:lstStyle/>
          <a:p>
            <a:pPr indent="0" marL="0">
              <a:buNone/>
            </a:pPr>
            <a:r>
              <a:rPr lang="en-US" sz="950" b="1" dirty="0">
                <a:solidFill>
                  <a:srgbClr val="14211C"/>
                </a:solidFill>
                <a:latin typeface="Arial" pitchFamily="34" charset="0"/>
                <a:ea typeface="Arial" pitchFamily="34" charset="-122"/>
                <a:cs typeface="Arial" pitchFamily="34" charset="-120"/>
              </a:rPr>
              <a:t>Telegram</a:t>
            </a:r>
            <a:endParaRPr lang="en-US" sz="950" dirty="0"/>
          </a:p>
        </p:txBody>
      </p:sp>
      <p:sp>
        <p:nvSpPr>
          <p:cNvPr id="43" name="Text 41"/>
          <p:cNvSpPr/>
          <p:nvPr/>
        </p:nvSpPr>
        <p:spPr>
          <a:xfrm>
            <a:off x="7964424" y="2221992"/>
            <a:ext cx="2670048" cy="411480"/>
          </a:xfrm>
          <a:prstGeom prst="rect">
            <a:avLst/>
          </a:prstGeom>
          <a:noFill/>
          <a:ln/>
        </p:spPr>
        <p:txBody>
          <a:bodyPr wrap="square" lIns="508" tIns="508" rIns="508" bIns="508" rtlCol="0" anchor="t">
            <a:normAutofit/>
          </a:bodyPr>
          <a:lstStyle/>
          <a:p>
            <a:pPr indent="0" marL="0">
              <a:buNone/>
            </a:pPr>
            <a:r>
              <a:rPr lang="en-US" sz="750" dirty="0">
                <a:solidFill>
                  <a:srgbClr val="5E6B63"/>
                </a:solidFill>
                <a:latin typeface="Arial" pitchFamily="34" charset="0"/>
                <a:ea typeface="Arial" pitchFamily="34" charset="-122"/>
                <a:cs typeface="Arial" pitchFamily="34" charset="-120"/>
              </a:rPr>
              <a:t>Sends risk alerts to personal or group chat with cooldown.</a:t>
            </a:r>
            <a:endParaRPr lang="en-US" sz="750" dirty="0"/>
          </a:p>
        </p:txBody>
      </p:sp>
      <p:sp>
        <p:nvSpPr>
          <p:cNvPr id="44" name="Shape 42"/>
          <p:cNvSpPr/>
          <p:nvPr/>
        </p:nvSpPr>
        <p:spPr>
          <a:xfrm>
            <a:off x="7818120" y="2971800"/>
            <a:ext cx="2926080" cy="987552"/>
          </a:xfrm>
          <a:prstGeom prst="roundRect">
            <a:avLst>
              <a:gd name="adj" fmla="val 7407"/>
            </a:avLst>
          </a:prstGeom>
          <a:solidFill>
            <a:srgbClr val="F5F8FB"/>
          </a:solidFill>
          <a:ln w="8890">
            <a:solidFill>
              <a:srgbClr val="D8D2C4"/>
            </a:solidFill>
            <a:prstDash val="solid"/>
          </a:ln>
        </p:spPr>
      </p:sp>
      <p:sp>
        <p:nvSpPr>
          <p:cNvPr id="45" name="Shape 43"/>
          <p:cNvSpPr/>
          <p:nvPr/>
        </p:nvSpPr>
        <p:spPr>
          <a:xfrm>
            <a:off x="7818120" y="2971800"/>
            <a:ext cx="64008" cy="987552"/>
          </a:xfrm>
          <a:prstGeom prst="rect">
            <a:avLst/>
          </a:prstGeom>
          <a:solidFill>
            <a:srgbClr val="2D4F73"/>
          </a:solidFill>
          <a:ln w="12700">
            <a:solidFill>
              <a:srgbClr val="2D4F73"/>
            </a:solidFill>
            <a:prstDash val="solid"/>
          </a:ln>
        </p:spPr>
      </p:sp>
      <p:sp>
        <p:nvSpPr>
          <p:cNvPr id="46" name="Text 44"/>
          <p:cNvSpPr/>
          <p:nvPr/>
        </p:nvSpPr>
        <p:spPr>
          <a:xfrm>
            <a:off x="7964424" y="3099816"/>
            <a:ext cx="2670048" cy="201168"/>
          </a:xfrm>
          <a:prstGeom prst="rect">
            <a:avLst/>
          </a:prstGeom>
          <a:noFill/>
          <a:ln/>
        </p:spPr>
        <p:txBody>
          <a:bodyPr wrap="square" lIns="508" tIns="508" rIns="508" bIns="508" rtlCol="0" anchor="t">
            <a:normAutofit/>
          </a:bodyPr>
          <a:lstStyle/>
          <a:p>
            <a:pPr indent="0" marL="0">
              <a:buNone/>
            </a:pPr>
            <a:r>
              <a:rPr lang="en-US" sz="950" b="1" dirty="0">
                <a:solidFill>
                  <a:srgbClr val="14211C"/>
                </a:solidFill>
                <a:latin typeface="Arial" pitchFamily="34" charset="0"/>
                <a:ea typeface="Arial" pitchFamily="34" charset="-122"/>
                <a:cs typeface="Arial" pitchFamily="34" charset="-120"/>
              </a:rPr>
              <a:t>Favoriot</a:t>
            </a:r>
            <a:endParaRPr lang="en-US" sz="950" dirty="0"/>
          </a:p>
        </p:txBody>
      </p:sp>
      <p:sp>
        <p:nvSpPr>
          <p:cNvPr id="47" name="Text 45"/>
          <p:cNvSpPr/>
          <p:nvPr/>
        </p:nvSpPr>
        <p:spPr>
          <a:xfrm>
            <a:off x="7964424" y="3364992"/>
            <a:ext cx="2670048" cy="530352"/>
          </a:xfrm>
          <a:prstGeom prst="rect">
            <a:avLst/>
          </a:prstGeom>
          <a:noFill/>
          <a:ln/>
        </p:spPr>
        <p:txBody>
          <a:bodyPr wrap="square" lIns="508" tIns="508" rIns="508" bIns="508" rtlCol="0" anchor="t">
            <a:normAutofit/>
          </a:bodyPr>
          <a:lstStyle/>
          <a:p>
            <a:pPr indent="0" marL="0">
              <a:buNone/>
            </a:pPr>
            <a:r>
              <a:rPr lang="en-US" sz="750" dirty="0">
                <a:solidFill>
                  <a:srgbClr val="5E6B63"/>
                </a:solidFill>
                <a:latin typeface="Arial" pitchFamily="34" charset="0"/>
                <a:ea typeface="Arial" pitchFamily="34" charset="-122"/>
                <a:cs typeface="Arial" pitchFamily="34" charset="-120"/>
              </a:rPr>
              <a:t>REST payload includes temp, humidity, soil, pump, ML, notification status.</a:t>
            </a:r>
            <a:endParaRPr lang="en-US" sz="750" dirty="0"/>
          </a:p>
        </p:txBody>
      </p:sp>
      <p:sp>
        <p:nvSpPr>
          <p:cNvPr id="48" name="Shape 46"/>
          <p:cNvSpPr/>
          <p:nvPr/>
        </p:nvSpPr>
        <p:spPr>
          <a:xfrm>
            <a:off x="7818120" y="4279392"/>
            <a:ext cx="2926080" cy="868680"/>
          </a:xfrm>
          <a:prstGeom prst="roundRect">
            <a:avLst>
              <a:gd name="adj" fmla="val 8421"/>
            </a:avLst>
          </a:prstGeom>
          <a:solidFill>
            <a:srgbClr val="F5FBF6"/>
          </a:solidFill>
          <a:ln w="8890">
            <a:solidFill>
              <a:srgbClr val="D8D2C4"/>
            </a:solidFill>
            <a:prstDash val="solid"/>
          </a:ln>
        </p:spPr>
      </p:sp>
      <p:sp>
        <p:nvSpPr>
          <p:cNvPr id="49" name="Shape 47"/>
          <p:cNvSpPr/>
          <p:nvPr/>
        </p:nvSpPr>
        <p:spPr>
          <a:xfrm>
            <a:off x="7818120" y="4279392"/>
            <a:ext cx="64008" cy="868680"/>
          </a:xfrm>
          <a:prstGeom prst="rect">
            <a:avLst/>
          </a:prstGeom>
          <a:solidFill>
            <a:srgbClr val="1F6B4D"/>
          </a:solidFill>
          <a:ln w="12700">
            <a:solidFill>
              <a:srgbClr val="1F6B4D"/>
            </a:solidFill>
            <a:prstDash val="solid"/>
          </a:ln>
        </p:spPr>
      </p:sp>
      <p:sp>
        <p:nvSpPr>
          <p:cNvPr id="50" name="Text 48"/>
          <p:cNvSpPr/>
          <p:nvPr/>
        </p:nvSpPr>
        <p:spPr>
          <a:xfrm>
            <a:off x="7964424" y="4407408"/>
            <a:ext cx="2670048" cy="201168"/>
          </a:xfrm>
          <a:prstGeom prst="rect">
            <a:avLst/>
          </a:prstGeom>
          <a:noFill/>
          <a:ln/>
        </p:spPr>
        <p:txBody>
          <a:bodyPr wrap="square" lIns="508" tIns="508" rIns="508" bIns="508" rtlCol="0" anchor="t">
            <a:normAutofit/>
          </a:bodyPr>
          <a:lstStyle/>
          <a:p>
            <a:pPr indent="0" marL="0">
              <a:buNone/>
            </a:pPr>
            <a:r>
              <a:rPr lang="en-US" sz="950" b="1" dirty="0">
                <a:solidFill>
                  <a:srgbClr val="14211C"/>
                </a:solidFill>
                <a:latin typeface="Arial" pitchFamily="34" charset="0"/>
                <a:ea typeface="Arial" pitchFamily="34" charset="-122"/>
                <a:cs typeface="Arial" pitchFamily="34" charset="-120"/>
              </a:rPr>
              <a:t>OLED</a:t>
            </a:r>
            <a:endParaRPr lang="en-US" sz="950" dirty="0"/>
          </a:p>
        </p:txBody>
      </p:sp>
      <p:sp>
        <p:nvSpPr>
          <p:cNvPr id="51" name="Text 49"/>
          <p:cNvSpPr/>
          <p:nvPr/>
        </p:nvSpPr>
        <p:spPr>
          <a:xfrm>
            <a:off x="7964424" y="4672584"/>
            <a:ext cx="2670048" cy="411480"/>
          </a:xfrm>
          <a:prstGeom prst="rect">
            <a:avLst/>
          </a:prstGeom>
          <a:noFill/>
          <a:ln/>
        </p:spPr>
        <p:txBody>
          <a:bodyPr wrap="square" lIns="508" tIns="508" rIns="508" bIns="508" rtlCol="0" anchor="t">
            <a:normAutofit/>
          </a:bodyPr>
          <a:lstStyle/>
          <a:p>
            <a:pPr indent="0" marL="0">
              <a:buNone/>
            </a:pPr>
            <a:r>
              <a:rPr lang="en-US" sz="750" dirty="0">
                <a:solidFill>
                  <a:srgbClr val="5E6B63"/>
                </a:solidFill>
                <a:latin typeface="Arial" pitchFamily="34" charset="0"/>
                <a:ea typeface="Arial" pitchFamily="34" charset="-122"/>
                <a:cs typeface="Arial" pitchFamily="34" charset="-120"/>
              </a:rPr>
              <a:t>Shows SMART PLANT, DHT status, soil value, ML prediction, and pump status.</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E"/>
        </a:solidFill>
      </p:bgPr>
    </p:bg>
    <p:spTree>
      <p:nvGrpSpPr>
        <p:cNvPr id="1" name=""/>
        <p:cNvGrpSpPr/>
        <p:nvPr/>
      </p:nvGrpSpPr>
      <p:grpSpPr>
        <a:xfrm>
          <a:off x="0" y="0"/>
          <a:ext cx="0" cy="0"/>
          <a:chOff x="0" y="0"/>
          <a:chExt cx="0" cy="0"/>
        </a:xfrm>
      </p:grpSpPr>
      <p:sp>
        <p:nvSpPr>
          <p:cNvPr id="2" name="Shape 0"/>
          <p:cNvSpPr/>
          <p:nvPr/>
        </p:nvSpPr>
        <p:spPr>
          <a:xfrm>
            <a:off x="502920" y="530352"/>
            <a:ext cx="320040" cy="0"/>
          </a:xfrm>
          <a:prstGeom prst="line">
            <a:avLst/>
          </a:prstGeom>
          <a:noFill/>
          <a:ln w="25400">
            <a:solidFill>
              <a:srgbClr val="1F6B4D"/>
            </a:solidFill>
            <a:prstDash val="solid"/>
          </a:ln>
        </p:spPr>
      </p:sp>
      <p:sp>
        <p:nvSpPr>
          <p:cNvPr id="3" name="Text 1"/>
          <p:cNvSpPr/>
          <p:nvPr/>
        </p:nvSpPr>
        <p:spPr>
          <a:xfrm>
            <a:off x="932688" y="420624"/>
            <a:ext cx="3840480" cy="228600"/>
          </a:xfrm>
          <a:prstGeom prst="rect">
            <a:avLst/>
          </a:prstGeom>
          <a:noFill/>
          <a:ln/>
        </p:spPr>
        <p:txBody>
          <a:bodyPr wrap="square" lIns="508" tIns="508" rIns="508" bIns="508" rtlCol="0" anchor="t">
            <a:normAutofit/>
          </a:bodyPr>
          <a:lstStyle/>
          <a:p>
            <a:pPr indent="0" marL="0">
              <a:buNone/>
            </a:pPr>
            <a:r>
              <a:rPr lang="en-US" sz="760" b="1" dirty="0">
                <a:solidFill>
                  <a:srgbClr val="1F6B4D"/>
                </a:solidFill>
                <a:latin typeface="Arial" pitchFamily="34" charset="0"/>
                <a:ea typeface="Arial" pitchFamily="34" charset="-122"/>
                <a:cs typeface="Arial" pitchFamily="34" charset="-120"/>
              </a:rPr>
              <a:t>AUTOMATION</a:t>
            </a:r>
            <a:endParaRPr lang="en-US" sz="760" dirty="0"/>
          </a:p>
        </p:txBody>
      </p:sp>
      <p:sp>
        <p:nvSpPr>
          <p:cNvPr id="4" name="Text 2"/>
          <p:cNvSpPr/>
          <p:nvPr/>
        </p:nvSpPr>
        <p:spPr>
          <a:xfrm>
            <a:off x="502920" y="758952"/>
            <a:ext cx="9692640" cy="658368"/>
          </a:xfrm>
          <a:prstGeom prst="rect">
            <a:avLst/>
          </a:prstGeom>
          <a:noFill/>
          <a:ln/>
        </p:spPr>
        <p:txBody>
          <a:bodyPr wrap="square" lIns="508" tIns="508" rIns="508" bIns="508" rtlCol="0" anchor="t">
            <a:normAutofit/>
          </a:bodyPr>
          <a:lstStyle/>
          <a:p>
            <a:pPr indent="0" marL="0">
              <a:buNone/>
            </a:pPr>
            <a:r>
              <a:rPr lang="en-US" sz="2200" b="1" dirty="0">
                <a:solidFill>
                  <a:srgbClr val="14211C"/>
                </a:solidFill>
                <a:latin typeface="Georgia" pitchFamily="34" charset="0"/>
                <a:ea typeface="Georgia" pitchFamily="34" charset="-122"/>
                <a:cs typeface="Georgia" pitchFamily="34" charset="-120"/>
              </a:rPr>
              <a:t>Pump control stays safe while alerts explain every risk state.</a:t>
            </a:r>
            <a:endParaRPr lang="en-US" sz="2200" dirty="0"/>
          </a:p>
        </p:txBody>
      </p:sp>
      <p:sp>
        <p:nvSpPr>
          <p:cNvPr id="5" name="Shape 3"/>
          <p:cNvSpPr/>
          <p:nvPr/>
        </p:nvSpPr>
        <p:spPr>
          <a:xfrm>
            <a:off x="502920" y="6428232"/>
            <a:ext cx="10835640" cy="0"/>
          </a:xfrm>
          <a:prstGeom prst="line">
            <a:avLst/>
          </a:prstGeom>
          <a:noFill/>
          <a:ln w="6350">
            <a:solidFill>
              <a:srgbClr val="D8D2C4"/>
            </a:solidFill>
            <a:prstDash val="solid"/>
          </a:ln>
        </p:spPr>
      </p:sp>
      <p:sp>
        <p:nvSpPr>
          <p:cNvPr id="6" name="Text 4"/>
          <p:cNvSpPr/>
          <p:nvPr/>
        </p:nvSpPr>
        <p:spPr>
          <a:xfrm>
            <a:off x="502920" y="6510528"/>
            <a:ext cx="7680960" cy="164592"/>
          </a:xfrm>
          <a:prstGeom prst="rect">
            <a:avLst/>
          </a:prstGeom>
          <a:noFill/>
          <a:ln/>
        </p:spPr>
        <p:txBody>
          <a:bodyPr wrap="square" lIns="508" tIns="508" rIns="508" bIns="508" rtlCol="0" anchor="t">
            <a:normAutofit/>
          </a:bodyPr>
          <a:lstStyle/>
          <a:p>
            <a:pPr indent="0" marL="0">
              <a:buNone/>
            </a:pPr>
            <a:r>
              <a:rPr lang="en-US" sz="680" dirty="0">
                <a:solidFill>
                  <a:srgbClr val="5E6B63"/>
                </a:solidFill>
                <a:latin typeface="Arial" pitchFamily="34" charset="0"/>
                <a:ea typeface="Arial" pitchFamily="34" charset="-122"/>
                <a:cs typeface="Arial" pitchFamily="34" charset="-120"/>
              </a:rPr>
              <a:t>Source: project README, Student Guide, and SRTA3353 Project 2 criteria</a:t>
            </a:r>
            <a:endParaRPr lang="en-US" sz="680" dirty="0"/>
          </a:p>
        </p:txBody>
      </p:sp>
      <p:sp>
        <p:nvSpPr>
          <p:cNvPr id="7" name="Text 5"/>
          <p:cNvSpPr/>
          <p:nvPr/>
        </p:nvSpPr>
        <p:spPr>
          <a:xfrm>
            <a:off x="11064240" y="6510528"/>
            <a:ext cx="457200" cy="164592"/>
          </a:xfrm>
          <a:prstGeom prst="rect">
            <a:avLst/>
          </a:prstGeom>
          <a:noFill/>
          <a:ln/>
        </p:spPr>
        <p:txBody>
          <a:bodyPr wrap="square" lIns="508" tIns="508" rIns="508" bIns="508" rtlCol="0" anchor="t">
            <a:normAutofit/>
          </a:bodyPr>
          <a:lstStyle/>
          <a:p>
            <a:pPr indent="0" marL="0">
              <a:buNone/>
            </a:pPr>
            <a:r>
              <a:rPr lang="en-US" sz="680" b="1" dirty="0">
                <a:solidFill>
                  <a:srgbClr val="5E6B63"/>
                </a:solidFill>
                <a:latin typeface="Arial" pitchFamily="34" charset="0"/>
                <a:ea typeface="Arial" pitchFamily="34" charset="-122"/>
                <a:cs typeface="Arial" pitchFamily="34" charset="-120"/>
              </a:rPr>
              <a:t>10</a:t>
            </a:r>
            <a:endParaRPr lang="en-US" sz="680" dirty="0"/>
          </a:p>
        </p:txBody>
      </p:sp>
      <p:sp>
        <p:nvSpPr>
          <p:cNvPr id="8" name="Shape 6"/>
          <p:cNvSpPr/>
          <p:nvPr/>
        </p:nvSpPr>
        <p:spPr>
          <a:xfrm>
            <a:off x="640080" y="1783080"/>
            <a:ext cx="2377440" cy="594360"/>
          </a:xfrm>
          <a:prstGeom prst="rect">
            <a:avLst/>
          </a:prstGeom>
          <a:solidFill>
            <a:srgbClr val="10251D"/>
          </a:solidFill>
          <a:ln w="8890">
            <a:solidFill>
              <a:srgbClr val="D8D2C4"/>
            </a:solidFill>
            <a:prstDash val="solid"/>
          </a:ln>
        </p:spPr>
      </p:sp>
      <p:sp>
        <p:nvSpPr>
          <p:cNvPr id="9" name="Text 7"/>
          <p:cNvSpPr/>
          <p:nvPr/>
        </p:nvSpPr>
        <p:spPr>
          <a:xfrm>
            <a:off x="713232" y="1856232"/>
            <a:ext cx="2231136" cy="466344"/>
          </a:xfrm>
          <a:prstGeom prst="rect">
            <a:avLst/>
          </a:prstGeom>
          <a:noFill/>
          <a:ln/>
        </p:spPr>
        <p:txBody>
          <a:bodyPr wrap="square" lIns="508" tIns="508" rIns="508" bIns="508" rtlCol="0" anchor="t">
            <a:normAutofit/>
          </a:bodyPr>
          <a:lstStyle/>
          <a:p>
            <a:pPr indent="0" marL="0">
              <a:buNone/>
            </a:pPr>
            <a:r>
              <a:rPr lang="en-US" sz="820" b="1" dirty="0">
                <a:solidFill>
                  <a:srgbClr val="FFFFFF"/>
                </a:solidFill>
                <a:latin typeface="Arial" pitchFamily="34" charset="0"/>
                <a:ea typeface="Arial" pitchFamily="34" charset="-122"/>
                <a:cs typeface="Arial" pitchFamily="34" charset="-120"/>
              </a:rPr>
              <a:t>Condition</a:t>
            </a:r>
            <a:endParaRPr lang="en-US" sz="820" dirty="0"/>
          </a:p>
        </p:txBody>
      </p:sp>
      <p:sp>
        <p:nvSpPr>
          <p:cNvPr id="10" name="Shape 8"/>
          <p:cNvSpPr/>
          <p:nvPr/>
        </p:nvSpPr>
        <p:spPr>
          <a:xfrm>
            <a:off x="3017520" y="1783080"/>
            <a:ext cx="3520440" cy="594360"/>
          </a:xfrm>
          <a:prstGeom prst="rect">
            <a:avLst/>
          </a:prstGeom>
          <a:solidFill>
            <a:srgbClr val="10251D"/>
          </a:solidFill>
          <a:ln w="8890">
            <a:solidFill>
              <a:srgbClr val="D8D2C4"/>
            </a:solidFill>
            <a:prstDash val="solid"/>
          </a:ln>
        </p:spPr>
      </p:sp>
      <p:sp>
        <p:nvSpPr>
          <p:cNvPr id="11" name="Text 9"/>
          <p:cNvSpPr/>
          <p:nvPr/>
        </p:nvSpPr>
        <p:spPr>
          <a:xfrm>
            <a:off x="3090672" y="1856232"/>
            <a:ext cx="3374136" cy="466344"/>
          </a:xfrm>
          <a:prstGeom prst="rect">
            <a:avLst/>
          </a:prstGeom>
          <a:noFill/>
          <a:ln/>
        </p:spPr>
        <p:txBody>
          <a:bodyPr wrap="square" lIns="508" tIns="508" rIns="508" bIns="508" rtlCol="0" anchor="t">
            <a:normAutofit/>
          </a:bodyPr>
          <a:lstStyle/>
          <a:p>
            <a:pPr indent="0" marL="0">
              <a:buNone/>
            </a:pPr>
            <a:r>
              <a:rPr lang="en-US" sz="820" b="1" dirty="0">
                <a:solidFill>
                  <a:srgbClr val="FFFFFF"/>
                </a:solidFill>
                <a:latin typeface="Arial" pitchFamily="34" charset="0"/>
                <a:ea typeface="Arial" pitchFamily="34" charset="-122"/>
                <a:cs typeface="Arial" pitchFamily="34" charset="-120"/>
              </a:rPr>
              <a:t>Recommend mode output</a:t>
            </a:r>
            <a:endParaRPr lang="en-US" sz="820" dirty="0"/>
          </a:p>
        </p:txBody>
      </p:sp>
      <p:sp>
        <p:nvSpPr>
          <p:cNvPr id="12" name="Shape 10"/>
          <p:cNvSpPr/>
          <p:nvPr/>
        </p:nvSpPr>
        <p:spPr>
          <a:xfrm>
            <a:off x="6537960" y="1783080"/>
            <a:ext cx="3520440" cy="594360"/>
          </a:xfrm>
          <a:prstGeom prst="rect">
            <a:avLst/>
          </a:prstGeom>
          <a:solidFill>
            <a:srgbClr val="10251D"/>
          </a:solidFill>
          <a:ln w="8890">
            <a:solidFill>
              <a:srgbClr val="D8D2C4"/>
            </a:solidFill>
            <a:prstDash val="solid"/>
          </a:ln>
        </p:spPr>
      </p:sp>
      <p:sp>
        <p:nvSpPr>
          <p:cNvPr id="13" name="Text 11"/>
          <p:cNvSpPr/>
          <p:nvPr/>
        </p:nvSpPr>
        <p:spPr>
          <a:xfrm>
            <a:off x="6611112" y="1856232"/>
            <a:ext cx="3374136" cy="466344"/>
          </a:xfrm>
          <a:prstGeom prst="rect">
            <a:avLst/>
          </a:prstGeom>
          <a:noFill/>
          <a:ln/>
        </p:spPr>
        <p:txBody>
          <a:bodyPr wrap="square" lIns="508" tIns="508" rIns="508" bIns="508" rtlCol="0" anchor="t">
            <a:normAutofit/>
          </a:bodyPr>
          <a:lstStyle/>
          <a:p>
            <a:pPr indent="0" marL="0">
              <a:buNone/>
            </a:pPr>
            <a:r>
              <a:rPr lang="en-US" sz="820" b="1" dirty="0">
                <a:solidFill>
                  <a:srgbClr val="FFFFFF"/>
                </a:solidFill>
                <a:latin typeface="Arial" pitchFamily="34" charset="0"/>
                <a:ea typeface="Arial" pitchFamily="34" charset="-122"/>
                <a:cs typeface="Arial" pitchFamily="34" charset="-120"/>
              </a:rPr>
              <a:t>Control mode output</a:t>
            </a:r>
            <a:endParaRPr lang="en-US" sz="820" dirty="0"/>
          </a:p>
        </p:txBody>
      </p:sp>
      <p:sp>
        <p:nvSpPr>
          <p:cNvPr id="14" name="Shape 12"/>
          <p:cNvSpPr/>
          <p:nvPr/>
        </p:nvSpPr>
        <p:spPr>
          <a:xfrm>
            <a:off x="640080" y="2377440"/>
            <a:ext cx="2377440" cy="594360"/>
          </a:xfrm>
          <a:prstGeom prst="rect">
            <a:avLst/>
          </a:prstGeom>
          <a:solidFill>
            <a:srgbClr val="FBFAF6"/>
          </a:solidFill>
          <a:ln w="8890">
            <a:solidFill>
              <a:srgbClr val="D8D2C4"/>
            </a:solidFill>
            <a:prstDash val="solid"/>
          </a:ln>
        </p:spPr>
      </p:sp>
      <p:sp>
        <p:nvSpPr>
          <p:cNvPr id="15" name="Text 13"/>
          <p:cNvSpPr/>
          <p:nvPr/>
        </p:nvSpPr>
        <p:spPr>
          <a:xfrm>
            <a:off x="713232" y="2450592"/>
            <a:ext cx="2231136" cy="466344"/>
          </a:xfrm>
          <a:prstGeom prst="rect">
            <a:avLst/>
          </a:prstGeom>
          <a:noFill/>
          <a:ln/>
        </p:spPr>
        <p:txBody>
          <a:bodyPr wrap="square" lIns="508" tIns="508" rIns="508" bIns="508" rtlCol="0" anchor="t">
            <a:normAutofit/>
          </a:bodyPr>
          <a:lstStyle/>
          <a:p>
            <a:pPr indent="0" marL="0">
              <a:buNone/>
            </a:pPr>
            <a:r>
              <a:rPr lang="en-US" sz="820" dirty="0">
                <a:solidFill>
                  <a:srgbClr val="14211C"/>
                </a:solidFill>
                <a:latin typeface="Arial" pitchFamily="34" charset="0"/>
                <a:ea typeface="Arial" pitchFamily="34" charset="-122"/>
                <a:cs typeface="Arial" pitchFamily="34" charset="-120"/>
              </a:rPr>
              <a:t>DRY soil</a:t>
            </a:r>
            <a:endParaRPr lang="en-US" sz="820" dirty="0"/>
          </a:p>
        </p:txBody>
      </p:sp>
      <p:sp>
        <p:nvSpPr>
          <p:cNvPr id="16" name="Shape 14"/>
          <p:cNvSpPr/>
          <p:nvPr/>
        </p:nvSpPr>
        <p:spPr>
          <a:xfrm>
            <a:off x="3017520" y="2377440"/>
            <a:ext cx="3520440" cy="594360"/>
          </a:xfrm>
          <a:prstGeom prst="rect">
            <a:avLst/>
          </a:prstGeom>
          <a:solidFill>
            <a:srgbClr val="FBFAF6"/>
          </a:solidFill>
          <a:ln w="8890">
            <a:solidFill>
              <a:srgbClr val="D8D2C4"/>
            </a:solidFill>
            <a:prstDash val="solid"/>
          </a:ln>
        </p:spPr>
      </p:sp>
      <p:sp>
        <p:nvSpPr>
          <p:cNvPr id="17" name="Text 15"/>
          <p:cNvSpPr/>
          <p:nvPr/>
        </p:nvSpPr>
        <p:spPr>
          <a:xfrm>
            <a:off x="3090672" y="2450592"/>
            <a:ext cx="3374136" cy="466344"/>
          </a:xfrm>
          <a:prstGeom prst="rect">
            <a:avLst/>
          </a:prstGeom>
          <a:noFill/>
          <a:ln/>
        </p:spPr>
        <p:txBody>
          <a:bodyPr wrap="square" lIns="508" tIns="508" rIns="508" bIns="508" rtlCol="0" anchor="t">
            <a:normAutofit/>
          </a:bodyPr>
          <a:lstStyle/>
          <a:p>
            <a:pPr indent="0" marL="0">
              <a:buNone/>
            </a:pPr>
            <a:r>
              <a:rPr lang="en-US" sz="820" dirty="0">
                <a:solidFill>
                  <a:srgbClr val="14211C"/>
                </a:solidFill>
                <a:latin typeface="Arial" pitchFamily="34" charset="0"/>
                <a:ea typeface="Arial" pitchFamily="34" charset="-122"/>
                <a:cs typeface="Arial" pitchFamily="34" charset="-120"/>
              </a:rPr>
              <a:t>Pump ON</a:t>
            </a:r>
            <a:endParaRPr lang="en-US" sz="820" dirty="0"/>
          </a:p>
        </p:txBody>
      </p:sp>
      <p:sp>
        <p:nvSpPr>
          <p:cNvPr id="18" name="Shape 16"/>
          <p:cNvSpPr/>
          <p:nvPr/>
        </p:nvSpPr>
        <p:spPr>
          <a:xfrm>
            <a:off x="6537960" y="2377440"/>
            <a:ext cx="3520440" cy="594360"/>
          </a:xfrm>
          <a:prstGeom prst="rect">
            <a:avLst/>
          </a:prstGeom>
          <a:solidFill>
            <a:srgbClr val="FBFAF6"/>
          </a:solidFill>
          <a:ln w="8890">
            <a:solidFill>
              <a:srgbClr val="D8D2C4"/>
            </a:solidFill>
            <a:prstDash val="solid"/>
          </a:ln>
        </p:spPr>
      </p:sp>
      <p:sp>
        <p:nvSpPr>
          <p:cNvPr id="19" name="Text 17"/>
          <p:cNvSpPr/>
          <p:nvPr/>
        </p:nvSpPr>
        <p:spPr>
          <a:xfrm>
            <a:off x="6611112" y="2450592"/>
            <a:ext cx="3374136" cy="466344"/>
          </a:xfrm>
          <a:prstGeom prst="rect">
            <a:avLst/>
          </a:prstGeom>
          <a:noFill/>
          <a:ln/>
        </p:spPr>
        <p:txBody>
          <a:bodyPr wrap="square" lIns="508" tIns="508" rIns="508" bIns="508" rtlCol="0" anchor="t">
            <a:normAutofit/>
          </a:bodyPr>
          <a:lstStyle/>
          <a:p>
            <a:pPr indent="0" marL="0">
              <a:buNone/>
            </a:pPr>
            <a:r>
              <a:rPr lang="en-US" sz="820" dirty="0">
                <a:solidFill>
                  <a:srgbClr val="14211C"/>
                </a:solidFill>
                <a:latin typeface="Arial" pitchFamily="34" charset="0"/>
                <a:ea typeface="Arial" pitchFamily="34" charset="-122"/>
                <a:cs typeface="Arial" pitchFamily="34" charset="-120"/>
              </a:rPr>
              <a:t>Pump ON</a:t>
            </a:r>
            <a:endParaRPr lang="en-US" sz="820" dirty="0"/>
          </a:p>
        </p:txBody>
      </p:sp>
      <p:sp>
        <p:nvSpPr>
          <p:cNvPr id="20" name="Shape 18"/>
          <p:cNvSpPr/>
          <p:nvPr/>
        </p:nvSpPr>
        <p:spPr>
          <a:xfrm>
            <a:off x="640080" y="2971800"/>
            <a:ext cx="2377440" cy="594360"/>
          </a:xfrm>
          <a:prstGeom prst="rect">
            <a:avLst/>
          </a:prstGeom>
          <a:solidFill>
            <a:srgbClr val="FFFFFF"/>
          </a:solidFill>
          <a:ln w="8890">
            <a:solidFill>
              <a:srgbClr val="D8D2C4"/>
            </a:solidFill>
            <a:prstDash val="solid"/>
          </a:ln>
        </p:spPr>
      </p:sp>
      <p:sp>
        <p:nvSpPr>
          <p:cNvPr id="21" name="Text 19"/>
          <p:cNvSpPr/>
          <p:nvPr/>
        </p:nvSpPr>
        <p:spPr>
          <a:xfrm>
            <a:off x="713232" y="3044952"/>
            <a:ext cx="2231136" cy="466344"/>
          </a:xfrm>
          <a:prstGeom prst="rect">
            <a:avLst/>
          </a:prstGeom>
          <a:noFill/>
          <a:ln/>
        </p:spPr>
        <p:txBody>
          <a:bodyPr wrap="square" lIns="508" tIns="508" rIns="508" bIns="508" rtlCol="0" anchor="t">
            <a:normAutofit/>
          </a:bodyPr>
          <a:lstStyle/>
          <a:p>
            <a:pPr indent="0" marL="0">
              <a:buNone/>
            </a:pPr>
            <a:r>
              <a:rPr lang="en-US" sz="820" dirty="0">
                <a:solidFill>
                  <a:srgbClr val="14211C"/>
                </a:solidFill>
                <a:latin typeface="Arial" pitchFamily="34" charset="0"/>
                <a:ea typeface="Arial" pitchFamily="34" charset="-122"/>
                <a:cs typeface="Arial" pitchFamily="34" charset="-120"/>
              </a:rPr>
              <a:t>WET soil</a:t>
            </a:r>
            <a:endParaRPr lang="en-US" sz="820" dirty="0"/>
          </a:p>
        </p:txBody>
      </p:sp>
      <p:sp>
        <p:nvSpPr>
          <p:cNvPr id="22" name="Shape 20"/>
          <p:cNvSpPr/>
          <p:nvPr/>
        </p:nvSpPr>
        <p:spPr>
          <a:xfrm>
            <a:off x="3017520" y="2971800"/>
            <a:ext cx="3520440" cy="594360"/>
          </a:xfrm>
          <a:prstGeom prst="rect">
            <a:avLst/>
          </a:prstGeom>
          <a:solidFill>
            <a:srgbClr val="FFFFFF"/>
          </a:solidFill>
          <a:ln w="8890">
            <a:solidFill>
              <a:srgbClr val="D8D2C4"/>
            </a:solidFill>
            <a:prstDash val="solid"/>
          </a:ln>
        </p:spPr>
      </p:sp>
      <p:sp>
        <p:nvSpPr>
          <p:cNvPr id="23" name="Text 21"/>
          <p:cNvSpPr/>
          <p:nvPr/>
        </p:nvSpPr>
        <p:spPr>
          <a:xfrm>
            <a:off x="3090672" y="3044952"/>
            <a:ext cx="3374136" cy="466344"/>
          </a:xfrm>
          <a:prstGeom prst="rect">
            <a:avLst/>
          </a:prstGeom>
          <a:noFill/>
          <a:ln/>
        </p:spPr>
        <p:txBody>
          <a:bodyPr wrap="square" lIns="508" tIns="508" rIns="508" bIns="508" rtlCol="0" anchor="t">
            <a:normAutofit/>
          </a:bodyPr>
          <a:lstStyle/>
          <a:p>
            <a:pPr indent="0" marL="0">
              <a:buNone/>
            </a:pPr>
            <a:r>
              <a:rPr lang="en-US" sz="820" dirty="0">
                <a:solidFill>
                  <a:srgbClr val="14211C"/>
                </a:solidFill>
                <a:latin typeface="Arial" pitchFamily="34" charset="0"/>
                <a:ea typeface="Arial" pitchFamily="34" charset="-122"/>
                <a:cs typeface="Arial" pitchFamily="34" charset="-120"/>
              </a:rPr>
              <a:t>Pump OFF + wet alert</a:t>
            </a:r>
            <a:endParaRPr lang="en-US" sz="820" dirty="0"/>
          </a:p>
        </p:txBody>
      </p:sp>
      <p:sp>
        <p:nvSpPr>
          <p:cNvPr id="24" name="Shape 22"/>
          <p:cNvSpPr/>
          <p:nvPr/>
        </p:nvSpPr>
        <p:spPr>
          <a:xfrm>
            <a:off x="6537960" y="2971800"/>
            <a:ext cx="3520440" cy="594360"/>
          </a:xfrm>
          <a:prstGeom prst="rect">
            <a:avLst/>
          </a:prstGeom>
          <a:solidFill>
            <a:srgbClr val="FFFFFF"/>
          </a:solidFill>
          <a:ln w="8890">
            <a:solidFill>
              <a:srgbClr val="D8D2C4"/>
            </a:solidFill>
            <a:prstDash val="solid"/>
          </a:ln>
        </p:spPr>
      </p:sp>
      <p:sp>
        <p:nvSpPr>
          <p:cNvPr id="25" name="Text 23"/>
          <p:cNvSpPr/>
          <p:nvPr/>
        </p:nvSpPr>
        <p:spPr>
          <a:xfrm>
            <a:off x="6611112" y="3044952"/>
            <a:ext cx="3374136" cy="466344"/>
          </a:xfrm>
          <a:prstGeom prst="rect">
            <a:avLst/>
          </a:prstGeom>
          <a:noFill/>
          <a:ln/>
        </p:spPr>
        <p:txBody>
          <a:bodyPr wrap="square" lIns="508" tIns="508" rIns="508" bIns="508" rtlCol="0" anchor="t">
            <a:normAutofit/>
          </a:bodyPr>
          <a:lstStyle/>
          <a:p>
            <a:pPr indent="0" marL="0">
              <a:buNone/>
            </a:pPr>
            <a:r>
              <a:rPr lang="en-US" sz="820" dirty="0">
                <a:solidFill>
                  <a:srgbClr val="14211C"/>
                </a:solidFill>
                <a:latin typeface="Arial" pitchFamily="34" charset="0"/>
                <a:ea typeface="Arial" pitchFamily="34" charset="-122"/>
                <a:cs typeface="Arial" pitchFamily="34" charset="-120"/>
              </a:rPr>
              <a:t>Pump OFF + wet alert</a:t>
            </a:r>
            <a:endParaRPr lang="en-US" sz="820" dirty="0"/>
          </a:p>
        </p:txBody>
      </p:sp>
      <p:sp>
        <p:nvSpPr>
          <p:cNvPr id="26" name="Shape 24"/>
          <p:cNvSpPr/>
          <p:nvPr/>
        </p:nvSpPr>
        <p:spPr>
          <a:xfrm>
            <a:off x="640080" y="3566160"/>
            <a:ext cx="2377440" cy="594360"/>
          </a:xfrm>
          <a:prstGeom prst="rect">
            <a:avLst/>
          </a:prstGeom>
          <a:solidFill>
            <a:srgbClr val="FBFAF6"/>
          </a:solidFill>
          <a:ln w="8890">
            <a:solidFill>
              <a:srgbClr val="D8D2C4"/>
            </a:solidFill>
            <a:prstDash val="solid"/>
          </a:ln>
        </p:spPr>
      </p:sp>
      <p:sp>
        <p:nvSpPr>
          <p:cNvPr id="27" name="Text 25"/>
          <p:cNvSpPr/>
          <p:nvPr/>
        </p:nvSpPr>
        <p:spPr>
          <a:xfrm>
            <a:off x="713232" y="3639312"/>
            <a:ext cx="2231136" cy="466344"/>
          </a:xfrm>
          <a:prstGeom prst="rect">
            <a:avLst/>
          </a:prstGeom>
          <a:noFill/>
          <a:ln/>
        </p:spPr>
        <p:txBody>
          <a:bodyPr wrap="square" lIns="508" tIns="508" rIns="508" bIns="508" rtlCol="0" anchor="t">
            <a:normAutofit/>
          </a:bodyPr>
          <a:lstStyle/>
          <a:p>
            <a:pPr indent="0" marL="0">
              <a:buNone/>
            </a:pPr>
            <a:r>
              <a:rPr lang="en-US" sz="820" dirty="0">
                <a:solidFill>
                  <a:srgbClr val="14211C"/>
                </a:solidFill>
                <a:latin typeface="Arial" pitchFamily="34" charset="0"/>
                <a:ea typeface="Arial" pitchFamily="34" charset="-122"/>
                <a:cs typeface="Arial" pitchFamily="34" charset="-120"/>
              </a:rPr>
              <a:t>OPTIMAL + Dry Soon</a:t>
            </a:r>
            <a:endParaRPr lang="en-US" sz="820" dirty="0"/>
          </a:p>
        </p:txBody>
      </p:sp>
      <p:sp>
        <p:nvSpPr>
          <p:cNvPr id="28" name="Shape 26"/>
          <p:cNvSpPr/>
          <p:nvPr/>
        </p:nvSpPr>
        <p:spPr>
          <a:xfrm>
            <a:off x="3017520" y="3566160"/>
            <a:ext cx="3520440" cy="594360"/>
          </a:xfrm>
          <a:prstGeom prst="rect">
            <a:avLst/>
          </a:prstGeom>
          <a:solidFill>
            <a:srgbClr val="FBFAF6"/>
          </a:solidFill>
          <a:ln w="8890">
            <a:solidFill>
              <a:srgbClr val="D8D2C4"/>
            </a:solidFill>
            <a:prstDash val="solid"/>
          </a:ln>
        </p:spPr>
      </p:sp>
      <p:sp>
        <p:nvSpPr>
          <p:cNvPr id="29" name="Text 27"/>
          <p:cNvSpPr/>
          <p:nvPr/>
        </p:nvSpPr>
        <p:spPr>
          <a:xfrm>
            <a:off x="3090672" y="3639312"/>
            <a:ext cx="3374136" cy="466344"/>
          </a:xfrm>
          <a:prstGeom prst="rect">
            <a:avLst/>
          </a:prstGeom>
          <a:noFill/>
          <a:ln/>
        </p:spPr>
        <p:txBody>
          <a:bodyPr wrap="square" lIns="508" tIns="508" rIns="508" bIns="508" rtlCol="0" anchor="t">
            <a:normAutofit/>
          </a:bodyPr>
          <a:lstStyle/>
          <a:p>
            <a:pPr indent="0" marL="0">
              <a:buNone/>
            </a:pPr>
            <a:r>
              <a:rPr lang="en-US" sz="820" dirty="0">
                <a:solidFill>
                  <a:srgbClr val="14211C"/>
                </a:solidFill>
                <a:latin typeface="Arial" pitchFamily="34" charset="0"/>
                <a:ea typeface="Arial" pitchFamily="34" charset="-122"/>
                <a:cs typeface="Arial" pitchFamily="34" charset="-120"/>
              </a:rPr>
              <a:t>Pump OFF + early warning</a:t>
            </a:r>
            <a:endParaRPr lang="en-US" sz="820" dirty="0"/>
          </a:p>
        </p:txBody>
      </p:sp>
      <p:sp>
        <p:nvSpPr>
          <p:cNvPr id="30" name="Shape 28"/>
          <p:cNvSpPr/>
          <p:nvPr/>
        </p:nvSpPr>
        <p:spPr>
          <a:xfrm>
            <a:off x="6537960" y="3566160"/>
            <a:ext cx="3520440" cy="594360"/>
          </a:xfrm>
          <a:prstGeom prst="rect">
            <a:avLst/>
          </a:prstGeom>
          <a:solidFill>
            <a:srgbClr val="FBFAF6"/>
          </a:solidFill>
          <a:ln w="8890">
            <a:solidFill>
              <a:srgbClr val="D8D2C4"/>
            </a:solidFill>
            <a:prstDash val="solid"/>
          </a:ln>
        </p:spPr>
      </p:sp>
      <p:sp>
        <p:nvSpPr>
          <p:cNvPr id="31" name="Text 29"/>
          <p:cNvSpPr/>
          <p:nvPr/>
        </p:nvSpPr>
        <p:spPr>
          <a:xfrm>
            <a:off x="6611112" y="3639312"/>
            <a:ext cx="3374136" cy="466344"/>
          </a:xfrm>
          <a:prstGeom prst="rect">
            <a:avLst/>
          </a:prstGeom>
          <a:noFill/>
          <a:ln/>
        </p:spPr>
        <p:txBody>
          <a:bodyPr wrap="square" lIns="508" tIns="508" rIns="508" bIns="508" rtlCol="0" anchor="t">
            <a:normAutofit/>
          </a:bodyPr>
          <a:lstStyle/>
          <a:p>
            <a:pPr indent="0" marL="0">
              <a:buNone/>
            </a:pPr>
            <a:r>
              <a:rPr lang="en-US" sz="820" dirty="0">
                <a:solidFill>
                  <a:srgbClr val="14211C"/>
                </a:solidFill>
                <a:latin typeface="Arial" pitchFamily="34" charset="0"/>
                <a:ea typeface="Arial" pitchFamily="34" charset="-122"/>
                <a:cs typeface="Arial" pitchFamily="34" charset="-120"/>
              </a:rPr>
              <a:t>Pump ON early</a:t>
            </a:r>
            <a:endParaRPr lang="en-US" sz="820" dirty="0"/>
          </a:p>
        </p:txBody>
      </p:sp>
      <p:sp>
        <p:nvSpPr>
          <p:cNvPr id="32" name="Shape 30"/>
          <p:cNvSpPr/>
          <p:nvPr/>
        </p:nvSpPr>
        <p:spPr>
          <a:xfrm>
            <a:off x="640080" y="4160520"/>
            <a:ext cx="2377440" cy="594360"/>
          </a:xfrm>
          <a:prstGeom prst="rect">
            <a:avLst/>
          </a:prstGeom>
          <a:solidFill>
            <a:srgbClr val="FFFFFF"/>
          </a:solidFill>
          <a:ln w="8890">
            <a:solidFill>
              <a:srgbClr val="D8D2C4"/>
            </a:solidFill>
            <a:prstDash val="solid"/>
          </a:ln>
        </p:spPr>
      </p:sp>
      <p:sp>
        <p:nvSpPr>
          <p:cNvPr id="33" name="Text 31"/>
          <p:cNvSpPr/>
          <p:nvPr/>
        </p:nvSpPr>
        <p:spPr>
          <a:xfrm>
            <a:off x="713232" y="4233672"/>
            <a:ext cx="2231136" cy="466344"/>
          </a:xfrm>
          <a:prstGeom prst="rect">
            <a:avLst/>
          </a:prstGeom>
          <a:noFill/>
          <a:ln/>
        </p:spPr>
        <p:txBody>
          <a:bodyPr wrap="square" lIns="508" tIns="508" rIns="508" bIns="508" rtlCol="0" anchor="t">
            <a:normAutofit/>
          </a:bodyPr>
          <a:lstStyle/>
          <a:p>
            <a:pPr indent="0" marL="0">
              <a:buNone/>
            </a:pPr>
            <a:r>
              <a:rPr lang="en-US" sz="820" dirty="0">
                <a:solidFill>
                  <a:srgbClr val="14211C"/>
                </a:solidFill>
                <a:latin typeface="Arial" pitchFamily="34" charset="0"/>
                <a:ea typeface="Arial" pitchFamily="34" charset="-122"/>
                <a:cs typeface="Arial" pitchFamily="34" charset="-120"/>
              </a:rPr>
              <a:t>DHT missing</a:t>
            </a:r>
            <a:endParaRPr lang="en-US" sz="820" dirty="0"/>
          </a:p>
        </p:txBody>
      </p:sp>
      <p:sp>
        <p:nvSpPr>
          <p:cNvPr id="34" name="Shape 32"/>
          <p:cNvSpPr/>
          <p:nvPr/>
        </p:nvSpPr>
        <p:spPr>
          <a:xfrm>
            <a:off x="3017520" y="4160520"/>
            <a:ext cx="3520440" cy="594360"/>
          </a:xfrm>
          <a:prstGeom prst="rect">
            <a:avLst/>
          </a:prstGeom>
          <a:solidFill>
            <a:srgbClr val="FFFFFF"/>
          </a:solidFill>
          <a:ln w="8890">
            <a:solidFill>
              <a:srgbClr val="D8D2C4"/>
            </a:solidFill>
            <a:prstDash val="solid"/>
          </a:ln>
        </p:spPr>
      </p:sp>
      <p:sp>
        <p:nvSpPr>
          <p:cNvPr id="35" name="Text 33"/>
          <p:cNvSpPr/>
          <p:nvPr/>
        </p:nvSpPr>
        <p:spPr>
          <a:xfrm>
            <a:off x="3090672" y="4233672"/>
            <a:ext cx="3374136" cy="466344"/>
          </a:xfrm>
          <a:prstGeom prst="rect">
            <a:avLst/>
          </a:prstGeom>
          <a:noFill/>
          <a:ln/>
        </p:spPr>
        <p:txBody>
          <a:bodyPr wrap="square" lIns="508" tIns="508" rIns="508" bIns="508" rtlCol="0" anchor="t">
            <a:normAutofit/>
          </a:bodyPr>
          <a:lstStyle/>
          <a:p>
            <a:pPr indent="0" marL="0">
              <a:buNone/>
            </a:pPr>
            <a:r>
              <a:rPr lang="en-US" sz="820" dirty="0">
                <a:solidFill>
                  <a:srgbClr val="14211C"/>
                </a:solidFill>
                <a:latin typeface="Arial" pitchFamily="34" charset="0"/>
                <a:ea typeface="Arial" pitchFamily="34" charset="-122"/>
                <a:cs typeface="Arial" pitchFamily="34" charset="-120"/>
              </a:rPr>
              <a:t>ML Unknown + DHT alert</a:t>
            </a:r>
            <a:endParaRPr lang="en-US" sz="820" dirty="0"/>
          </a:p>
        </p:txBody>
      </p:sp>
      <p:sp>
        <p:nvSpPr>
          <p:cNvPr id="36" name="Shape 34"/>
          <p:cNvSpPr/>
          <p:nvPr/>
        </p:nvSpPr>
        <p:spPr>
          <a:xfrm>
            <a:off x="6537960" y="4160520"/>
            <a:ext cx="3520440" cy="594360"/>
          </a:xfrm>
          <a:prstGeom prst="rect">
            <a:avLst/>
          </a:prstGeom>
          <a:solidFill>
            <a:srgbClr val="FFFFFF"/>
          </a:solidFill>
          <a:ln w="8890">
            <a:solidFill>
              <a:srgbClr val="D8D2C4"/>
            </a:solidFill>
            <a:prstDash val="solid"/>
          </a:ln>
        </p:spPr>
      </p:sp>
      <p:sp>
        <p:nvSpPr>
          <p:cNvPr id="37" name="Text 35"/>
          <p:cNvSpPr/>
          <p:nvPr/>
        </p:nvSpPr>
        <p:spPr>
          <a:xfrm>
            <a:off x="6611112" y="4233672"/>
            <a:ext cx="3374136" cy="466344"/>
          </a:xfrm>
          <a:prstGeom prst="rect">
            <a:avLst/>
          </a:prstGeom>
          <a:noFill/>
          <a:ln/>
        </p:spPr>
        <p:txBody>
          <a:bodyPr wrap="square" lIns="508" tIns="508" rIns="508" bIns="508" rtlCol="0" anchor="t">
            <a:normAutofit/>
          </a:bodyPr>
          <a:lstStyle/>
          <a:p>
            <a:pPr indent="0" marL="0">
              <a:buNone/>
            </a:pPr>
            <a:r>
              <a:rPr lang="en-US" sz="820" dirty="0">
                <a:solidFill>
                  <a:srgbClr val="14211C"/>
                </a:solidFill>
                <a:latin typeface="Arial" pitchFamily="34" charset="0"/>
                <a:ea typeface="Arial" pitchFamily="34" charset="-122"/>
                <a:cs typeface="Arial" pitchFamily="34" charset="-120"/>
              </a:rPr>
              <a:t>ML Unknown + DHT alert</a:t>
            </a:r>
            <a:endParaRPr lang="en-US" sz="820" dirty="0"/>
          </a:p>
        </p:txBody>
      </p:sp>
      <p:sp>
        <p:nvSpPr>
          <p:cNvPr id="38" name="Shape 36"/>
          <p:cNvSpPr/>
          <p:nvPr/>
        </p:nvSpPr>
        <p:spPr>
          <a:xfrm>
            <a:off x="914400" y="4828032"/>
            <a:ext cx="4389120" cy="777240"/>
          </a:xfrm>
          <a:prstGeom prst="roundRect">
            <a:avLst>
              <a:gd name="adj" fmla="val 9412"/>
            </a:avLst>
          </a:prstGeom>
          <a:solidFill>
            <a:srgbClr val="FFF8F0"/>
          </a:solidFill>
          <a:ln w="8890">
            <a:solidFill>
              <a:srgbClr val="D8D2C4"/>
            </a:solidFill>
            <a:prstDash val="solid"/>
          </a:ln>
        </p:spPr>
      </p:sp>
      <p:sp>
        <p:nvSpPr>
          <p:cNvPr id="39" name="Shape 37"/>
          <p:cNvSpPr/>
          <p:nvPr/>
        </p:nvSpPr>
        <p:spPr>
          <a:xfrm>
            <a:off x="914400" y="4828032"/>
            <a:ext cx="64008" cy="777240"/>
          </a:xfrm>
          <a:prstGeom prst="rect">
            <a:avLst/>
          </a:prstGeom>
          <a:solidFill>
            <a:srgbClr val="E6A33D"/>
          </a:solidFill>
          <a:ln w="12700">
            <a:solidFill>
              <a:srgbClr val="E6A33D"/>
            </a:solidFill>
            <a:prstDash val="solid"/>
          </a:ln>
        </p:spPr>
      </p:sp>
      <p:sp>
        <p:nvSpPr>
          <p:cNvPr id="40" name="Text 38"/>
          <p:cNvSpPr/>
          <p:nvPr/>
        </p:nvSpPr>
        <p:spPr>
          <a:xfrm>
            <a:off x="1060704" y="4956048"/>
            <a:ext cx="4133088" cy="201168"/>
          </a:xfrm>
          <a:prstGeom prst="rect">
            <a:avLst/>
          </a:prstGeom>
          <a:noFill/>
          <a:ln/>
        </p:spPr>
        <p:txBody>
          <a:bodyPr wrap="square" lIns="508" tIns="508" rIns="508" bIns="508" rtlCol="0" anchor="t">
            <a:normAutofit/>
          </a:bodyPr>
          <a:lstStyle/>
          <a:p>
            <a:pPr indent="0" marL="0">
              <a:buNone/>
            </a:pPr>
            <a:r>
              <a:rPr lang="en-US" sz="950" b="1" dirty="0">
                <a:solidFill>
                  <a:srgbClr val="14211C"/>
                </a:solidFill>
                <a:latin typeface="Arial" pitchFamily="34" charset="0"/>
                <a:ea typeface="Arial" pitchFamily="34" charset="-122"/>
                <a:cs typeface="Arial" pitchFamily="34" charset="-120"/>
              </a:rPr>
              <a:t>Telegram cooldown</a:t>
            </a:r>
            <a:endParaRPr lang="en-US" sz="950" dirty="0"/>
          </a:p>
        </p:txBody>
      </p:sp>
      <p:sp>
        <p:nvSpPr>
          <p:cNvPr id="41" name="Text 39"/>
          <p:cNvSpPr/>
          <p:nvPr/>
        </p:nvSpPr>
        <p:spPr>
          <a:xfrm>
            <a:off x="1060704" y="5221224"/>
            <a:ext cx="4133088" cy="320040"/>
          </a:xfrm>
          <a:prstGeom prst="rect">
            <a:avLst/>
          </a:prstGeom>
          <a:noFill/>
          <a:ln/>
        </p:spPr>
        <p:txBody>
          <a:bodyPr wrap="square" lIns="508" tIns="508" rIns="508" bIns="508" rtlCol="0" anchor="t">
            <a:normAutofit/>
          </a:bodyPr>
          <a:lstStyle/>
          <a:p>
            <a:pPr indent="0" marL="0">
              <a:buNone/>
            </a:pPr>
            <a:r>
              <a:rPr lang="en-US" sz="750" dirty="0">
                <a:solidFill>
                  <a:srgbClr val="5E6B63"/>
                </a:solidFill>
                <a:latin typeface="Arial" pitchFamily="34" charset="0"/>
                <a:ea typeface="Arial" pitchFamily="34" charset="-122"/>
                <a:cs typeface="Arial" pitchFamily="34" charset="-120"/>
              </a:rPr>
              <a:t>Same warning type sends once every 30 minutes normally, or every 60 seconds in demo mode.</a:t>
            </a:r>
            <a:endParaRPr lang="en-US" sz="750" dirty="0"/>
          </a:p>
        </p:txBody>
      </p:sp>
      <p:sp>
        <p:nvSpPr>
          <p:cNvPr id="42" name="Shape 40"/>
          <p:cNvSpPr/>
          <p:nvPr/>
        </p:nvSpPr>
        <p:spPr>
          <a:xfrm>
            <a:off x="6492240" y="4828032"/>
            <a:ext cx="3657600" cy="777240"/>
          </a:xfrm>
          <a:prstGeom prst="roundRect">
            <a:avLst>
              <a:gd name="adj" fmla="val 9412"/>
            </a:avLst>
          </a:prstGeom>
          <a:solidFill>
            <a:srgbClr val="F5FBF6"/>
          </a:solidFill>
          <a:ln w="8890">
            <a:solidFill>
              <a:srgbClr val="D8D2C4"/>
            </a:solidFill>
            <a:prstDash val="solid"/>
          </a:ln>
        </p:spPr>
      </p:sp>
      <p:sp>
        <p:nvSpPr>
          <p:cNvPr id="43" name="Shape 41"/>
          <p:cNvSpPr/>
          <p:nvPr/>
        </p:nvSpPr>
        <p:spPr>
          <a:xfrm>
            <a:off x="6492240" y="4828032"/>
            <a:ext cx="64008" cy="777240"/>
          </a:xfrm>
          <a:prstGeom prst="rect">
            <a:avLst/>
          </a:prstGeom>
          <a:solidFill>
            <a:srgbClr val="1F6B4D"/>
          </a:solidFill>
          <a:ln w="12700">
            <a:solidFill>
              <a:srgbClr val="1F6B4D"/>
            </a:solidFill>
            <a:prstDash val="solid"/>
          </a:ln>
        </p:spPr>
      </p:sp>
      <p:sp>
        <p:nvSpPr>
          <p:cNvPr id="44" name="Text 42"/>
          <p:cNvSpPr/>
          <p:nvPr/>
        </p:nvSpPr>
        <p:spPr>
          <a:xfrm>
            <a:off x="6638544" y="4956048"/>
            <a:ext cx="3401568" cy="201168"/>
          </a:xfrm>
          <a:prstGeom prst="rect">
            <a:avLst/>
          </a:prstGeom>
          <a:noFill/>
          <a:ln/>
        </p:spPr>
        <p:txBody>
          <a:bodyPr wrap="square" lIns="508" tIns="508" rIns="508" bIns="508" rtlCol="0" anchor="t">
            <a:normAutofit/>
          </a:bodyPr>
          <a:lstStyle/>
          <a:p>
            <a:pPr indent="0" marL="0">
              <a:buNone/>
            </a:pPr>
            <a:r>
              <a:rPr lang="en-US" sz="950" b="1" dirty="0">
                <a:solidFill>
                  <a:srgbClr val="14211C"/>
                </a:solidFill>
                <a:latin typeface="Arial" pitchFamily="34" charset="0"/>
                <a:ea typeface="Arial" pitchFamily="34" charset="-122"/>
                <a:cs typeface="Arial" pitchFamily="34" charset="-120"/>
              </a:rPr>
              <a:t>Reason codes</a:t>
            </a:r>
            <a:endParaRPr lang="en-US" sz="950" dirty="0"/>
          </a:p>
        </p:txBody>
      </p:sp>
      <p:sp>
        <p:nvSpPr>
          <p:cNvPr id="45" name="Text 43"/>
          <p:cNvSpPr/>
          <p:nvPr/>
        </p:nvSpPr>
        <p:spPr>
          <a:xfrm>
            <a:off x="6638544" y="5221224"/>
            <a:ext cx="3401568" cy="320040"/>
          </a:xfrm>
          <a:prstGeom prst="rect">
            <a:avLst/>
          </a:prstGeom>
          <a:noFill/>
          <a:ln/>
        </p:spPr>
        <p:txBody>
          <a:bodyPr wrap="square" lIns="508" tIns="508" rIns="508" bIns="508" rtlCol="0" anchor="t">
            <a:normAutofit/>
          </a:bodyPr>
          <a:lstStyle/>
          <a:p>
            <a:pPr indent="0" marL="0">
              <a:buNone/>
            </a:pPr>
            <a:r>
              <a:rPr lang="en-US" sz="750" dirty="0">
                <a:solidFill>
                  <a:srgbClr val="5E6B63"/>
                </a:solidFill>
                <a:latin typeface="Arial" pitchFamily="34" charset="0"/>
                <a:ea typeface="Arial" pitchFamily="34" charset="-122"/>
                <a:cs typeface="Arial" pitchFamily="34" charset="-120"/>
              </a:rPr>
              <a:t>PUMP_ON_DRY, PUMP_ON_ML_DRY_SOON, TELEGRAM_SENT, CSV_WRITE_OK, MODEL_LOADED.</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E"/>
        </a:solidFill>
      </p:bgPr>
    </p:bg>
    <p:spTree>
      <p:nvGrpSpPr>
        <p:cNvPr id="1" name=""/>
        <p:cNvGrpSpPr/>
        <p:nvPr/>
      </p:nvGrpSpPr>
      <p:grpSpPr>
        <a:xfrm>
          <a:off x="0" y="0"/>
          <a:ext cx="0" cy="0"/>
          <a:chOff x="0" y="0"/>
          <a:chExt cx="0" cy="0"/>
        </a:xfrm>
      </p:grpSpPr>
      <p:sp>
        <p:nvSpPr>
          <p:cNvPr id="2" name="Shape 0"/>
          <p:cNvSpPr/>
          <p:nvPr/>
        </p:nvSpPr>
        <p:spPr>
          <a:xfrm>
            <a:off x="502920" y="530352"/>
            <a:ext cx="320040" cy="0"/>
          </a:xfrm>
          <a:prstGeom prst="line">
            <a:avLst/>
          </a:prstGeom>
          <a:noFill/>
          <a:ln w="25400">
            <a:solidFill>
              <a:srgbClr val="1F6B4D"/>
            </a:solidFill>
            <a:prstDash val="solid"/>
          </a:ln>
        </p:spPr>
      </p:sp>
      <p:sp>
        <p:nvSpPr>
          <p:cNvPr id="3" name="Text 1"/>
          <p:cNvSpPr/>
          <p:nvPr/>
        </p:nvSpPr>
        <p:spPr>
          <a:xfrm>
            <a:off x="932688" y="420624"/>
            <a:ext cx="3840480" cy="228600"/>
          </a:xfrm>
          <a:prstGeom prst="rect">
            <a:avLst/>
          </a:prstGeom>
          <a:noFill/>
          <a:ln/>
        </p:spPr>
        <p:txBody>
          <a:bodyPr wrap="square" lIns="508" tIns="508" rIns="508" bIns="508" rtlCol="0" anchor="t">
            <a:normAutofit/>
          </a:bodyPr>
          <a:lstStyle/>
          <a:p>
            <a:pPr indent="0" marL="0">
              <a:buNone/>
            </a:pPr>
            <a:r>
              <a:rPr lang="en-US" sz="760" b="1" dirty="0">
                <a:solidFill>
                  <a:srgbClr val="1F6B4D"/>
                </a:solidFill>
                <a:latin typeface="Arial" pitchFamily="34" charset="0"/>
                <a:ea typeface="Arial" pitchFamily="34" charset="-122"/>
                <a:cs typeface="Arial" pitchFamily="34" charset="-120"/>
              </a:rPr>
              <a:t>DEMO PLAN</a:t>
            </a:r>
            <a:endParaRPr lang="en-US" sz="760" dirty="0"/>
          </a:p>
        </p:txBody>
      </p:sp>
      <p:sp>
        <p:nvSpPr>
          <p:cNvPr id="4" name="Text 2"/>
          <p:cNvSpPr/>
          <p:nvPr/>
        </p:nvSpPr>
        <p:spPr>
          <a:xfrm>
            <a:off x="502920" y="758952"/>
            <a:ext cx="9692640" cy="658368"/>
          </a:xfrm>
          <a:prstGeom prst="rect">
            <a:avLst/>
          </a:prstGeom>
          <a:noFill/>
          <a:ln/>
        </p:spPr>
        <p:txBody>
          <a:bodyPr wrap="square" lIns="508" tIns="508" rIns="508" bIns="508" rtlCol="0" anchor="t">
            <a:normAutofit/>
          </a:bodyPr>
          <a:lstStyle/>
          <a:p>
            <a:pPr indent="0" marL="0">
              <a:buNone/>
            </a:pPr>
            <a:r>
              <a:rPr lang="en-US" sz="2200" b="1" dirty="0">
                <a:solidFill>
                  <a:srgbClr val="14211C"/>
                </a:solidFill>
                <a:latin typeface="Georgia" pitchFamily="34" charset="0"/>
                <a:ea typeface="Georgia" pitchFamily="34" charset="-122"/>
                <a:cs typeface="Georgia" pitchFamily="34" charset="-120"/>
              </a:rPr>
              <a:t>A strong demo proves normal operation, abnormal states, and recovery.</a:t>
            </a:r>
            <a:endParaRPr lang="en-US" sz="2200" dirty="0"/>
          </a:p>
        </p:txBody>
      </p:sp>
      <p:sp>
        <p:nvSpPr>
          <p:cNvPr id="5" name="Shape 3"/>
          <p:cNvSpPr/>
          <p:nvPr/>
        </p:nvSpPr>
        <p:spPr>
          <a:xfrm>
            <a:off x="502920" y="6428232"/>
            <a:ext cx="10835640" cy="0"/>
          </a:xfrm>
          <a:prstGeom prst="line">
            <a:avLst/>
          </a:prstGeom>
          <a:noFill/>
          <a:ln w="6350">
            <a:solidFill>
              <a:srgbClr val="D8D2C4"/>
            </a:solidFill>
            <a:prstDash val="solid"/>
          </a:ln>
        </p:spPr>
      </p:sp>
      <p:sp>
        <p:nvSpPr>
          <p:cNvPr id="6" name="Text 4"/>
          <p:cNvSpPr/>
          <p:nvPr/>
        </p:nvSpPr>
        <p:spPr>
          <a:xfrm>
            <a:off x="502920" y="6510528"/>
            <a:ext cx="7680960" cy="164592"/>
          </a:xfrm>
          <a:prstGeom prst="rect">
            <a:avLst/>
          </a:prstGeom>
          <a:noFill/>
          <a:ln/>
        </p:spPr>
        <p:txBody>
          <a:bodyPr wrap="square" lIns="508" tIns="508" rIns="508" bIns="508" rtlCol="0" anchor="t">
            <a:normAutofit/>
          </a:bodyPr>
          <a:lstStyle/>
          <a:p>
            <a:pPr indent="0" marL="0">
              <a:buNone/>
            </a:pPr>
            <a:r>
              <a:rPr lang="en-US" sz="680" dirty="0">
                <a:solidFill>
                  <a:srgbClr val="5E6B63"/>
                </a:solidFill>
                <a:latin typeface="Arial" pitchFamily="34" charset="0"/>
                <a:ea typeface="Arial" pitchFamily="34" charset="-122"/>
                <a:cs typeface="Arial" pitchFamily="34" charset="-120"/>
              </a:rPr>
              <a:t>Source: project README, Student Guide, and SRTA3353 Project 2 criteria</a:t>
            </a:r>
            <a:endParaRPr lang="en-US" sz="680" dirty="0"/>
          </a:p>
        </p:txBody>
      </p:sp>
      <p:sp>
        <p:nvSpPr>
          <p:cNvPr id="7" name="Text 5"/>
          <p:cNvSpPr/>
          <p:nvPr/>
        </p:nvSpPr>
        <p:spPr>
          <a:xfrm>
            <a:off x="11064240" y="6510528"/>
            <a:ext cx="457200" cy="164592"/>
          </a:xfrm>
          <a:prstGeom prst="rect">
            <a:avLst/>
          </a:prstGeom>
          <a:noFill/>
          <a:ln/>
        </p:spPr>
        <p:txBody>
          <a:bodyPr wrap="square" lIns="508" tIns="508" rIns="508" bIns="508" rtlCol="0" anchor="t">
            <a:normAutofit/>
          </a:bodyPr>
          <a:lstStyle/>
          <a:p>
            <a:pPr indent="0" marL="0">
              <a:buNone/>
            </a:pPr>
            <a:r>
              <a:rPr lang="en-US" sz="680" b="1" dirty="0">
                <a:solidFill>
                  <a:srgbClr val="5E6B63"/>
                </a:solidFill>
                <a:latin typeface="Arial" pitchFamily="34" charset="0"/>
                <a:ea typeface="Arial" pitchFamily="34" charset="-122"/>
                <a:cs typeface="Arial" pitchFamily="34" charset="-120"/>
              </a:rPr>
              <a:t>11</a:t>
            </a:r>
            <a:endParaRPr lang="en-US" sz="680" dirty="0"/>
          </a:p>
        </p:txBody>
      </p:sp>
      <p:sp>
        <p:nvSpPr>
          <p:cNvPr id="8" name="Shape 6"/>
          <p:cNvSpPr/>
          <p:nvPr/>
        </p:nvSpPr>
        <p:spPr>
          <a:xfrm>
            <a:off x="594360" y="1627632"/>
            <a:ext cx="2057400" cy="512064"/>
          </a:xfrm>
          <a:prstGeom prst="rect">
            <a:avLst/>
          </a:prstGeom>
          <a:solidFill>
            <a:srgbClr val="10251D"/>
          </a:solidFill>
          <a:ln w="8890">
            <a:solidFill>
              <a:srgbClr val="D8D2C4"/>
            </a:solidFill>
            <a:prstDash val="solid"/>
          </a:ln>
        </p:spPr>
      </p:sp>
      <p:sp>
        <p:nvSpPr>
          <p:cNvPr id="9" name="Text 7"/>
          <p:cNvSpPr/>
          <p:nvPr/>
        </p:nvSpPr>
        <p:spPr>
          <a:xfrm>
            <a:off x="667512" y="1700784"/>
            <a:ext cx="1911096" cy="384048"/>
          </a:xfrm>
          <a:prstGeom prst="rect">
            <a:avLst/>
          </a:prstGeom>
          <a:noFill/>
          <a:ln/>
        </p:spPr>
        <p:txBody>
          <a:bodyPr wrap="square" lIns="508" tIns="508" rIns="508" bIns="508" rtlCol="0" anchor="t">
            <a:normAutofit/>
          </a:bodyPr>
          <a:lstStyle/>
          <a:p>
            <a:pPr indent="0" marL="0">
              <a:buNone/>
            </a:pPr>
            <a:r>
              <a:rPr lang="en-US" sz="770" b="1" dirty="0">
                <a:solidFill>
                  <a:srgbClr val="FFFFFF"/>
                </a:solidFill>
                <a:latin typeface="Arial" pitchFamily="34" charset="0"/>
                <a:ea typeface="Arial" pitchFamily="34" charset="-122"/>
                <a:cs typeface="Arial" pitchFamily="34" charset="-120"/>
              </a:rPr>
              <a:t>Demo scenario</a:t>
            </a:r>
            <a:endParaRPr lang="en-US" sz="770" dirty="0"/>
          </a:p>
        </p:txBody>
      </p:sp>
      <p:sp>
        <p:nvSpPr>
          <p:cNvPr id="10" name="Shape 8"/>
          <p:cNvSpPr/>
          <p:nvPr/>
        </p:nvSpPr>
        <p:spPr>
          <a:xfrm>
            <a:off x="2651760" y="1627632"/>
            <a:ext cx="3749040" cy="512064"/>
          </a:xfrm>
          <a:prstGeom prst="rect">
            <a:avLst/>
          </a:prstGeom>
          <a:solidFill>
            <a:srgbClr val="10251D"/>
          </a:solidFill>
          <a:ln w="8890">
            <a:solidFill>
              <a:srgbClr val="D8D2C4"/>
            </a:solidFill>
            <a:prstDash val="solid"/>
          </a:ln>
        </p:spPr>
      </p:sp>
      <p:sp>
        <p:nvSpPr>
          <p:cNvPr id="11" name="Text 9"/>
          <p:cNvSpPr/>
          <p:nvPr/>
        </p:nvSpPr>
        <p:spPr>
          <a:xfrm>
            <a:off x="2724912" y="1700784"/>
            <a:ext cx="3602736" cy="384048"/>
          </a:xfrm>
          <a:prstGeom prst="rect">
            <a:avLst/>
          </a:prstGeom>
          <a:noFill/>
          <a:ln/>
        </p:spPr>
        <p:txBody>
          <a:bodyPr wrap="square" lIns="508" tIns="508" rIns="508" bIns="508" rtlCol="0" anchor="t">
            <a:normAutofit/>
          </a:bodyPr>
          <a:lstStyle/>
          <a:p>
            <a:pPr indent="0" marL="0">
              <a:buNone/>
            </a:pPr>
            <a:r>
              <a:rPr lang="en-US" sz="770" b="1" dirty="0">
                <a:solidFill>
                  <a:srgbClr val="FFFFFF"/>
                </a:solidFill>
                <a:latin typeface="Arial" pitchFamily="34" charset="0"/>
                <a:ea typeface="Arial" pitchFamily="34" charset="-122"/>
                <a:cs typeface="Arial" pitchFamily="34" charset="-120"/>
              </a:rPr>
              <a:t>Action to show</a:t>
            </a:r>
            <a:endParaRPr lang="en-US" sz="770" dirty="0"/>
          </a:p>
        </p:txBody>
      </p:sp>
      <p:sp>
        <p:nvSpPr>
          <p:cNvPr id="12" name="Shape 10"/>
          <p:cNvSpPr/>
          <p:nvPr/>
        </p:nvSpPr>
        <p:spPr>
          <a:xfrm>
            <a:off x="6400800" y="1627632"/>
            <a:ext cx="3977640" cy="512064"/>
          </a:xfrm>
          <a:prstGeom prst="rect">
            <a:avLst/>
          </a:prstGeom>
          <a:solidFill>
            <a:srgbClr val="10251D"/>
          </a:solidFill>
          <a:ln w="8890">
            <a:solidFill>
              <a:srgbClr val="D8D2C4"/>
            </a:solidFill>
            <a:prstDash val="solid"/>
          </a:ln>
        </p:spPr>
      </p:sp>
      <p:sp>
        <p:nvSpPr>
          <p:cNvPr id="13" name="Text 11"/>
          <p:cNvSpPr/>
          <p:nvPr/>
        </p:nvSpPr>
        <p:spPr>
          <a:xfrm>
            <a:off x="6473952" y="1700784"/>
            <a:ext cx="3831336" cy="384048"/>
          </a:xfrm>
          <a:prstGeom prst="rect">
            <a:avLst/>
          </a:prstGeom>
          <a:noFill/>
          <a:ln/>
        </p:spPr>
        <p:txBody>
          <a:bodyPr wrap="square" lIns="508" tIns="508" rIns="508" bIns="508" rtlCol="0" anchor="t">
            <a:normAutofit/>
          </a:bodyPr>
          <a:lstStyle/>
          <a:p>
            <a:pPr indent="0" marL="0">
              <a:buNone/>
            </a:pPr>
            <a:r>
              <a:rPr lang="en-US" sz="770" b="1" dirty="0">
                <a:solidFill>
                  <a:srgbClr val="FFFFFF"/>
                </a:solidFill>
                <a:latin typeface="Arial" pitchFamily="34" charset="0"/>
                <a:ea typeface="Arial" pitchFamily="34" charset="-122"/>
                <a:cs typeface="Arial" pitchFamily="34" charset="-120"/>
              </a:rPr>
              <a:t>Expected evidence</a:t>
            </a:r>
            <a:endParaRPr lang="en-US" sz="770" dirty="0"/>
          </a:p>
        </p:txBody>
      </p:sp>
      <p:sp>
        <p:nvSpPr>
          <p:cNvPr id="14" name="Shape 12"/>
          <p:cNvSpPr/>
          <p:nvPr/>
        </p:nvSpPr>
        <p:spPr>
          <a:xfrm>
            <a:off x="594360" y="2139696"/>
            <a:ext cx="2057400" cy="512064"/>
          </a:xfrm>
          <a:prstGeom prst="rect">
            <a:avLst/>
          </a:prstGeom>
          <a:solidFill>
            <a:srgbClr val="FBFAF6"/>
          </a:solidFill>
          <a:ln w="8890">
            <a:solidFill>
              <a:srgbClr val="D8D2C4"/>
            </a:solidFill>
            <a:prstDash val="solid"/>
          </a:ln>
        </p:spPr>
      </p:sp>
      <p:sp>
        <p:nvSpPr>
          <p:cNvPr id="15" name="Text 13"/>
          <p:cNvSpPr/>
          <p:nvPr/>
        </p:nvSpPr>
        <p:spPr>
          <a:xfrm>
            <a:off x="667512" y="2212848"/>
            <a:ext cx="1911096" cy="384048"/>
          </a:xfrm>
          <a:prstGeom prst="rect">
            <a:avLst/>
          </a:prstGeom>
          <a:noFill/>
          <a:ln/>
        </p:spPr>
        <p:txBody>
          <a:bodyPr wrap="square" lIns="508" tIns="508" rIns="508" bIns="508" rtlCol="0" anchor="t">
            <a:normAutofit/>
          </a:bodyPr>
          <a:lstStyle/>
          <a:p>
            <a:pPr indent="0" marL="0">
              <a:buNone/>
            </a:pPr>
            <a:r>
              <a:rPr lang="en-US" sz="770" dirty="0">
                <a:solidFill>
                  <a:srgbClr val="14211C"/>
                </a:solidFill>
                <a:latin typeface="Arial" pitchFamily="34" charset="0"/>
                <a:ea typeface="Arial" pitchFamily="34" charset="-122"/>
                <a:cs typeface="Arial" pitchFamily="34" charset="-120"/>
              </a:rPr>
              <a:t>Normal / optimal soil</a:t>
            </a:r>
            <a:endParaRPr lang="en-US" sz="770" dirty="0"/>
          </a:p>
        </p:txBody>
      </p:sp>
      <p:sp>
        <p:nvSpPr>
          <p:cNvPr id="16" name="Shape 14"/>
          <p:cNvSpPr/>
          <p:nvPr/>
        </p:nvSpPr>
        <p:spPr>
          <a:xfrm>
            <a:off x="2651760" y="2139696"/>
            <a:ext cx="3749040" cy="512064"/>
          </a:xfrm>
          <a:prstGeom prst="rect">
            <a:avLst/>
          </a:prstGeom>
          <a:solidFill>
            <a:srgbClr val="FBFAF6"/>
          </a:solidFill>
          <a:ln w="8890">
            <a:solidFill>
              <a:srgbClr val="D8D2C4"/>
            </a:solidFill>
            <a:prstDash val="solid"/>
          </a:ln>
        </p:spPr>
      </p:sp>
      <p:sp>
        <p:nvSpPr>
          <p:cNvPr id="17" name="Text 15"/>
          <p:cNvSpPr/>
          <p:nvPr/>
        </p:nvSpPr>
        <p:spPr>
          <a:xfrm>
            <a:off x="2724912" y="2212848"/>
            <a:ext cx="3602736" cy="384048"/>
          </a:xfrm>
          <a:prstGeom prst="rect">
            <a:avLst/>
          </a:prstGeom>
          <a:noFill/>
          <a:ln/>
        </p:spPr>
        <p:txBody>
          <a:bodyPr wrap="square" lIns="508" tIns="508" rIns="508" bIns="508" rtlCol="0" anchor="t">
            <a:normAutofit/>
          </a:bodyPr>
          <a:lstStyle/>
          <a:p>
            <a:pPr indent="0" marL="0">
              <a:buNone/>
            </a:pPr>
            <a:r>
              <a:rPr lang="en-US" sz="770" dirty="0">
                <a:solidFill>
                  <a:srgbClr val="14211C"/>
                </a:solidFill>
                <a:latin typeface="Arial" pitchFamily="34" charset="0"/>
                <a:ea typeface="Arial" pitchFamily="34" charset="-122"/>
                <a:cs typeface="Arial" pitchFamily="34" charset="-120"/>
              </a:rPr>
              <a:t>Sensor in medium-moist soil</a:t>
            </a:r>
            <a:endParaRPr lang="en-US" sz="770" dirty="0"/>
          </a:p>
        </p:txBody>
      </p:sp>
      <p:sp>
        <p:nvSpPr>
          <p:cNvPr id="18" name="Shape 16"/>
          <p:cNvSpPr/>
          <p:nvPr/>
        </p:nvSpPr>
        <p:spPr>
          <a:xfrm>
            <a:off x="6400800" y="2139696"/>
            <a:ext cx="3977640" cy="512064"/>
          </a:xfrm>
          <a:prstGeom prst="rect">
            <a:avLst/>
          </a:prstGeom>
          <a:solidFill>
            <a:srgbClr val="FBFAF6"/>
          </a:solidFill>
          <a:ln w="8890">
            <a:solidFill>
              <a:srgbClr val="D8D2C4"/>
            </a:solidFill>
            <a:prstDash val="solid"/>
          </a:ln>
        </p:spPr>
      </p:sp>
      <p:sp>
        <p:nvSpPr>
          <p:cNvPr id="19" name="Text 17"/>
          <p:cNvSpPr/>
          <p:nvPr/>
        </p:nvSpPr>
        <p:spPr>
          <a:xfrm>
            <a:off x="6473952" y="2212848"/>
            <a:ext cx="3831336" cy="384048"/>
          </a:xfrm>
          <a:prstGeom prst="rect">
            <a:avLst/>
          </a:prstGeom>
          <a:noFill/>
          <a:ln/>
        </p:spPr>
        <p:txBody>
          <a:bodyPr wrap="square" lIns="508" tIns="508" rIns="508" bIns="508" rtlCol="0" anchor="t">
            <a:normAutofit/>
          </a:bodyPr>
          <a:lstStyle/>
          <a:p>
            <a:pPr indent="0" marL="0">
              <a:buNone/>
            </a:pPr>
            <a:r>
              <a:rPr lang="en-US" sz="770" dirty="0">
                <a:solidFill>
                  <a:srgbClr val="14211C"/>
                </a:solidFill>
                <a:latin typeface="Arial" pitchFamily="34" charset="0"/>
                <a:ea typeface="Arial" pitchFamily="34" charset="-122"/>
                <a:cs typeface="Arial" pitchFamily="34" charset="-120"/>
              </a:rPr>
              <a:t>Pump OFF, dashboard updates</a:t>
            </a:r>
            <a:endParaRPr lang="en-US" sz="770" dirty="0"/>
          </a:p>
        </p:txBody>
      </p:sp>
      <p:sp>
        <p:nvSpPr>
          <p:cNvPr id="20" name="Shape 18"/>
          <p:cNvSpPr/>
          <p:nvPr/>
        </p:nvSpPr>
        <p:spPr>
          <a:xfrm>
            <a:off x="594360" y="2651760"/>
            <a:ext cx="2057400" cy="512064"/>
          </a:xfrm>
          <a:prstGeom prst="rect">
            <a:avLst/>
          </a:prstGeom>
          <a:solidFill>
            <a:srgbClr val="FFFFFF"/>
          </a:solidFill>
          <a:ln w="8890">
            <a:solidFill>
              <a:srgbClr val="D8D2C4"/>
            </a:solidFill>
            <a:prstDash val="solid"/>
          </a:ln>
        </p:spPr>
      </p:sp>
      <p:sp>
        <p:nvSpPr>
          <p:cNvPr id="21" name="Text 19"/>
          <p:cNvSpPr/>
          <p:nvPr/>
        </p:nvSpPr>
        <p:spPr>
          <a:xfrm>
            <a:off x="667512" y="2724912"/>
            <a:ext cx="1911096" cy="384048"/>
          </a:xfrm>
          <a:prstGeom prst="rect">
            <a:avLst/>
          </a:prstGeom>
          <a:noFill/>
          <a:ln/>
        </p:spPr>
        <p:txBody>
          <a:bodyPr wrap="square" lIns="508" tIns="508" rIns="508" bIns="508" rtlCol="0" anchor="t">
            <a:normAutofit/>
          </a:bodyPr>
          <a:lstStyle/>
          <a:p>
            <a:pPr indent="0" marL="0">
              <a:buNone/>
            </a:pPr>
            <a:r>
              <a:rPr lang="en-US" sz="770" dirty="0">
                <a:solidFill>
                  <a:srgbClr val="14211C"/>
                </a:solidFill>
                <a:latin typeface="Arial" pitchFamily="34" charset="0"/>
                <a:ea typeface="Arial" pitchFamily="34" charset="-122"/>
                <a:cs typeface="Arial" pitchFamily="34" charset="-120"/>
              </a:rPr>
              <a:t>Dry soil</a:t>
            </a:r>
            <a:endParaRPr lang="en-US" sz="770" dirty="0"/>
          </a:p>
        </p:txBody>
      </p:sp>
      <p:sp>
        <p:nvSpPr>
          <p:cNvPr id="22" name="Shape 20"/>
          <p:cNvSpPr/>
          <p:nvPr/>
        </p:nvSpPr>
        <p:spPr>
          <a:xfrm>
            <a:off x="2651760" y="2651760"/>
            <a:ext cx="3749040" cy="512064"/>
          </a:xfrm>
          <a:prstGeom prst="rect">
            <a:avLst/>
          </a:prstGeom>
          <a:solidFill>
            <a:srgbClr val="FFFFFF"/>
          </a:solidFill>
          <a:ln w="8890">
            <a:solidFill>
              <a:srgbClr val="D8D2C4"/>
            </a:solidFill>
            <a:prstDash val="solid"/>
          </a:ln>
        </p:spPr>
      </p:sp>
      <p:sp>
        <p:nvSpPr>
          <p:cNvPr id="23" name="Text 21"/>
          <p:cNvSpPr/>
          <p:nvPr/>
        </p:nvSpPr>
        <p:spPr>
          <a:xfrm>
            <a:off x="2724912" y="2724912"/>
            <a:ext cx="3602736" cy="384048"/>
          </a:xfrm>
          <a:prstGeom prst="rect">
            <a:avLst/>
          </a:prstGeom>
          <a:noFill/>
          <a:ln/>
        </p:spPr>
        <p:txBody>
          <a:bodyPr wrap="square" lIns="508" tIns="508" rIns="508" bIns="508" rtlCol="0" anchor="t">
            <a:normAutofit/>
          </a:bodyPr>
          <a:lstStyle/>
          <a:p>
            <a:pPr indent="0" marL="0">
              <a:buNone/>
            </a:pPr>
            <a:r>
              <a:rPr lang="en-US" sz="770" dirty="0">
                <a:solidFill>
                  <a:srgbClr val="14211C"/>
                </a:solidFill>
                <a:latin typeface="Arial" pitchFamily="34" charset="0"/>
                <a:ea typeface="Arial" pitchFamily="34" charset="-122"/>
                <a:cs typeface="Arial" pitchFamily="34" charset="-120"/>
              </a:rPr>
              <a:t>Expose sensor to dry condition</a:t>
            </a:r>
            <a:endParaRPr lang="en-US" sz="770" dirty="0"/>
          </a:p>
        </p:txBody>
      </p:sp>
      <p:sp>
        <p:nvSpPr>
          <p:cNvPr id="24" name="Shape 22"/>
          <p:cNvSpPr/>
          <p:nvPr/>
        </p:nvSpPr>
        <p:spPr>
          <a:xfrm>
            <a:off x="6400800" y="2651760"/>
            <a:ext cx="3977640" cy="512064"/>
          </a:xfrm>
          <a:prstGeom prst="rect">
            <a:avLst/>
          </a:prstGeom>
          <a:solidFill>
            <a:srgbClr val="FFFFFF"/>
          </a:solidFill>
          <a:ln w="8890">
            <a:solidFill>
              <a:srgbClr val="D8D2C4"/>
            </a:solidFill>
            <a:prstDash val="solid"/>
          </a:ln>
        </p:spPr>
      </p:sp>
      <p:sp>
        <p:nvSpPr>
          <p:cNvPr id="25" name="Text 23"/>
          <p:cNvSpPr/>
          <p:nvPr/>
        </p:nvSpPr>
        <p:spPr>
          <a:xfrm>
            <a:off x="6473952" y="2724912"/>
            <a:ext cx="3831336" cy="384048"/>
          </a:xfrm>
          <a:prstGeom prst="rect">
            <a:avLst/>
          </a:prstGeom>
          <a:noFill/>
          <a:ln/>
        </p:spPr>
        <p:txBody>
          <a:bodyPr wrap="square" lIns="508" tIns="508" rIns="508" bIns="508" rtlCol="0" anchor="t">
            <a:normAutofit/>
          </a:bodyPr>
          <a:lstStyle/>
          <a:p>
            <a:pPr indent="0" marL="0">
              <a:buNone/>
            </a:pPr>
            <a:r>
              <a:rPr lang="en-US" sz="770" dirty="0">
                <a:solidFill>
                  <a:srgbClr val="14211C"/>
                </a:solidFill>
                <a:latin typeface="Arial" pitchFamily="34" charset="0"/>
                <a:ea typeface="Arial" pitchFamily="34" charset="-122"/>
                <a:cs typeface="Arial" pitchFamily="34" charset="-120"/>
              </a:rPr>
              <a:t>Pump ON, DRY alert</a:t>
            </a:r>
            <a:endParaRPr lang="en-US" sz="770" dirty="0"/>
          </a:p>
        </p:txBody>
      </p:sp>
      <p:sp>
        <p:nvSpPr>
          <p:cNvPr id="26" name="Shape 24"/>
          <p:cNvSpPr/>
          <p:nvPr/>
        </p:nvSpPr>
        <p:spPr>
          <a:xfrm>
            <a:off x="594360" y="3163824"/>
            <a:ext cx="2057400" cy="512064"/>
          </a:xfrm>
          <a:prstGeom prst="rect">
            <a:avLst/>
          </a:prstGeom>
          <a:solidFill>
            <a:srgbClr val="FBFAF6"/>
          </a:solidFill>
          <a:ln w="8890">
            <a:solidFill>
              <a:srgbClr val="D8D2C4"/>
            </a:solidFill>
            <a:prstDash val="solid"/>
          </a:ln>
        </p:spPr>
      </p:sp>
      <p:sp>
        <p:nvSpPr>
          <p:cNvPr id="27" name="Text 25"/>
          <p:cNvSpPr/>
          <p:nvPr/>
        </p:nvSpPr>
        <p:spPr>
          <a:xfrm>
            <a:off x="667512" y="3236976"/>
            <a:ext cx="1911096" cy="384048"/>
          </a:xfrm>
          <a:prstGeom prst="rect">
            <a:avLst/>
          </a:prstGeom>
          <a:noFill/>
          <a:ln/>
        </p:spPr>
        <p:txBody>
          <a:bodyPr wrap="square" lIns="508" tIns="508" rIns="508" bIns="508" rtlCol="0" anchor="t">
            <a:normAutofit/>
          </a:bodyPr>
          <a:lstStyle/>
          <a:p>
            <a:pPr indent="0" marL="0">
              <a:buNone/>
            </a:pPr>
            <a:r>
              <a:rPr lang="en-US" sz="770" dirty="0">
                <a:solidFill>
                  <a:srgbClr val="14211C"/>
                </a:solidFill>
                <a:latin typeface="Arial" pitchFamily="34" charset="0"/>
                <a:ea typeface="Arial" pitchFamily="34" charset="-122"/>
                <a:cs typeface="Arial" pitchFamily="34" charset="-120"/>
              </a:rPr>
              <a:t>Dry Soon</a:t>
            </a:r>
            <a:endParaRPr lang="en-US" sz="770" dirty="0"/>
          </a:p>
        </p:txBody>
      </p:sp>
      <p:sp>
        <p:nvSpPr>
          <p:cNvPr id="28" name="Shape 26"/>
          <p:cNvSpPr/>
          <p:nvPr/>
        </p:nvSpPr>
        <p:spPr>
          <a:xfrm>
            <a:off x="2651760" y="3163824"/>
            <a:ext cx="3749040" cy="512064"/>
          </a:xfrm>
          <a:prstGeom prst="rect">
            <a:avLst/>
          </a:prstGeom>
          <a:solidFill>
            <a:srgbClr val="FBFAF6"/>
          </a:solidFill>
          <a:ln w="8890">
            <a:solidFill>
              <a:srgbClr val="D8D2C4"/>
            </a:solidFill>
            <a:prstDash val="solid"/>
          </a:ln>
        </p:spPr>
      </p:sp>
      <p:sp>
        <p:nvSpPr>
          <p:cNvPr id="29" name="Text 27"/>
          <p:cNvSpPr/>
          <p:nvPr/>
        </p:nvSpPr>
        <p:spPr>
          <a:xfrm>
            <a:off x="2724912" y="3236976"/>
            <a:ext cx="3602736" cy="384048"/>
          </a:xfrm>
          <a:prstGeom prst="rect">
            <a:avLst/>
          </a:prstGeom>
          <a:noFill/>
          <a:ln/>
        </p:spPr>
        <p:txBody>
          <a:bodyPr wrap="square" lIns="508" tIns="508" rIns="508" bIns="508" rtlCol="0" anchor="t">
            <a:normAutofit/>
          </a:bodyPr>
          <a:lstStyle/>
          <a:p>
            <a:pPr indent="0" marL="0">
              <a:buNone/>
            </a:pPr>
            <a:r>
              <a:rPr lang="en-US" sz="770" dirty="0">
                <a:solidFill>
                  <a:srgbClr val="14211C"/>
                </a:solidFill>
                <a:latin typeface="Arial" pitchFamily="34" charset="0"/>
                <a:ea typeface="Arial" pitchFamily="34" charset="-122"/>
                <a:cs typeface="Arial" pitchFamily="34" charset="-120"/>
              </a:rPr>
              <a:t>Use warm/low humidity sample or model output</a:t>
            </a:r>
            <a:endParaRPr lang="en-US" sz="770" dirty="0"/>
          </a:p>
        </p:txBody>
      </p:sp>
      <p:sp>
        <p:nvSpPr>
          <p:cNvPr id="30" name="Shape 28"/>
          <p:cNvSpPr/>
          <p:nvPr/>
        </p:nvSpPr>
        <p:spPr>
          <a:xfrm>
            <a:off x="6400800" y="3163824"/>
            <a:ext cx="3977640" cy="512064"/>
          </a:xfrm>
          <a:prstGeom prst="rect">
            <a:avLst/>
          </a:prstGeom>
          <a:solidFill>
            <a:srgbClr val="FBFAF6"/>
          </a:solidFill>
          <a:ln w="8890">
            <a:solidFill>
              <a:srgbClr val="D8D2C4"/>
            </a:solidFill>
            <a:prstDash val="solid"/>
          </a:ln>
        </p:spPr>
      </p:sp>
      <p:sp>
        <p:nvSpPr>
          <p:cNvPr id="31" name="Text 29"/>
          <p:cNvSpPr/>
          <p:nvPr/>
        </p:nvSpPr>
        <p:spPr>
          <a:xfrm>
            <a:off x="6473952" y="3236976"/>
            <a:ext cx="3831336" cy="384048"/>
          </a:xfrm>
          <a:prstGeom prst="rect">
            <a:avLst/>
          </a:prstGeom>
          <a:noFill/>
          <a:ln/>
        </p:spPr>
        <p:txBody>
          <a:bodyPr wrap="square" lIns="508" tIns="508" rIns="508" bIns="508" rtlCol="0" anchor="t">
            <a:normAutofit/>
          </a:bodyPr>
          <a:lstStyle/>
          <a:p>
            <a:pPr indent="0" marL="0">
              <a:buNone/>
            </a:pPr>
            <a:r>
              <a:rPr lang="en-US" sz="770" dirty="0">
                <a:solidFill>
                  <a:srgbClr val="14211C"/>
                </a:solidFill>
                <a:latin typeface="Arial" pitchFamily="34" charset="0"/>
                <a:ea typeface="Arial" pitchFamily="34" charset="-122"/>
                <a:cs typeface="Arial" pitchFamily="34" charset="-120"/>
              </a:rPr>
              <a:t>Early warning, pump OFF in recommend mode</a:t>
            </a:r>
            <a:endParaRPr lang="en-US" sz="770" dirty="0"/>
          </a:p>
        </p:txBody>
      </p:sp>
      <p:sp>
        <p:nvSpPr>
          <p:cNvPr id="32" name="Shape 30"/>
          <p:cNvSpPr/>
          <p:nvPr/>
        </p:nvSpPr>
        <p:spPr>
          <a:xfrm>
            <a:off x="594360" y="3675888"/>
            <a:ext cx="2057400" cy="512064"/>
          </a:xfrm>
          <a:prstGeom prst="rect">
            <a:avLst/>
          </a:prstGeom>
          <a:solidFill>
            <a:srgbClr val="FFFFFF"/>
          </a:solidFill>
          <a:ln w="8890">
            <a:solidFill>
              <a:srgbClr val="D8D2C4"/>
            </a:solidFill>
            <a:prstDash val="solid"/>
          </a:ln>
        </p:spPr>
      </p:sp>
      <p:sp>
        <p:nvSpPr>
          <p:cNvPr id="33" name="Text 31"/>
          <p:cNvSpPr/>
          <p:nvPr/>
        </p:nvSpPr>
        <p:spPr>
          <a:xfrm>
            <a:off x="667512" y="3749040"/>
            <a:ext cx="1911096" cy="384048"/>
          </a:xfrm>
          <a:prstGeom prst="rect">
            <a:avLst/>
          </a:prstGeom>
          <a:noFill/>
          <a:ln/>
        </p:spPr>
        <p:txBody>
          <a:bodyPr wrap="square" lIns="508" tIns="508" rIns="508" bIns="508" rtlCol="0" anchor="t">
            <a:normAutofit/>
          </a:bodyPr>
          <a:lstStyle/>
          <a:p>
            <a:pPr indent="0" marL="0">
              <a:buNone/>
            </a:pPr>
            <a:r>
              <a:rPr lang="en-US" sz="770" dirty="0">
                <a:solidFill>
                  <a:srgbClr val="14211C"/>
                </a:solidFill>
                <a:latin typeface="Arial" pitchFamily="34" charset="0"/>
                <a:ea typeface="Arial" pitchFamily="34" charset="-122"/>
                <a:cs typeface="Arial" pitchFamily="34" charset="-120"/>
              </a:rPr>
              <a:t>Wet / overwatering</a:t>
            </a:r>
            <a:endParaRPr lang="en-US" sz="770" dirty="0"/>
          </a:p>
        </p:txBody>
      </p:sp>
      <p:sp>
        <p:nvSpPr>
          <p:cNvPr id="34" name="Shape 32"/>
          <p:cNvSpPr/>
          <p:nvPr/>
        </p:nvSpPr>
        <p:spPr>
          <a:xfrm>
            <a:off x="2651760" y="3675888"/>
            <a:ext cx="3749040" cy="512064"/>
          </a:xfrm>
          <a:prstGeom prst="rect">
            <a:avLst/>
          </a:prstGeom>
          <a:solidFill>
            <a:srgbClr val="FFFFFF"/>
          </a:solidFill>
          <a:ln w="8890">
            <a:solidFill>
              <a:srgbClr val="D8D2C4"/>
            </a:solidFill>
            <a:prstDash val="solid"/>
          </a:ln>
        </p:spPr>
      </p:sp>
      <p:sp>
        <p:nvSpPr>
          <p:cNvPr id="35" name="Text 33"/>
          <p:cNvSpPr/>
          <p:nvPr/>
        </p:nvSpPr>
        <p:spPr>
          <a:xfrm>
            <a:off x="2724912" y="3749040"/>
            <a:ext cx="3602736" cy="384048"/>
          </a:xfrm>
          <a:prstGeom prst="rect">
            <a:avLst/>
          </a:prstGeom>
          <a:noFill/>
          <a:ln/>
        </p:spPr>
        <p:txBody>
          <a:bodyPr wrap="square" lIns="508" tIns="508" rIns="508" bIns="508" rtlCol="0" anchor="t">
            <a:normAutofit/>
          </a:bodyPr>
          <a:lstStyle/>
          <a:p>
            <a:pPr indent="0" marL="0">
              <a:buNone/>
            </a:pPr>
            <a:r>
              <a:rPr lang="en-US" sz="770" dirty="0">
                <a:solidFill>
                  <a:srgbClr val="14211C"/>
                </a:solidFill>
                <a:latin typeface="Arial" pitchFamily="34" charset="0"/>
                <a:ea typeface="Arial" pitchFamily="34" charset="-122"/>
                <a:cs typeface="Arial" pitchFamily="34" charset="-120"/>
              </a:rPr>
              <a:t>Place sensor in very wet soil</a:t>
            </a:r>
            <a:endParaRPr lang="en-US" sz="770" dirty="0"/>
          </a:p>
        </p:txBody>
      </p:sp>
      <p:sp>
        <p:nvSpPr>
          <p:cNvPr id="36" name="Shape 34"/>
          <p:cNvSpPr/>
          <p:nvPr/>
        </p:nvSpPr>
        <p:spPr>
          <a:xfrm>
            <a:off x="6400800" y="3675888"/>
            <a:ext cx="3977640" cy="512064"/>
          </a:xfrm>
          <a:prstGeom prst="rect">
            <a:avLst/>
          </a:prstGeom>
          <a:solidFill>
            <a:srgbClr val="FFFFFF"/>
          </a:solidFill>
          <a:ln w="8890">
            <a:solidFill>
              <a:srgbClr val="D8D2C4"/>
            </a:solidFill>
            <a:prstDash val="solid"/>
          </a:ln>
        </p:spPr>
      </p:sp>
      <p:sp>
        <p:nvSpPr>
          <p:cNvPr id="37" name="Text 35"/>
          <p:cNvSpPr/>
          <p:nvPr/>
        </p:nvSpPr>
        <p:spPr>
          <a:xfrm>
            <a:off x="6473952" y="3749040"/>
            <a:ext cx="3831336" cy="384048"/>
          </a:xfrm>
          <a:prstGeom prst="rect">
            <a:avLst/>
          </a:prstGeom>
          <a:noFill/>
          <a:ln/>
        </p:spPr>
        <p:txBody>
          <a:bodyPr wrap="square" lIns="508" tIns="508" rIns="508" bIns="508" rtlCol="0" anchor="t">
            <a:normAutofit/>
          </a:bodyPr>
          <a:lstStyle/>
          <a:p>
            <a:pPr indent="0" marL="0">
              <a:buNone/>
            </a:pPr>
            <a:r>
              <a:rPr lang="en-US" sz="770" dirty="0">
                <a:solidFill>
                  <a:srgbClr val="14211C"/>
                </a:solidFill>
                <a:latin typeface="Arial" pitchFamily="34" charset="0"/>
                <a:ea typeface="Arial" pitchFamily="34" charset="-122"/>
                <a:cs typeface="Arial" pitchFamily="34" charset="-120"/>
              </a:rPr>
              <a:t>Pump OFF, WET alert</a:t>
            </a:r>
            <a:endParaRPr lang="en-US" sz="770" dirty="0"/>
          </a:p>
        </p:txBody>
      </p:sp>
      <p:sp>
        <p:nvSpPr>
          <p:cNvPr id="38" name="Shape 36"/>
          <p:cNvSpPr/>
          <p:nvPr/>
        </p:nvSpPr>
        <p:spPr>
          <a:xfrm>
            <a:off x="594360" y="4187952"/>
            <a:ext cx="2057400" cy="512064"/>
          </a:xfrm>
          <a:prstGeom prst="rect">
            <a:avLst/>
          </a:prstGeom>
          <a:solidFill>
            <a:srgbClr val="FBFAF6"/>
          </a:solidFill>
          <a:ln w="8890">
            <a:solidFill>
              <a:srgbClr val="D8D2C4"/>
            </a:solidFill>
            <a:prstDash val="solid"/>
          </a:ln>
        </p:spPr>
      </p:sp>
      <p:sp>
        <p:nvSpPr>
          <p:cNvPr id="39" name="Text 37"/>
          <p:cNvSpPr/>
          <p:nvPr/>
        </p:nvSpPr>
        <p:spPr>
          <a:xfrm>
            <a:off x="667512" y="4261104"/>
            <a:ext cx="1911096" cy="384048"/>
          </a:xfrm>
          <a:prstGeom prst="rect">
            <a:avLst/>
          </a:prstGeom>
          <a:noFill/>
          <a:ln/>
        </p:spPr>
        <p:txBody>
          <a:bodyPr wrap="square" lIns="508" tIns="508" rIns="508" bIns="508" rtlCol="0" anchor="t">
            <a:normAutofit/>
          </a:bodyPr>
          <a:lstStyle/>
          <a:p>
            <a:pPr indent="0" marL="0">
              <a:buNone/>
            </a:pPr>
            <a:r>
              <a:rPr lang="en-US" sz="770" dirty="0">
                <a:solidFill>
                  <a:srgbClr val="14211C"/>
                </a:solidFill>
                <a:latin typeface="Arial" pitchFamily="34" charset="0"/>
                <a:ea typeface="Arial" pitchFamily="34" charset="-122"/>
                <a:cs typeface="Arial" pitchFamily="34" charset="-120"/>
              </a:rPr>
              <a:t>Hardware fault</a:t>
            </a:r>
            <a:endParaRPr lang="en-US" sz="770" dirty="0"/>
          </a:p>
        </p:txBody>
      </p:sp>
      <p:sp>
        <p:nvSpPr>
          <p:cNvPr id="40" name="Shape 38"/>
          <p:cNvSpPr/>
          <p:nvPr/>
        </p:nvSpPr>
        <p:spPr>
          <a:xfrm>
            <a:off x="2651760" y="4187952"/>
            <a:ext cx="3749040" cy="512064"/>
          </a:xfrm>
          <a:prstGeom prst="rect">
            <a:avLst/>
          </a:prstGeom>
          <a:solidFill>
            <a:srgbClr val="FBFAF6"/>
          </a:solidFill>
          <a:ln w="8890">
            <a:solidFill>
              <a:srgbClr val="D8D2C4"/>
            </a:solidFill>
            <a:prstDash val="solid"/>
          </a:ln>
        </p:spPr>
      </p:sp>
      <p:sp>
        <p:nvSpPr>
          <p:cNvPr id="41" name="Text 39"/>
          <p:cNvSpPr/>
          <p:nvPr/>
        </p:nvSpPr>
        <p:spPr>
          <a:xfrm>
            <a:off x="2724912" y="4261104"/>
            <a:ext cx="3602736" cy="384048"/>
          </a:xfrm>
          <a:prstGeom prst="rect">
            <a:avLst/>
          </a:prstGeom>
          <a:noFill/>
          <a:ln/>
        </p:spPr>
        <p:txBody>
          <a:bodyPr wrap="square" lIns="508" tIns="508" rIns="508" bIns="508" rtlCol="0" anchor="t">
            <a:normAutofit/>
          </a:bodyPr>
          <a:lstStyle/>
          <a:p>
            <a:pPr indent="0" marL="0">
              <a:buNone/>
            </a:pPr>
            <a:r>
              <a:rPr lang="en-US" sz="770" dirty="0">
                <a:solidFill>
                  <a:srgbClr val="14211C"/>
                </a:solidFill>
                <a:latin typeface="Arial" pitchFamily="34" charset="0"/>
                <a:ea typeface="Arial" pitchFamily="34" charset="-122"/>
                <a:cs typeface="Arial" pitchFamily="34" charset="-120"/>
              </a:rPr>
              <a:t>Disconnect DHT11 briefly</a:t>
            </a:r>
            <a:endParaRPr lang="en-US" sz="770" dirty="0"/>
          </a:p>
        </p:txBody>
      </p:sp>
      <p:sp>
        <p:nvSpPr>
          <p:cNvPr id="42" name="Shape 40"/>
          <p:cNvSpPr/>
          <p:nvPr/>
        </p:nvSpPr>
        <p:spPr>
          <a:xfrm>
            <a:off x="6400800" y="4187952"/>
            <a:ext cx="3977640" cy="512064"/>
          </a:xfrm>
          <a:prstGeom prst="rect">
            <a:avLst/>
          </a:prstGeom>
          <a:solidFill>
            <a:srgbClr val="FBFAF6"/>
          </a:solidFill>
          <a:ln w="8890">
            <a:solidFill>
              <a:srgbClr val="D8D2C4"/>
            </a:solidFill>
            <a:prstDash val="solid"/>
          </a:ln>
        </p:spPr>
      </p:sp>
      <p:sp>
        <p:nvSpPr>
          <p:cNvPr id="43" name="Text 41"/>
          <p:cNvSpPr/>
          <p:nvPr/>
        </p:nvSpPr>
        <p:spPr>
          <a:xfrm>
            <a:off x="6473952" y="4261104"/>
            <a:ext cx="3831336" cy="384048"/>
          </a:xfrm>
          <a:prstGeom prst="rect">
            <a:avLst/>
          </a:prstGeom>
          <a:noFill/>
          <a:ln/>
        </p:spPr>
        <p:txBody>
          <a:bodyPr wrap="square" lIns="508" tIns="508" rIns="508" bIns="508" rtlCol="0" anchor="t">
            <a:normAutofit/>
          </a:bodyPr>
          <a:lstStyle/>
          <a:p>
            <a:pPr indent="0" marL="0">
              <a:buNone/>
            </a:pPr>
            <a:r>
              <a:rPr lang="en-US" sz="770" dirty="0">
                <a:solidFill>
                  <a:srgbClr val="14211C"/>
                </a:solidFill>
                <a:latin typeface="Arial" pitchFamily="34" charset="0"/>
                <a:ea typeface="Arial" pitchFamily="34" charset="-122"/>
                <a:cs typeface="Arial" pitchFamily="34" charset="-120"/>
              </a:rPr>
              <a:t>ML Unknown + DHT Missing alert</a:t>
            </a:r>
            <a:endParaRPr lang="en-US" sz="770" dirty="0"/>
          </a:p>
        </p:txBody>
      </p:sp>
      <p:sp>
        <p:nvSpPr>
          <p:cNvPr id="44" name="Shape 42"/>
          <p:cNvSpPr/>
          <p:nvPr/>
        </p:nvSpPr>
        <p:spPr>
          <a:xfrm>
            <a:off x="914400" y="5029200"/>
            <a:ext cx="4572000" cy="685800"/>
          </a:xfrm>
          <a:prstGeom prst="roundRect">
            <a:avLst>
              <a:gd name="adj" fmla="val 10667"/>
            </a:avLst>
          </a:prstGeom>
          <a:solidFill>
            <a:srgbClr val="FFFFFF"/>
          </a:solidFill>
          <a:ln w="8890">
            <a:solidFill>
              <a:srgbClr val="D8D2C4"/>
            </a:solidFill>
            <a:prstDash val="solid"/>
          </a:ln>
        </p:spPr>
      </p:sp>
      <p:sp>
        <p:nvSpPr>
          <p:cNvPr id="45" name="Shape 43"/>
          <p:cNvSpPr/>
          <p:nvPr/>
        </p:nvSpPr>
        <p:spPr>
          <a:xfrm>
            <a:off x="914400" y="5029200"/>
            <a:ext cx="64008" cy="685800"/>
          </a:xfrm>
          <a:prstGeom prst="rect">
            <a:avLst/>
          </a:prstGeom>
          <a:solidFill>
            <a:srgbClr val="1F6B4D"/>
          </a:solidFill>
          <a:ln w="12700">
            <a:solidFill>
              <a:srgbClr val="1F6B4D"/>
            </a:solidFill>
            <a:prstDash val="solid"/>
          </a:ln>
        </p:spPr>
      </p:sp>
      <p:sp>
        <p:nvSpPr>
          <p:cNvPr id="46" name="Text 44"/>
          <p:cNvSpPr/>
          <p:nvPr/>
        </p:nvSpPr>
        <p:spPr>
          <a:xfrm>
            <a:off x="1060704" y="5157216"/>
            <a:ext cx="4315968" cy="201168"/>
          </a:xfrm>
          <a:prstGeom prst="rect">
            <a:avLst/>
          </a:prstGeom>
          <a:noFill/>
          <a:ln/>
        </p:spPr>
        <p:txBody>
          <a:bodyPr wrap="square" lIns="508" tIns="508" rIns="508" bIns="508" rtlCol="0" anchor="t">
            <a:normAutofit/>
          </a:bodyPr>
          <a:lstStyle/>
          <a:p>
            <a:pPr indent="0" marL="0">
              <a:buNone/>
            </a:pPr>
            <a:r>
              <a:rPr lang="en-US" sz="950" b="1" dirty="0">
                <a:solidFill>
                  <a:srgbClr val="14211C"/>
                </a:solidFill>
                <a:latin typeface="Arial" pitchFamily="34" charset="0"/>
                <a:ea typeface="Arial" pitchFamily="34" charset="-122"/>
                <a:cs typeface="Arial" pitchFamily="34" charset="-120"/>
              </a:rPr>
              <a:t>Lecturer demo interval</a:t>
            </a:r>
            <a:endParaRPr lang="en-US" sz="950" dirty="0"/>
          </a:p>
        </p:txBody>
      </p:sp>
      <p:sp>
        <p:nvSpPr>
          <p:cNvPr id="47" name="Text 45"/>
          <p:cNvSpPr/>
          <p:nvPr/>
        </p:nvSpPr>
        <p:spPr>
          <a:xfrm>
            <a:off x="1060704" y="5422392"/>
            <a:ext cx="4315968" cy="228600"/>
          </a:xfrm>
          <a:prstGeom prst="rect">
            <a:avLst/>
          </a:prstGeom>
          <a:noFill/>
          <a:ln/>
        </p:spPr>
        <p:txBody>
          <a:bodyPr wrap="square" lIns="508" tIns="508" rIns="508" bIns="508" rtlCol="0" anchor="t">
            <a:normAutofit/>
          </a:bodyPr>
          <a:lstStyle/>
          <a:p>
            <a:pPr indent="0" marL="0">
              <a:buNone/>
            </a:pPr>
            <a:r>
              <a:rPr lang="en-US" sz="750" dirty="0">
                <a:solidFill>
                  <a:srgbClr val="5E6B63"/>
                </a:solidFill>
                <a:latin typeface="Arial" pitchFamily="34" charset="0"/>
                <a:ea typeface="Arial" pitchFamily="34" charset="-122"/>
                <a:cs typeface="Arial" pitchFamily="34" charset="-120"/>
              </a:rPr>
              <a:t>READ_INTERVAL_SECONDS=10, NOTIFICATION_COOLDOWN_SECONDS=60, STREAMLIT_REFRESH_SECONDS=10.</a:t>
            </a:r>
            <a:endParaRPr lang="en-US" sz="750" dirty="0"/>
          </a:p>
        </p:txBody>
      </p:sp>
      <p:sp>
        <p:nvSpPr>
          <p:cNvPr id="48" name="Shape 46"/>
          <p:cNvSpPr/>
          <p:nvPr/>
        </p:nvSpPr>
        <p:spPr>
          <a:xfrm>
            <a:off x="6583680" y="5029200"/>
            <a:ext cx="3657600" cy="685800"/>
          </a:xfrm>
          <a:prstGeom prst="roundRect">
            <a:avLst>
              <a:gd name="adj" fmla="val 10667"/>
            </a:avLst>
          </a:prstGeom>
          <a:solidFill>
            <a:srgbClr val="FFFFFF"/>
          </a:solidFill>
          <a:ln w="8890">
            <a:solidFill>
              <a:srgbClr val="D8D2C4"/>
            </a:solidFill>
            <a:prstDash val="solid"/>
          </a:ln>
        </p:spPr>
      </p:sp>
      <p:sp>
        <p:nvSpPr>
          <p:cNvPr id="49" name="Shape 47"/>
          <p:cNvSpPr/>
          <p:nvPr/>
        </p:nvSpPr>
        <p:spPr>
          <a:xfrm>
            <a:off x="6583680" y="5029200"/>
            <a:ext cx="64008" cy="685800"/>
          </a:xfrm>
          <a:prstGeom prst="rect">
            <a:avLst/>
          </a:prstGeom>
          <a:solidFill>
            <a:srgbClr val="256A7B"/>
          </a:solidFill>
          <a:ln w="12700">
            <a:solidFill>
              <a:srgbClr val="256A7B"/>
            </a:solidFill>
            <a:prstDash val="solid"/>
          </a:ln>
        </p:spPr>
      </p:sp>
      <p:sp>
        <p:nvSpPr>
          <p:cNvPr id="50" name="Text 48"/>
          <p:cNvSpPr/>
          <p:nvPr/>
        </p:nvSpPr>
        <p:spPr>
          <a:xfrm>
            <a:off x="6729984" y="5157216"/>
            <a:ext cx="3401568" cy="201168"/>
          </a:xfrm>
          <a:prstGeom prst="rect">
            <a:avLst/>
          </a:prstGeom>
          <a:noFill/>
          <a:ln/>
        </p:spPr>
        <p:txBody>
          <a:bodyPr wrap="square" lIns="508" tIns="508" rIns="508" bIns="508" rtlCol="0" anchor="t">
            <a:normAutofit/>
          </a:bodyPr>
          <a:lstStyle/>
          <a:p>
            <a:pPr indent="0" marL="0">
              <a:buNone/>
            </a:pPr>
            <a:r>
              <a:rPr lang="en-US" sz="950" b="1" dirty="0">
                <a:solidFill>
                  <a:srgbClr val="14211C"/>
                </a:solidFill>
                <a:latin typeface="Arial" pitchFamily="34" charset="0"/>
                <a:ea typeface="Arial" pitchFamily="34" charset="-122"/>
                <a:cs typeface="Arial" pitchFamily="34" charset="-120"/>
              </a:rPr>
              <a:t>Normal collection</a:t>
            </a:r>
            <a:endParaRPr lang="en-US" sz="950" dirty="0"/>
          </a:p>
        </p:txBody>
      </p:sp>
      <p:sp>
        <p:nvSpPr>
          <p:cNvPr id="51" name="Text 49"/>
          <p:cNvSpPr/>
          <p:nvPr/>
        </p:nvSpPr>
        <p:spPr>
          <a:xfrm>
            <a:off x="6729984" y="5422392"/>
            <a:ext cx="3401568" cy="228600"/>
          </a:xfrm>
          <a:prstGeom prst="rect">
            <a:avLst/>
          </a:prstGeom>
          <a:noFill/>
          <a:ln/>
        </p:spPr>
        <p:txBody>
          <a:bodyPr wrap="square" lIns="508" tIns="508" rIns="508" bIns="508" rtlCol="0" anchor="t">
            <a:normAutofit/>
          </a:bodyPr>
          <a:lstStyle/>
          <a:p>
            <a:pPr indent="0" marL="0">
              <a:buNone/>
            </a:pPr>
            <a:r>
              <a:rPr lang="en-US" sz="750" dirty="0">
                <a:solidFill>
                  <a:srgbClr val="5E6B63"/>
                </a:solidFill>
                <a:latin typeface="Arial" pitchFamily="34" charset="0"/>
                <a:ea typeface="Arial" pitchFamily="34" charset="-122"/>
                <a:cs typeface="Arial" pitchFamily="34" charset="-120"/>
              </a:rPr>
              <a:t>READ_INTERVAL_SECONDS=600, NOTIFICATION_COOLDOWN_SECONDS=1800.</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EE"/>
        </a:solidFill>
      </p:bgPr>
    </p:bg>
    <p:spTree>
      <p:nvGrpSpPr>
        <p:cNvPr id="1" name=""/>
        <p:cNvGrpSpPr/>
        <p:nvPr/>
      </p:nvGrpSpPr>
      <p:grpSpPr>
        <a:xfrm>
          <a:off x="0" y="0"/>
          <a:ext cx="0" cy="0"/>
          <a:chOff x="0" y="0"/>
          <a:chExt cx="0" cy="0"/>
        </a:xfrm>
      </p:grpSpPr>
      <p:sp>
        <p:nvSpPr>
          <p:cNvPr id="2" name="Shape 0"/>
          <p:cNvSpPr/>
          <p:nvPr/>
        </p:nvSpPr>
        <p:spPr>
          <a:xfrm>
            <a:off x="502920" y="530352"/>
            <a:ext cx="320040" cy="0"/>
          </a:xfrm>
          <a:prstGeom prst="line">
            <a:avLst/>
          </a:prstGeom>
          <a:noFill/>
          <a:ln w="25400">
            <a:solidFill>
              <a:srgbClr val="1F6B4D"/>
            </a:solidFill>
            <a:prstDash val="solid"/>
          </a:ln>
        </p:spPr>
      </p:sp>
      <p:sp>
        <p:nvSpPr>
          <p:cNvPr id="3" name="Text 1"/>
          <p:cNvSpPr/>
          <p:nvPr/>
        </p:nvSpPr>
        <p:spPr>
          <a:xfrm>
            <a:off x="932688" y="420624"/>
            <a:ext cx="3840480" cy="228600"/>
          </a:xfrm>
          <a:prstGeom prst="rect">
            <a:avLst/>
          </a:prstGeom>
          <a:noFill/>
          <a:ln/>
        </p:spPr>
        <p:txBody>
          <a:bodyPr wrap="square" lIns="508" tIns="508" rIns="508" bIns="508" rtlCol="0" anchor="t">
            <a:normAutofit/>
          </a:bodyPr>
          <a:lstStyle/>
          <a:p>
            <a:pPr indent="0" marL="0">
              <a:buNone/>
            </a:pPr>
            <a:r>
              <a:rPr lang="en-US" sz="760" b="1" dirty="0">
                <a:solidFill>
                  <a:srgbClr val="1F6B4D"/>
                </a:solidFill>
                <a:latin typeface="Arial" pitchFamily="34" charset="0"/>
                <a:ea typeface="Arial" pitchFamily="34" charset="-122"/>
                <a:cs typeface="Arial" pitchFamily="34" charset="-120"/>
              </a:rPr>
              <a:t>SUBMISSION EVIDENCE</a:t>
            </a:r>
            <a:endParaRPr lang="en-US" sz="760" dirty="0"/>
          </a:p>
        </p:txBody>
      </p:sp>
      <p:sp>
        <p:nvSpPr>
          <p:cNvPr id="4" name="Text 2"/>
          <p:cNvSpPr/>
          <p:nvPr/>
        </p:nvSpPr>
        <p:spPr>
          <a:xfrm>
            <a:off x="502920" y="758952"/>
            <a:ext cx="9692640" cy="658368"/>
          </a:xfrm>
          <a:prstGeom prst="rect">
            <a:avLst/>
          </a:prstGeom>
          <a:noFill/>
          <a:ln/>
        </p:spPr>
        <p:txBody>
          <a:bodyPr wrap="square" lIns="508" tIns="508" rIns="508" bIns="508" rtlCol="0" anchor="t">
            <a:normAutofit/>
          </a:bodyPr>
          <a:lstStyle/>
          <a:p>
            <a:pPr indent="0" marL="0">
              <a:buNone/>
            </a:pPr>
            <a:r>
              <a:rPr lang="en-US" sz="2200" b="1" dirty="0">
                <a:solidFill>
                  <a:srgbClr val="14211C"/>
                </a:solidFill>
                <a:latin typeface="Georgia" pitchFamily="34" charset="0"/>
                <a:ea typeface="Georgia" pitchFamily="34" charset="-122"/>
                <a:cs typeface="Georgia" pitchFamily="34" charset="-120"/>
              </a:rPr>
              <a:t>The final story should show working hardware plus clear individual contribution.</a:t>
            </a:r>
            <a:endParaRPr lang="en-US" sz="2200" dirty="0"/>
          </a:p>
        </p:txBody>
      </p:sp>
      <p:sp>
        <p:nvSpPr>
          <p:cNvPr id="5" name="Shape 3"/>
          <p:cNvSpPr/>
          <p:nvPr/>
        </p:nvSpPr>
        <p:spPr>
          <a:xfrm>
            <a:off x="502920" y="6428232"/>
            <a:ext cx="10835640" cy="0"/>
          </a:xfrm>
          <a:prstGeom prst="line">
            <a:avLst/>
          </a:prstGeom>
          <a:noFill/>
          <a:ln w="6350">
            <a:solidFill>
              <a:srgbClr val="D8D2C4"/>
            </a:solidFill>
            <a:prstDash val="solid"/>
          </a:ln>
        </p:spPr>
      </p:sp>
      <p:sp>
        <p:nvSpPr>
          <p:cNvPr id="6" name="Text 4"/>
          <p:cNvSpPr/>
          <p:nvPr/>
        </p:nvSpPr>
        <p:spPr>
          <a:xfrm>
            <a:off x="502920" y="6510528"/>
            <a:ext cx="7680960" cy="164592"/>
          </a:xfrm>
          <a:prstGeom prst="rect">
            <a:avLst/>
          </a:prstGeom>
          <a:noFill/>
          <a:ln/>
        </p:spPr>
        <p:txBody>
          <a:bodyPr wrap="square" lIns="508" tIns="508" rIns="508" bIns="508" rtlCol="0" anchor="t">
            <a:normAutofit/>
          </a:bodyPr>
          <a:lstStyle/>
          <a:p>
            <a:pPr indent="0" marL="0">
              <a:buNone/>
            </a:pPr>
            <a:r>
              <a:rPr lang="en-US" sz="680" dirty="0">
                <a:solidFill>
                  <a:srgbClr val="5E6B63"/>
                </a:solidFill>
                <a:latin typeface="Arial" pitchFamily="34" charset="0"/>
                <a:ea typeface="Arial" pitchFamily="34" charset="-122"/>
                <a:cs typeface="Arial" pitchFamily="34" charset="-120"/>
              </a:rPr>
              <a:t>Source: project README, Student Guide, and SRTA3353 Project 2 criteria</a:t>
            </a:r>
            <a:endParaRPr lang="en-US" sz="680" dirty="0"/>
          </a:p>
        </p:txBody>
      </p:sp>
      <p:sp>
        <p:nvSpPr>
          <p:cNvPr id="7" name="Text 5"/>
          <p:cNvSpPr/>
          <p:nvPr/>
        </p:nvSpPr>
        <p:spPr>
          <a:xfrm>
            <a:off x="11064240" y="6510528"/>
            <a:ext cx="457200" cy="164592"/>
          </a:xfrm>
          <a:prstGeom prst="rect">
            <a:avLst/>
          </a:prstGeom>
          <a:noFill/>
          <a:ln/>
        </p:spPr>
        <p:txBody>
          <a:bodyPr wrap="square" lIns="508" tIns="508" rIns="508" bIns="508" rtlCol="0" anchor="t">
            <a:normAutofit/>
          </a:bodyPr>
          <a:lstStyle/>
          <a:p>
            <a:pPr indent="0" marL="0">
              <a:buNone/>
            </a:pPr>
            <a:r>
              <a:rPr lang="en-US" sz="680" b="1" dirty="0">
                <a:solidFill>
                  <a:srgbClr val="5E6B63"/>
                </a:solidFill>
                <a:latin typeface="Arial" pitchFamily="34" charset="0"/>
                <a:ea typeface="Arial" pitchFamily="34" charset="-122"/>
                <a:cs typeface="Arial" pitchFamily="34" charset="-120"/>
              </a:rPr>
              <a:t>12</a:t>
            </a:r>
            <a:endParaRPr lang="en-US" sz="680" dirty="0"/>
          </a:p>
        </p:txBody>
      </p:sp>
      <p:sp>
        <p:nvSpPr>
          <p:cNvPr id="8" name="Shape 6"/>
          <p:cNvSpPr/>
          <p:nvPr/>
        </p:nvSpPr>
        <p:spPr>
          <a:xfrm>
            <a:off x="594360" y="1682496"/>
            <a:ext cx="2560320" cy="530352"/>
          </a:xfrm>
          <a:prstGeom prst="rect">
            <a:avLst/>
          </a:prstGeom>
          <a:solidFill>
            <a:srgbClr val="10251D"/>
          </a:solidFill>
          <a:ln w="8890">
            <a:solidFill>
              <a:srgbClr val="D8D2C4"/>
            </a:solidFill>
            <a:prstDash val="solid"/>
          </a:ln>
        </p:spPr>
      </p:sp>
      <p:sp>
        <p:nvSpPr>
          <p:cNvPr id="9" name="Text 7"/>
          <p:cNvSpPr/>
          <p:nvPr/>
        </p:nvSpPr>
        <p:spPr>
          <a:xfrm>
            <a:off x="667512" y="1755648"/>
            <a:ext cx="2414016" cy="402336"/>
          </a:xfrm>
          <a:prstGeom prst="rect">
            <a:avLst/>
          </a:prstGeom>
          <a:noFill/>
          <a:ln/>
        </p:spPr>
        <p:txBody>
          <a:bodyPr wrap="square" lIns="508" tIns="508" rIns="508" bIns="508" rtlCol="0" anchor="t">
            <a:normAutofit/>
          </a:bodyPr>
          <a:lstStyle/>
          <a:p>
            <a:pPr indent="0" marL="0">
              <a:buNone/>
            </a:pPr>
            <a:r>
              <a:rPr lang="en-US" sz="800" b="1" dirty="0">
                <a:solidFill>
                  <a:srgbClr val="FFFFFF"/>
                </a:solidFill>
                <a:latin typeface="Arial" pitchFamily="34" charset="0"/>
                <a:ea typeface="Arial" pitchFamily="34" charset="-122"/>
                <a:cs typeface="Arial" pitchFamily="34" charset="-120"/>
              </a:rPr>
              <a:t>Marking area</a:t>
            </a:r>
            <a:endParaRPr lang="en-US" sz="800" dirty="0"/>
          </a:p>
        </p:txBody>
      </p:sp>
      <p:sp>
        <p:nvSpPr>
          <p:cNvPr id="10" name="Shape 8"/>
          <p:cNvSpPr/>
          <p:nvPr/>
        </p:nvSpPr>
        <p:spPr>
          <a:xfrm>
            <a:off x="3154680" y="1682496"/>
            <a:ext cx="7132320" cy="530352"/>
          </a:xfrm>
          <a:prstGeom prst="rect">
            <a:avLst/>
          </a:prstGeom>
          <a:solidFill>
            <a:srgbClr val="10251D"/>
          </a:solidFill>
          <a:ln w="8890">
            <a:solidFill>
              <a:srgbClr val="D8D2C4"/>
            </a:solidFill>
            <a:prstDash val="solid"/>
          </a:ln>
        </p:spPr>
      </p:sp>
      <p:sp>
        <p:nvSpPr>
          <p:cNvPr id="11" name="Text 9"/>
          <p:cNvSpPr/>
          <p:nvPr/>
        </p:nvSpPr>
        <p:spPr>
          <a:xfrm>
            <a:off x="3227832" y="1755648"/>
            <a:ext cx="6986016" cy="402336"/>
          </a:xfrm>
          <a:prstGeom prst="rect">
            <a:avLst/>
          </a:prstGeom>
          <a:noFill/>
          <a:ln/>
        </p:spPr>
        <p:txBody>
          <a:bodyPr wrap="square" lIns="508" tIns="508" rIns="508" bIns="508" rtlCol="0" anchor="t">
            <a:normAutofit/>
          </a:bodyPr>
          <a:lstStyle/>
          <a:p>
            <a:pPr indent="0" marL="0">
              <a:buNone/>
            </a:pPr>
            <a:r>
              <a:rPr lang="en-US" sz="800" b="1" dirty="0">
                <a:solidFill>
                  <a:srgbClr val="FFFFFF"/>
                </a:solidFill>
                <a:latin typeface="Arial" pitchFamily="34" charset="0"/>
                <a:ea typeface="Arial" pitchFamily="34" charset="-122"/>
                <a:cs typeface="Arial" pitchFamily="34" charset="-120"/>
              </a:rPr>
              <a:t>Evidence in project</a:t>
            </a:r>
            <a:endParaRPr lang="en-US" sz="800" dirty="0"/>
          </a:p>
        </p:txBody>
      </p:sp>
      <p:sp>
        <p:nvSpPr>
          <p:cNvPr id="12" name="Shape 10"/>
          <p:cNvSpPr/>
          <p:nvPr/>
        </p:nvSpPr>
        <p:spPr>
          <a:xfrm>
            <a:off x="594360" y="2212848"/>
            <a:ext cx="2560320" cy="530352"/>
          </a:xfrm>
          <a:prstGeom prst="rect">
            <a:avLst/>
          </a:prstGeom>
          <a:solidFill>
            <a:srgbClr val="FBFAF6"/>
          </a:solidFill>
          <a:ln w="8890">
            <a:solidFill>
              <a:srgbClr val="D8D2C4"/>
            </a:solidFill>
            <a:prstDash val="solid"/>
          </a:ln>
        </p:spPr>
      </p:sp>
      <p:sp>
        <p:nvSpPr>
          <p:cNvPr id="13" name="Text 11"/>
          <p:cNvSpPr/>
          <p:nvPr/>
        </p:nvSpPr>
        <p:spPr>
          <a:xfrm>
            <a:off x="667512" y="2286000"/>
            <a:ext cx="2414016" cy="402336"/>
          </a:xfrm>
          <a:prstGeom prst="rect">
            <a:avLst/>
          </a:prstGeom>
          <a:noFill/>
          <a:ln/>
        </p:spPr>
        <p:txBody>
          <a:bodyPr wrap="square" lIns="508" tIns="508" rIns="508" bIns="508" rtlCol="0" anchor="t">
            <a:normAutofit/>
          </a:bodyPr>
          <a:lstStyle/>
          <a:p>
            <a:pPr indent="0" marL="0">
              <a:buNone/>
            </a:pPr>
            <a:r>
              <a:rPr lang="en-US" sz="800" dirty="0">
                <a:solidFill>
                  <a:srgbClr val="14211C"/>
                </a:solidFill>
                <a:latin typeface="Arial" pitchFamily="34" charset="0"/>
                <a:ea typeface="Arial" pitchFamily="34" charset="-122"/>
                <a:cs typeface="Arial" pitchFamily="34" charset="-120"/>
              </a:rPr>
              <a:t>Problem relevance (5)</a:t>
            </a:r>
            <a:endParaRPr lang="en-US" sz="800" dirty="0"/>
          </a:p>
        </p:txBody>
      </p:sp>
      <p:sp>
        <p:nvSpPr>
          <p:cNvPr id="14" name="Shape 12"/>
          <p:cNvSpPr/>
          <p:nvPr/>
        </p:nvSpPr>
        <p:spPr>
          <a:xfrm>
            <a:off x="3154680" y="2212848"/>
            <a:ext cx="7132320" cy="530352"/>
          </a:xfrm>
          <a:prstGeom prst="rect">
            <a:avLst/>
          </a:prstGeom>
          <a:solidFill>
            <a:srgbClr val="FBFAF6"/>
          </a:solidFill>
          <a:ln w="8890">
            <a:solidFill>
              <a:srgbClr val="D8D2C4"/>
            </a:solidFill>
            <a:prstDash val="solid"/>
          </a:ln>
        </p:spPr>
      </p:sp>
      <p:sp>
        <p:nvSpPr>
          <p:cNvPr id="15" name="Text 13"/>
          <p:cNvSpPr/>
          <p:nvPr/>
        </p:nvSpPr>
        <p:spPr>
          <a:xfrm>
            <a:off x="3227832" y="2286000"/>
            <a:ext cx="6986016" cy="402336"/>
          </a:xfrm>
          <a:prstGeom prst="rect">
            <a:avLst/>
          </a:prstGeom>
          <a:noFill/>
          <a:ln/>
        </p:spPr>
        <p:txBody>
          <a:bodyPr wrap="square" lIns="508" tIns="508" rIns="508" bIns="508" rtlCol="0" anchor="t">
            <a:normAutofit/>
          </a:bodyPr>
          <a:lstStyle/>
          <a:p>
            <a:pPr indent="0" marL="0">
              <a:buNone/>
            </a:pPr>
            <a:r>
              <a:rPr lang="en-US" sz="800" dirty="0">
                <a:solidFill>
                  <a:srgbClr val="14211C"/>
                </a:solidFill>
                <a:latin typeface="Arial" pitchFamily="34" charset="0"/>
                <a:ea typeface="Arial" pitchFamily="34" charset="-122"/>
                <a:cs typeface="Arial" pitchFamily="34" charset="-120"/>
              </a:rPr>
              <a:t>Predictive smart agriculture watering before plant stress</a:t>
            </a:r>
            <a:endParaRPr lang="en-US" sz="800" dirty="0"/>
          </a:p>
        </p:txBody>
      </p:sp>
      <p:sp>
        <p:nvSpPr>
          <p:cNvPr id="16" name="Shape 14"/>
          <p:cNvSpPr/>
          <p:nvPr/>
        </p:nvSpPr>
        <p:spPr>
          <a:xfrm>
            <a:off x="594360" y="2743200"/>
            <a:ext cx="2560320" cy="530352"/>
          </a:xfrm>
          <a:prstGeom prst="rect">
            <a:avLst/>
          </a:prstGeom>
          <a:solidFill>
            <a:srgbClr val="FFFFFF"/>
          </a:solidFill>
          <a:ln w="8890">
            <a:solidFill>
              <a:srgbClr val="D8D2C4"/>
            </a:solidFill>
            <a:prstDash val="solid"/>
          </a:ln>
        </p:spPr>
      </p:sp>
      <p:sp>
        <p:nvSpPr>
          <p:cNvPr id="17" name="Text 15"/>
          <p:cNvSpPr/>
          <p:nvPr/>
        </p:nvSpPr>
        <p:spPr>
          <a:xfrm>
            <a:off x="667512" y="2816352"/>
            <a:ext cx="2414016" cy="402336"/>
          </a:xfrm>
          <a:prstGeom prst="rect">
            <a:avLst/>
          </a:prstGeom>
          <a:noFill/>
          <a:ln/>
        </p:spPr>
        <p:txBody>
          <a:bodyPr wrap="square" lIns="508" tIns="508" rIns="508" bIns="508" rtlCol="0" anchor="t">
            <a:normAutofit/>
          </a:bodyPr>
          <a:lstStyle/>
          <a:p>
            <a:pPr indent="0" marL="0">
              <a:buNone/>
            </a:pPr>
            <a:r>
              <a:rPr lang="en-US" sz="800" dirty="0">
                <a:solidFill>
                  <a:srgbClr val="14211C"/>
                </a:solidFill>
                <a:latin typeface="Arial" pitchFamily="34" charset="0"/>
                <a:ea typeface="Arial" pitchFamily="34" charset="-122"/>
                <a:cs typeface="Arial" pitchFamily="34" charset="-120"/>
              </a:rPr>
              <a:t>Hardware integration (10)</a:t>
            </a:r>
            <a:endParaRPr lang="en-US" sz="800" dirty="0"/>
          </a:p>
        </p:txBody>
      </p:sp>
      <p:sp>
        <p:nvSpPr>
          <p:cNvPr id="18" name="Shape 16"/>
          <p:cNvSpPr/>
          <p:nvPr/>
        </p:nvSpPr>
        <p:spPr>
          <a:xfrm>
            <a:off x="3154680" y="2743200"/>
            <a:ext cx="7132320" cy="530352"/>
          </a:xfrm>
          <a:prstGeom prst="rect">
            <a:avLst/>
          </a:prstGeom>
          <a:solidFill>
            <a:srgbClr val="FFFFFF"/>
          </a:solidFill>
          <a:ln w="8890">
            <a:solidFill>
              <a:srgbClr val="D8D2C4"/>
            </a:solidFill>
            <a:prstDash val="solid"/>
          </a:ln>
        </p:spPr>
      </p:sp>
      <p:sp>
        <p:nvSpPr>
          <p:cNvPr id="19" name="Text 17"/>
          <p:cNvSpPr/>
          <p:nvPr/>
        </p:nvSpPr>
        <p:spPr>
          <a:xfrm>
            <a:off x="3227832" y="2816352"/>
            <a:ext cx="6986016" cy="402336"/>
          </a:xfrm>
          <a:prstGeom prst="rect">
            <a:avLst/>
          </a:prstGeom>
          <a:noFill/>
          <a:ln/>
        </p:spPr>
        <p:txBody>
          <a:bodyPr wrap="square" lIns="508" tIns="508" rIns="508" bIns="508" rtlCol="0" anchor="t">
            <a:normAutofit/>
          </a:bodyPr>
          <a:lstStyle/>
          <a:p>
            <a:pPr indent="0" marL="0">
              <a:buNone/>
            </a:pPr>
            <a:r>
              <a:rPr lang="en-US" sz="800" dirty="0">
                <a:solidFill>
                  <a:srgbClr val="14211C"/>
                </a:solidFill>
                <a:latin typeface="Arial" pitchFamily="34" charset="0"/>
                <a:ea typeface="Arial" pitchFamily="34" charset="-122"/>
                <a:cs typeface="Arial" pitchFamily="34" charset="-120"/>
              </a:rPr>
              <a:t>Pi 400, DHT11, soil sensor, MCP3008, OLED, relay, pump</a:t>
            </a:r>
            <a:endParaRPr lang="en-US" sz="800" dirty="0"/>
          </a:p>
        </p:txBody>
      </p:sp>
      <p:sp>
        <p:nvSpPr>
          <p:cNvPr id="20" name="Shape 18"/>
          <p:cNvSpPr/>
          <p:nvPr/>
        </p:nvSpPr>
        <p:spPr>
          <a:xfrm>
            <a:off x="594360" y="3273552"/>
            <a:ext cx="2560320" cy="530352"/>
          </a:xfrm>
          <a:prstGeom prst="rect">
            <a:avLst/>
          </a:prstGeom>
          <a:solidFill>
            <a:srgbClr val="FBFAF6"/>
          </a:solidFill>
          <a:ln w="8890">
            <a:solidFill>
              <a:srgbClr val="D8D2C4"/>
            </a:solidFill>
            <a:prstDash val="solid"/>
          </a:ln>
        </p:spPr>
      </p:sp>
      <p:sp>
        <p:nvSpPr>
          <p:cNvPr id="21" name="Text 19"/>
          <p:cNvSpPr/>
          <p:nvPr/>
        </p:nvSpPr>
        <p:spPr>
          <a:xfrm>
            <a:off x="667512" y="3346704"/>
            <a:ext cx="2414016" cy="402336"/>
          </a:xfrm>
          <a:prstGeom prst="rect">
            <a:avLst/>
          </a:prstGeom>
          <a:noFill/>
          <a:ln/>
        </p:spPr>
        <p:txBody>
          <a:bodyPr wrap="square" lIns="508" tIns="508" rIns="508" bIns="508" rtlCol="0" anchor="t">
            <a:normAutofit/>
          </a:bodyPr>
          <a:lstStyle/>
          <a:p>
            <a:pPr indent="0" marL="0">
              <a:buNone/>
            </a:pPr>
            <a:r>
              <a:rPr lang="en-US" sz="800" dirty="0">
                <a:solidFill>
                  <a:srgbClr val="14211C"/>
                </a:solidFill>
                <a:latin typeface="Arial" pitchFamily="34" charset="0"/>
                <a:ea typeface="Arial" pitchFamily="34" charset="-122"/>
                <a:cs typeface="Arial" pitchFamily="34" charset="-120"/>
              </a:rPr>
              <a:t>Data communication (5)</a:t>
            </a:r>
            <a:endParaRPr lang="en-US" sz="800" dirty="0"/>
          </a:p>
        </p:txBody>
      </p:sp>
      <p:sp>
        <p:nvSpPr>
          <p:cNvPr id="22" name="Shape 20"/>
          <p:cNvSpPr/>
          <p:nvPr/>
        </p:nvSpPr>
        <p:spPr>
          <a:xfrm>
            <a:off x="3154680" y="3273552"/>
            <a:ext cx="7132320" cy="530352"/>
          </a:xfrm>
          <a:prstGeom prst="rect">
            <a:avLst/>
          </a:prstGeom>
          <a:solidFill>
            <a:srgbClr val="FBFAF6"/>
          </a:solidFill>
          <a:ln w="8890">
            <a:solidFill>
              <a:srgbClr val="D8D2C4"/>
            </a:solidFill>
            <a:prstDash val="solid"/>
          </a:ln>
        </p:spPr>
      </p:sp>
      <p:sp>
        <p:nvSpPr>
          <p:cNvPr id="23" name="Text 21"/>
          <p:cNvSpPr/>
          <p:nvPr/>
        </p:nvSpPr>
        <p:spPr>
          <a:xfrm>
            <a:off x="3227832" y="3346704"/>
            <a:ext cx="6986016" cy="402336"/>
          </a:xfrm>
          <a:prstGeom prst="rect">
            <a:avLst/>
          </a:prstGeom>
          <a:noFill/>
          <a:ln/>
        </p:spPr>
        <p:txBody>
          <a:bodyPr wrap="square" lIns="508" tIns="508" rIns="508" bIns="508" rtlCol="0" anchor="t">
            <a:normAutofit/>
          </a:bodyPr>
          <a:lstStyle/>
          <a:p>
            <a:pPr indent="0" marL="0">
              <a:buNone/>
            </a:pPr>
            <a:r>
              <a:rPr lang="en-US" sz="800" dirty="0">
                <a:solidFill>
                  <a:srgbClr val="14211C"/>
                </a:solidFill>
                <a:latin typeface="Arial" pitchFamily="34" charset="0"/>
                <a:ea typeface="Arial" pitchFamily="34" charset="-122"/>
                <a:cs typeface="Arial" pitchFamily="34" charset="-120"/>
              </a:rPr>
              <a:t>Streamlit, CSV logging, Telegram, Favoriot REST support</a:t>
            </a:r>
            <a:endParaRPr lang="en-US" sz="800" dirty="0"/>
          </a:p>
        </p:txBody>
      </p:sp>
      <p:sp>
        <p:nvSpPr>
          <p:cNvPr id="24" name="Shape 22"/>
          <p:cNvSpPr/>
          <p:nvPr/>
        </p:nvSpPr>
        <p:spPr>
          <a:xfrm>
            <a:off x="594360" y="3803904"/>
            <a:ext cx="2560320" cy="530352"/>
          </a:xfrm>
          <a:prstGeom prst="rect">
            <a:avLst/>
          </a:prstGeom>
          <a:solidFill>
            <a:srgbClr val="FFFFFF"/>
          </a:solidFill>
          <a:ln w="8890">
            <a:solidFill>
              <a:srgbClr val="D8D2C4"/>
            </a:solidFill>
            <a:prstDash val="solid"/>
          </a:ln>
        </p:spPr>
      </p:sp>
      <p:sp>
        <p:nvSpPr>
          <p:cNvPr id="25" name="Text 23"/>
          <p:cNvSpPr/>
          <p:nvPr/>
        </p:nvSpPr>
        <p:spPr>
          <a:xfrm>
            <a:off x="667512" y="3877056"/>
            <a:ext cx="2414016" cy="402336"/>
          </a:xfrm>
          <a:prstGeom prst="rect">
            <a:avLst/>
          </a:prstGeom>
          <a:noFill/>
          <a:ln/>
        </p:spPr>
        <p:txBody>
          <a:bodyPr wrap="square" lIns="508" tIns="508" rIns="508" bIns="508" rtlCol="0" anchor="t">
            <a:normAutofit/>
          </a:bodyPr>
          <a:lstStyle/>
          <a:p>
            <a:pPr indent="0" marL="0">
              <a:buNone/>
            </a:pPr>
            <a:r>
              <a:rPr lang="en-US" sz="800" dirty="0">
                <a:solidFill>
                  <a:srgbClr val="14211C"/>
                </a:solidFill>
                <a:latin typeface="Arial" pitchFamily="34" charset="0"/>
                <a:ea typeface="Arial" pitchFamily="34" charset="-122"/>
                <a:cs typeface="Arial" pitchFamily="34" charset="-120"/>
              </a:rPr>
              <a:t>Decision logic (5)</a:t>
            </a:r>
            <a:endParaRPr lang="en-US" sz="800" dirty="0"/>
          </a:p>
        </p:txBody>
      </p:sp>
      <p:sp>
        <p:nvSpPr>
          <p:cNvPr id="26" name="Shape 24"/>
          <p:cNvSpPr/>
          <p:nvPr/>
        </p:nvSpPr>
        <p:spPr>
          <a:xfrm>
            <a:off x="3154680" y="3803904"/>
            <a:ext cx="7132320" cy="530352"/>
          </a:xfrm>
          <a:prstGeom prst="rect">
            <a:avLst/>
          </a:prstGeom>
          <a:solidFill>
            <a:srgbClr val="FFFFFF"/>
          </a:solidFill>
          <a:ln w="8890">
            <a:solidFill>
              <a:srgbClr val="D8D2C4"/>
            </a:solidFill>
            <a:prstDash val="solid"/>
          </a:ln>
        </p:spPr>
      </p:sp>
      <p:sp>
        <p:nvSpPr>
          <p:cNvPr id="27" name="Text 25"/>
          <p:cNvSpPr/>
          <p:nvPr/>
        </p:nvSpPr>
        <p:spPr>
          <a:xfrm>
            <a:off x="3227832" y="3877056"/>
            <a:ext cx="6986016" cy="402336"/>
          </a:xfrm>
          <a:prstGeom prst="rect">
            <a:avLst/>
          </a:prstGeom>
          <a:noFill/>
          <a:ln/>
        </p:spPr>
        <p:txBody>
          <a:bodyPr wrap="square" lIns="508" tIns="508" rIns="508" bIns="508" rtlCol="0" anchor="t">
            <a:normAutofit/>
          </a:bodyPr>
          <a:lstStyle/>
          <a:p>
            <a:pPr indent="0" marL="0">
              <a:buNone/>
            </a:pPr>
            <a:r>
              <a:rPr lang="en-US" sz="800" dirty="0">
                <a:solidFill>
                  <a:srgbClr val="14211C"/>
                </a:solidFill>
                <a:latin typeface="Arial" pitchFamily="34" charset="0"/>
                <a:ea typeface="Arial" pitchFamily="34" charset="-122"/>
                <a:cs typeface="Arial" pitchFamily="34" charset="-120"/>
              </a:rPr>
              <a:t>Threshold baseline plus Decision Tree ML prediction</a:t>
            </a:r>
            <a:endParaRPr lang="en-US" sz="800" dirty="0"/>
          </a:p>
        </p:txBody>
      </p:sp>
      <p:sp>
        <p:nvSpPr>
          <p:cNvPr id="28" name="Shape 26"/>
          <p:cNvSpPr/>
          <p:nvPr/>
        </p:nvSpPr>
        <p:spPr>
          <a:xfrm>
            <a:off x="594360" y="4334256"/>
            <a:ext cx="2560320" cy="530352"/>
          </a:xfrm>
          <a:prstGeom prst="rect">
            <a:avLst/>
          </a:prstGeom>
          <a:solidFill>
            <a:srgbClr val="FBFAF6"/>
          </a:solidFill>
          <a:ln w="8890">
            <a:solidFill>
              <a:srgbClr val="D8D2C4"/>
            </a:solidFill>
            <a:prstDash val="solid"/>
          </a:ln>
        </p:spPr>
      </p:sp>
      <p:sp>
        <p:nvSpPr>
          <p:cNvPr id="29" name="Text 27"/>
          <p:cNvSpPr/>
          <p:nvPr/>
        </p:nvSpPr>
        <p:spPr>
          <a:xfrm>
            <a:off x="667512" y="4407408"/>
            <a:ext cx="2414016" cy="402336"/>
          </a:xfrm>
          <a:prstGeom prst="rect">
            <a:avLst/>
          </a:prstGeom>
          <a:noFill/>
          <a:ln/>
        </p:spPr>
        <p:txBody>
          <a:bodyPr wrap="square" lIns="508" tIns="508" rIns="508" bIns="508" rtlCol="0" anchor="t">
            <a:normAutofit/>
          </a:bodyPr>
          <a:lstStyle/>
          <a:p>
            <a:pPr indent="0" marL="0">
              <a:buNone/>
            </a:pPr>
            <a:r>
              <a:rPr lang="en-US" sz="800" dirty="0">
                <a:solidFill>
                  <a:srgbClr val="14211C"/>
                </a:solidFill>
                <a:latin typeface="Arial" pitchFamily="34" charset="0"/>
                <a:ea typeface="Arial" pitchFamily="34" charset="-122"/>
                <a:cs typeface="Arial" pitchFamily="34" charset="-120"/>
              </a:rPr>
              <a:t>Presentation/documentation (10)</a:t>
            </a:r>
            <a:endParaRPr lang="en-US" sz="800" dirty="0"/>
          </a:p>
        </p:txBody>
      </p:sp>
      <p:sp>
        <p:nvSpPr>
          <p:cNvPr id="30" name="Shape 28"/>
          <p:cNvSpPr/>
          <p:nvPr/>
        </p:nvSpPr>
        <p:spPr>
          <a:xfrm>
            <a:off x="3154680" y="4334256"/>
            <a:ext cx="7132320" cy="530352"/>
          </a:xfrm>
          <a:prstGeom prst="rect">
            <a:avLst/>
          </a:prstGeom>
          <a:solidFill>
            <a:srgbClr val="FBFAF6"/>
          </a:solidFill>
          <a:ln w="8890">
            <a:solidFill>
              <a:srgbClr val="D8D2C4"/>
            </a:solidFill>
            <a:prstDash val="solid"/>
          </a:ln>
        </p:spPr>
      </p:sp>
      <p:sp>
        <p:nvSpPr>
          <p:cNvPr id="31" name="Text 29"/>
          <p:cNvSpPr/>
          <p:nvPr/>
        </p:nvSpPr>
        <p:spPr>
          <a:xfrm>
            <a:off x="3227832" y="4407408"/>
            <a:ext cx="6986016" cy="402336"/>
          </a:xfrm>
          <a:prstGeom prst="rect">
            <a:avLst/>
          </a:prstGeom>
          <a:noFill/>
          <a:ln/>
        </p:spPr>
        <p:txBody>
          <a:bodyPr wrap="square" lIns="508" tIns="508" rIns="508" bIns="508" rtlCol="0" anchor="t">
            <a:normAutofit/>
          </a:bodyPr>
          <a:lstStyle/>
          <a:p>
            <a:pPr indent="0" marL="0">
              <a:buNone/>
            </a:pPr>
            <a:r>
              <a:rPr lang="en-US" sz="800" dirty="0">
                <a:solidFill>
                  <a:srgbClr val="14211C"/>
                </a:solidFill>
                <a:latin typeface="Arial" pitchFamily="34" charset="0"/>
                <a:ea typeface="Arial" pitchFamily="34" charset="-122"/>
                <a:cs typeface="Arial" pitchFamily="34" charset="-120"/>
              </a:rPr>
              <a:t>README, Student Guide, tests, demo scenarios, contribution evidence</a:t>
            </a:r>
            <a:endParaRPr lang="en-US" sz="800" dirty="0"/>
          </a:p>
        </p:txBody>
      </p:sp>
      <p:sp>
        <p:nvSpPr>
          <p:cNvPr id="32" name="Shape 30"/>
          <p:cNvSpPr/>
          <p:nvPr/>
        </p:nvSpPr>
        <p:spPr>
          <a:xfrm>
            <a:off x="822960" y="5074920"/>
            <a:ext cx="4480560" cy="685800"/>
          </a:xfrm>
          <a:prstGeom prst="roundRect">
            <a:avLst>
              <a:gd name="adj" fmla="val 10667"/>
            </a:avLst>
          </a:prstGeom>
          <a:solidFill>
            <a:srgbClr val="F5FBF6"/>
          </a:solidFill>
          <a:ln w="8890">
            <a:solidFill>
              <a:srgbClr val="D8D2C4"/>
            </a:solidFill>
            <a:prstDash val="solid"/>
          </a:ln>
        </p:spPr>
      </p:sp>
      <p:sp>
        <p:nvSpPr>
          <p:cNvPr id="33" name="Shape 31"/>
          <p:cNvSpPr/>
          <p:nvPr/>
        </p:nvSpPr>
        <p:spPr>
          <a:xfrm>
            <a:off x="822960" y="5074920"/>
            <a:ext cx="64008" cy="685800"/>
          </a:xfrm>
          <a:prstGeom prst="rect">
            <a:avLst/>
          </a:prstGeom>
          <a:solidFill>
            <a:srgbClr val="1F6B4D"/>
          </a:solidFill>
          <a:ln w="12700">
            <a:solidFill>
              <a:srgbClr val="1F6B4D"/>
            </a:solidFill>
            <a:prstDash val="solid"/>
          </a:ln>
        </p:spPr>
      </p:sp>
      <p:sp>
        <p:nvSpPr>
          <p:cNvPr id="34" name="Text 32"/>
          <p:cNvSpPr/>
          <p:nvPr/>
        </p:nvSpPr>
        <p:spPr>
          <a:xfrm>
            <a:off x="969264" y="5202936"/>
            <a:ext cx="4224528" cy="201168"/>
          </a:xfrm>
          <a:prstGeom prst="rect">
            <a:avLst/>
          </a:prstGeom>
          <a:noFill/>
          <a:ln/>
        </p:spPr>
        <p:txBody>
          <a:bodyPr wrap="square" lIns="508" tIns="508" rIns="508" bIns="508" rtlCol="0" anchor="t">
            <a:normAutofit/>
          </a:bodyPr>
          <a:lstStyle/>
          <a:p>
            <a:pPr indent="0" marL="0">
              <a:buNone/>
            </a:pPr>
            <a:r>
              <a:rPr lang="en-US" sz="950" b="1" dirty="0">
                <a:solidFill>
                  <a:srgbClr val="14211C"/>
                </a:solidFill>
                <a:latin typeface="Arial" pitchFamily="34" charset="0"/>
                <a:ea typeface="Arial" pitchFamily="34" charset="-122"/>
                <a:cs typeface="Arial" pitchFamily="34" charset="-120"/>
              </a:rPr>
              <a:t>Student 4 evidence</a:t>
            </a:r>
            <a:endParaRPr lang="en-US" sz="950" dirty="0"/>
          </a:p>
        </p:txBody>
      </p:sp>
      <p:sp>
        <p:nvSpPr>
          <p:cNvPr id="35" name="Text 33"/>
          <p:cNvSpPr/>
          <p:nvPr/>
        </p:nvSpPr>
        <p:spPr>
          <a:xfrm>
            <a:off x="969264" y="5468112"/>
            <a:ext cx="4224528" cy="228600"/>
          </a:xfrm>
          <a:prstGeom prst="rect">
            <a:avLst/>
          </a:prstGeom>
          <a:noFill/>
          <a:ln/>
        </p:spPr>
        <p:txBody>
          <a:bodyPr wrap="square" lIns="508" tIns="508" rIns="508" bIns="508" rtlCol="0" anchor="t">
            <a:normAutofit/>
          </a:bodyPr>
          <a:lstStyle/>
          <a:p>
            <a:pPr indent="0" marL="0">
              <a:buNone/>
            </a:pPr>
            <a:r>
              <a:rPr lang="en-US" sz="750" dirty="0">
                <a:solidFill>
                  <a:srgbClr val="5E6B63"/>
                </a:solidFill>
                <a:latin typeface="Arial" pitchFamily="34" charset="0"/>
                <a:ea typeface="Arial" pitchFamily="34" charset="-122"/>
                <a:cs typeface="Arial" pitchFamily="34" charset="-120"/>
              </a:rPr>
              <a:t>Preprocessing, missing data handling, feature extraction, ML decision, baseline comparison.</a:t>
            </a:r>
            <a:endParaRPr lang="en-US" sz="750" dirty="0"/>
          </a:p>
        </p:txBody>
      </p:sp>
      <p:sp>
        <p:nvSpPr>
          <p:cNvPr id="36" name="Shape 34"/>
          <p:cNvSpPr/>
          <p:nvPr/>
        </p:nvSpPr>
        <p:spPr>
          <a:xfrm>
            <a:off x="6400800" y="5074920"/>
            <a:ext cx="4480560" cy="685800"/>
          </a:xfrm>
          <a:prstGeom prst="roundRect">
            <a:avLst>
              <a:gd name="adj" fmla="val 10667"/>
            </a:avLst>
          </a:prstGeom>
          <a:solidFill>
            <a:srgbClr val="F5F8FB"/>
          </a:solidFill>
          <a:ln w="8890">
            <a:solidFill>
              <a:srgbClr val="D8D2C4"/>
            </a:solidFill>
            <a:prstDash val="solid"/>
          </a:ln>
        </p:spPr>
      </p:sp>
      <p:sp>
        <p:nvSpPr>
          <p:cNvPr id="37" name="Shape 35"/>
          <p:cNvSpPr/>
          <p:nvPr/>
        </p:nvSpPr>
        <p:spPr>
          <a:xfrm>
            <a:off x="6400800" y="5074920"/>
            <a:ext cx="64008" cy="685800"/>
          </a:xfrm>
          <a:prstGeom prst="rect">
            <a:avLst/>
          </a:prstGeom>
          <a:solidFill>
            <a:srgbClr val="256A7B"/>
          </a:solidFill>
          <a:ln w="12700">
            <a:solidFill>
              <a:srgbClr val="256A7B"/>
            </a:solidFill>
            <a:prstDash val="solid"/>
          </a:ln>
        </p:spPr>
      </p:sp>
      <p:sp>
        <p:nvSpPr>
          <p:cNvPr id="38" name="Text 36"/>
          <p:cNvSpPr/>
          <p:nvPr/>
        </p:nvSpPr>
        <p:spPr>
          <a:xfrm>
            <a:off x="6547104" y="5202936"/>
            <a:ext cx="4224528" cy="201168"/>
          </a:xfrm>
          <a:prstGeom prst="rect">
            <a:avLst/>
          </a:prstGeom>
          <a:noFill/>
          <a:ln/>
        </p:spPr>
        <p:txBody>
          <a:bodyPr wrap="square" lIns="508" tIns="508" rIns="508" bIns="508" rtlCol="0" anchor="t">
            <a:normAutofit/>
          </a:bodyPr>
          <a:lstStyle/>
          <a:p>
            <a:pPr indent="0" marL="0">
              <a:buNone/>
            </a:pPr>
            <a:r>
              <a:rPr lang="en-US" sz="950" b="1" dirty="0">
                <a:solidFill>
                  <a:srgbClr val="14211C"/>
                </a:solidFill>
                <a:latin typeface="Arial" pitchFamily="34" charset="0"/>
                <a:ea typeface="Arial" pitchFamily="34" charset="-122"/>
                <a:cs typeface="Arial" pitchFamily="34" charset="-120"/>
              </a:rPr>
              <a:t>Student 5 evidence</a:t>
            </a:r>
            <a:endParaRPr lang="en-US" sz="950" dirty="0"/>
          </a:p>
        </p:txBody>
      </p:sp>
      <p:sp>
        <p:nvSpPr>
          <p:cNvPr id="39" name="Text 37"/>
          <p:cNvSpPr/>
          <p:nvPr/>
        </p:nvSpPr>
        <p:spPr>
          <a:xfrm>
            <a:off x="6547104" y="5468112"/>
            <a:ext cx="4224528" cy="228600"/>
          </a:xfrm>
          <a:prstGeom prst="rect">
            <a:avLst/>
          </a:prstGeom>
          <a:noFill/>
          <a:ln/>
        </p:spPr>
        <p:txBody>
          <a:bodyPr wrap="square" lIns="508" tIns="508" rIns="508" bIns="508" rtlCol="0" anchor="t">
            <a:normAutofit/>
          </a:bodyPr>
          <a:lstStyle/>
          <a:p>
            <a:pPr indent="0" marL="0">
              <a:buNone/>
            </a:pPr>
            <a:r>
              <a:rPr lang="en-US" sz="750" dirty="0">
                <a:solidFill>
                  <a:srgbClr val="5E6B63"/>
                </a:solidFill>
                <a:latin typeface="Arial" pitchFamily="34" charset="0"/>
                <a:ea typeface="Arial" pitchFamily="34" charset="-122"/>
                <a:cs typeface="Arial" pitchFamily="34" charset="-120"/>
              </a:rPr>
              <a:t>Streamlit dashboard, charts, Telegram alerts, cloud/Favoriot payload, monitoring/debug tab.</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SRTA3353 Machine Learning for IoT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ML-Based Smart Irrigation System</dc:title>
  <dc:subject>Machine Learning-Based Smart Irrigation System</dc:subject>
  <dc:creator>SRTA3353 IoT Group</dc:creator>
  <cp:lastModifiedBy>SRTA3353 IoT Group</cp:lastModifiedBy>
  <cp:revision>1</cp:revision>
  <dcterms:created xsi:type="dcterms:W3CDTF">2026-06-15T02:52:09Z</dcterms:created>
  <dcterms:modified xsi:type="dcterms:W3CDTF">2026-06-15T02:52:09Z</dcterms:modified>
</cp:coreProperties>
</file>